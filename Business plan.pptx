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8" r:id="rId3"/>
    <p:sldId id="263" r:id="rId4"/>
    <p:sldId id="270" r:id="rId5"/>
    <p:sldId id="271" r:id="rId6"/>
    <p:sldId id="272" r:id="rId7"/>
    <p:sldId id="273" r:id="rId8"/>
    <p:sldId id="274" r:id="rId9"/>
    <p:sldId id="276" r:id="rId10"/>
    <p:sldId id="275" r:id="rId11"/>
    <p:sldId id="279" r:id="rId12"/>
    <p:sldId id="259" r:id="rId13"/>
    <p:sldId id="280" r:id="rId14"/>
    <p:sldId id="264" r:id="rId15"/>
    <p:sldId id="282" r:id="rId16"/>
    <p:sldId id="265" r:id="rId17"/>
    <p:sldId id="266" r:id="rId1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E6E6E6"/>
    <a:srgbClr val="7730D5"/>
    <a:srgbClr val="EC1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DDD40-5591-418D-B585-D97777CB3AE0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93F9D-464C-49BF-9196-2F8E2F1C4B9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546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077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EE33F-1A5F-F066-D4F9-5B2F0B5FA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252C91F-D589-D796-C842-9008FDF50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1312CF-0A0E-C49E-4CFF-A743B859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954B744-2648-D502-2F00-7A531CB2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3E8F48E-A3CB-6B41-FF8E-DF2CABD0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966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3C7E5-0B15-B356-ADAE-EDADCEAD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A8D4B0-7B6F-464D-24ED-141CD1D70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CABDAA-151C-E27B-F605-6C984F8E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0B6B56-7A76-B041-FE76-4AEDC5A9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4F45BB-7AB1-39FE-60C7-62C78C13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179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14D7C-CD12-8AEB-6E57-303FED91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9631258-4D0D-19F3-BA80-3892F468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FD8DC6E-44FD-77F7-13F9-1D554D23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868B43-B5D2-8BE0-F246-248A2D87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3DECE6-42A7-B3F8-D111-13667C4E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067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993E3-C9E8-A8BA-FBD1-EEA9F6FA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7D271B-3DE9-C27D-B42B-3F0EA6A54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99BF747-9F15-7E7C-9ADC-30C3317E7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D6C952D-1A8D-3E0B-621B-2F707971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BA80FE2-F5F9-EE1C-56B2-DE9DE6A0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0A7AEB-EB01-5284-D52D-D947514A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00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401C4-50C4-9507-B42A-2A415D86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ADC1ECD-0ED9-0109-4DF2-857E8F57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69FD2C3-986C-33AA-0177-64E85DE53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4CCD935-23AB-5FC8-A0C6-AFEC69291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0ABD146-A505-4EBC-AB03-C0D478DDB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273ABCF-F36D-447D-C1E7-5BDEDE0E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9AD0699-20BE-A2C6-25F2-A032E2F6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EF31D92-03EF-5040-613A-4102FE76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389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82C02-20EB-D3DF-26E9-5B0C92CB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D6556EB-65E4-F675-095E-17E74BEB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59280C8-246A-EB1D-D673-8B1B2D42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1734F18-0500-B833-5378-CDD2E5A7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746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B6D63A5-BEAA-9347-81C6-9117CD98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982E7E4-DA81-CEAC-C0BF-739CB575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04BD942-E071-3B0C-AA1D-700057CC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052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BF6D3-797A-AAD9-28F7-7EB3487D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152700-1297-7E1F-140A-1B895B7F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B4D952-6D79-E627-E6D0-E81B010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C8CE863-183B-965B-BE86-D79DFA76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4C3D2D5-E90D-2227-05CA-30AE5C7A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60197DE-D2F8-66C7-7B92-E88F16FA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743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9F215-075E-6091-304C-4C1DE542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C80241E-8589-58AD-C024-6D8DE9865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787C17B-7CCE-B4BA-2544-656F3F591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E702358-6E78-E688-C381-70C642E1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160ADB-779A-0E64-E5FF-389F2D04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EB2B316-913A-998F-CC90-1EACAA0B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941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AA4FC-F116-9A0A-A58C-CA2F04CC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58687D8-91F8-89D8-DBB3-0D419E993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38C18B5-DAF1-147E-4E38-81143083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3506CEA-7019-8952-0847-5F741C0B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6051B6-9642-BC23-11D4-DF457D01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034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34A6DC4-6D34-8C62-649D-21326177F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BF68B88-62B9-5C09-D236-347422FE5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EA7610D-DB84-2FF2-1353-B4E5435D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DF82FC-FC6F-B694-3E61-01B748D6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065032-5370-51EF-2313-24B19F4C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860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7738AE3-AE55-748F-3229-B660B019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4CC41C6-5A81-3116-5293-7613D33D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B6FE618-8C69-4C4B-D2A6-D6157A077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4C55-D749-4BEA-A36D-910077BF0DA2}" type="datetimeFigureOut">
              <a:rPr lang="uk-UA" smtClean="0"/>
              <a:t>19.10.2025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2808D4-22F8-EE27-362D-8FDF5DCD9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C451922-3A50-5B6E-DC87-41BCD89D6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8FF78-4DF0-4F1D-96CB-7C22CCD0EE21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822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7D4D7302-5BCE-41A1-0267-5BD5F27902F1}"/>
              </a:ext>
            </a:extLst>
          </p:cNvPr>
          <p:cNvSpPr/>
          <p:nvPr/>
        </p:nvSpPr>
        <p:spPr>
          <a:xfrm rot="18238028">
            <a:off x="2861959" y="1032056"/>
            <a:ext cx="14024558" cy="6804324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9783C-1B25-6A9A-3531-BAE538F99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666" y="1474195"/>
            <a:ext cx="4572000" cy="2387600"/>
          </a:xfrm>
        </p:spPr>
        <p:txBody>
          <a:bodyPr/>
          <a:lstStyle/>
          <a:p>
            <a:pPr algn="l"/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0" name="Пряма сполучна лінія 39">
            <a:extLst>
              <a:ext uri="{FF2B5EF4-FFF2-40B4-BE49-F238E27FC236}">
                <a16:creationId xmlns:a16="http://schemas.microsoft.com/office/drawing/2014/main" id="{6122F059-F09B-5736-3B94-E07348DBDB77}"/>
              </a:ext>
            </a:extLst>
          </p:cNvPr>
          <p:cNvCxnSpPr>
            <a:cxnSpLocks/>
          </p:cNvCxnSpPr>
          <p:nvPr/>
        </p:nvCxnSpPr>
        <p:spPr>
          <a:xfrm>
            <a:off x="717630" y="3861795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0BCAAFFF-BDA1-53D9-5946-C43BBCA169F9}"/>
              </a:ext>
            </a:extLst>
          </p:cNvPr>
          <p:cNvSpPr/>
          <p:nvPr/>
        </p:nvSpPr>
        <p:spPr>
          <a:xfrm rot="18238028">
            <a:off x="3014359" y="1184456"/>
            <a:ext cx="14024558" cy="680432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grpSp>
        <p:nvGrpSpPr>
          <p:cNvPr id="74" name="Групувати 73">
            <a:extLst>
              <a:ext uri="{FF2B5EF4-FFF2-40B4-BE49-F238E27FC236}">
                <a16:creationId xmlns:a16="http://schemas.microsoft.com/office/drawing/2014/main" id="{B60400F2-F021-D722-6FB9-EEF97C9B88B2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66" name="Шестикутник 65">
              <a:extLst>
                <a:ext uri="{FF2B5EF4-FFF2-40B4-BE49-F238E27FC236}">
                  <a16:creationId xmlns:a16="http://schemas.microsoft.com/office/drawing/2014/main" id="{B90D7694-6594-F199-E0A7-F860B21601CC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7" name="Прямокутник 66">
              <a:extLst>
                <a:ext uri="{FF2B5EF4-FFF2-40B4-BE49-F238E27FC236}">
                  <a16:creationId xmlns:a16="http://schemas.microsoft.com/office/drawing/2014/main" id="{72EEC3C6-BD1B-8A5B-51CF-4746F7CC1409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9" name="Рівнобедрений трикутник 68">
              <a:extLst>
                <a:ext uri="{FF2B5EF4-FFF2-40B4-BE49-F238E27FC236}">
                  <a16:creationId xmlns:a16="http://schemas.microsoft.com/office/drawing/2014/main" id="{C9BB8A53-B94F-899C-C61D-25E61B2CE21A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65B942-1F6D-5519-FE49-89F1C0923C38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84D9CF5-793E-E213-745C-27F7ED8CA8BE}"/>
              </a:ext>
            </a:extLst>
          </p:cNvPr>
          <p:cNvSpPr txBox="1"/>
          <p:nvPr/>
        </p:nvSpPr>
        <p:spPr>
          <a:xfrm>
            <a:off x="597666" y="397255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8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2AD2-5D81-6199-6E0E-44D6E398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27E10961-2D5E-2901-9C45-E3CDE2AD2E53}"/>
              </a:ext>
            </a:extLst>
          </p:cNvPr>
          <p:cNvSpPr/>
          <p:nvPr/>
        </p:nvSpPr>
        <p:spPr>
          <a:xfrm rot="14526702">
            <a:off x="-5588610" y="651678"/>
            <a:ext cx="14024558" cy="6804324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A6287-F50E-7023-1432-36AFC6D4A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2684" y="1311720"/>
            <a:ext cx="4637876" cy="2387600"/>
          </a:xfrm>
        </p:spPr>
        <p:txBody>
          <a:bodyPr>
            <a:normAutofit/>
          </a:bodyPr>
          <a:lstStyle/>
          <a:p>
            <a:pPr algn="l"/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Všeobecné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informácie</a:t>
            </a:r>
            <a:endParaRPr lang="uk-UA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0" name="Пряма сполучна лінія 39">
            <a:extLst>
              <a:ext uri="{FF2B5EF4-FFF2-40B4-BE49-F238E27FC236}">
                <a16:creationId xmlns:a16="http://schemas.microsoft.com/office/drawing/2014/main" id="{F1956C5D-044B-E5DB-18BB-479D29390015}"/>
              </a:ext>
            </a:extLst>
          </p:cNvPr>
          <p:cNvCxnSpPr>
            <a:cxnSpLocks/>
          </p:cNvCxnSpPr>
          <p:nvPr/>
        </p:nvCxnSpPr>
        <p:spPr>
          <a:xfrm>
            <a:off x="7541342" y="3699320"/>
            <a:ext cx="382648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6CDE23C-3316-46C1-CA3C-E1AED05D5DD8}"/>
              </a:ext>
            </a:extLst>
          </p:cNvPr>
          <p:cNvSpPr/>
          <p:nvPr/>
        </p:nvSpPr>
        <p:spPr>
          <a:xfrm rot="14526702">
            <a:off x="-5296132" y="514518"/>
            <a:ext cx="14024558" cy="680432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grpSp>
        <p:nvGrpSpPr>
          <p:cNvPr id="74" name="Групувати 73">
            <a:extLst>
              <a:ext uri="{FF2B5EF4-FFF2-40B4-BE49-F238E27FC236}">
                <a16:creationId xmlns:a16="http://schemas.microsoft.com/office/drawing/2014/main" id="{6631E51F-88B6-DDE2-DA45-27F99329EA58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66" name="Шестикутник 65">
              <a:extLst>
                <a:ext uri="{FF2B5EF4-FFF2-40B4-BE49-F238E27FC236}">
                  <a16:creationId xmlns:a16="http://schemas.microsoft.com/office/drawing/2014/main" id="{1028C374-45A9-5604-B5C7-7EAA2118734A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7" name="Прямокутник 66">
              <a:extLst>
                <a:ext uri="{FF2B5EF4-FFF2-40B4-BE49-F238E27FC236}">
                  <a16:creationId xmlns:a16="http://schemas.microsoft.com/office/drawing/2014/main" id="{35F68CBB-A5DD-1AF2-CA43-E0E6CC0A61FE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9" name="Рівнобедрений трикутник 68">
              <a:extLst>
                <a:ext uri="{FF2B5EF4-FFF2-40B4-BE49-F238E27FC236}">
                  <a16:creationId xmlns:a16="http://schemas.microsoft.com/office/drawing/2014/main" id="{20FFB7B4-ECDE-F5FB-CB10-C43C00EE6B78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EAD91FB-B0B0-C888-6FBE-77E4918E88DC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977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D22F-584F-9288-9C3A-6A2C0B8C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B9695-5909-9DE6-3450-B7F7AB68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986" y="678754"/>
            <a:ext cx="4046027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Cieľ</a:t>
            </a:r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29575F-12C2-E435-23F9-B490F4D84A59}"/>
              </a:ext>
            </a:extLst>
          </p:cNvPr>
          <p:cNvSpPr txBox="1"/>
          <p:nvPr/>
        </p:nvSpPr>
        <p:spPr>
          <a:xfrm>
            <a:off x="1280161" y="2497805"/>
            <a:ext cx="96077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Vytvorenie</a:t>
            </a:r>
            <a:r>
              <a:rPr lang="sk-SK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platformy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učenie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slovenčiny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pre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ľudí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z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celého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sveta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najmä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pre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tých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ktorí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hovoria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po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ukrajinsky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32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E0CBA46B-D52A-A3B6-F331-82BEF3B35D8A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A783B816-62DE-FF45-00D4-549951C80F22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12BC8656-492C-9E80-D5AE-700C0E52FD41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18B1BFE1-F1CD-832B-DD0B-4F0AAADD858A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A56E42-C6EF-0FDB-D1D3-5EEEA0B8AB62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579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48C0-6A2C-1B28-18DB-C56073ED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BEF78-052C-EFC7-C38B-9565E73E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986" y="678754"/>
            <a:ext cx="4227734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Cieľová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skupina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39AD8-BE85-E8CE-FA04-2286DF57CD2D}"/>
              </a:ext>
            </a:extLst>
          </p:cNvPr>
          <p:cNvSpPr txBox="1"/>
          <p:nvPr/>
        </p:nvSpPr>
        <p:spPr>
          <a:xfrm>
            <a:off x="1280161" y="2497805"/>
            <a:ext cx="96077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Ukrajinskí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študenti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cudzinci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žijúci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Slovensku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a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všetci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ktorí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chcú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naučiť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slovenský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jazyk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v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zrozumiteľnej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forme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pre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štúdium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vysokej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škole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a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každodenný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život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32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1A4ED51B-A3A1-1C00-522F-B7E930AECC7E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8BF39136-1B13-C5D7-15D0-F569244A0A46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6D0C69BF-3C00-3824-5EC5-BFC944C35D17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AAAFA413-964D-EFE3-EE91-E91F9A0D48E2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52244B-6D98-A830-265C-52ED9753B346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223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39CD-C8F2-D074-ED50-31E3124B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9E463-E30A-2DA0-F599-FA24C8C0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293" y="192372"/>
            <a:ext cx="2683414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Podciele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E64F0825-33C1-41E5-F402-61C72DB291EB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29EDDBA0-FE2F-B0D9-5CBF-17B2796587E5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6D3DC2F7-04CC-DBCC-19B0-CBFDED29F6F7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72C6F084-FF90-EEBF-0A85-4C73647F3751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4876B7-97B1-BADC-8AB5-1C9BF6854ABC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cxnSp>
        <p:nvCxnSpPr>
          <p:cNvPr id="4" name="Пряма зі стрілкою 3">
            <a:extLst>
              <a:ext uri="{FF2B5EF4-FFF2-40B4-BE49-F238E27FC236}">
                <a16:creationId xmlns:a16="http://schemas.microsoft.com/office/drawing/2014/main" id="{F5223E4E-CD76-BD3B-DDEF-7783260048EE}"/>
              </a:ext>
            </a:extLst>
          </p:cNvPr>
          <p:cNvCxnSpPr>
            <a:cxnSpLocks/>
          </p:cNvCxnSpPr>
          <p:nvPr/>
        </p:nvCxnSpPr>
        <p:spPr>
          <a:xfrm flipH="1">
            <a:off x="3113217" y="1280160"/>
            <a:ext cx="2190303" cy="96459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7ECA62-5411-1426-E97A-5D3DB0172B4C}"/>
              </a:ext>
            </a:extLst>
          </p:cNvPr>
          <p:cNvSpPr txBox="1"/>
          <p:nvPr/>
        </p:nvSpPr>
        <p:spPr>
          <a:xfrm>
            <a:off x="1615440" y="2574438"/>
            <a:ext cx="3365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1) V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ytvoriť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interaktívne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testy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endParaRPr lang="en-GB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cvičenia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úrovne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A1–B2</a:t>
            </a: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58134A02-17F6-B086-5A05-D461A0993E77}"/>
              </a:ext>
            </a:extLst>
          </p:cNvPr>
          <p:cNvSpPr/>
          <p:nvPr/>
        </p:nvSpPr>
        <p:spPr>
          <a:xfrm>
            <a:off x="1579880" y="2409597"/>
            <a:ext cx="3281680" cy="976011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CFCEF6-288B-313A-BF02-9002E8A47B09}"/>
              </a:ext>
            </a:extLst>
          </p:cNvPr>
          <p:cNvSpPr txBox="1"/>
          <p:nvPr/>
        </p:nvSpPr>
        <p:spPr>
          <a:xfrm>
            <a:off x="4119880" y="4035011"/>
            <a:ext cx="3495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7030A0"/>
                </a:solidFill>
                <a:latin typeface="Bahnschrift" panose="020B0502040204020203" pitchFamily="34" charset="0"/>
              </a:rPr>
              <a:t>3) Pridať slovník s výslovnosťou, prekladom a obrázkami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BC44DCE6-EF02-61EA-3517-5F81D662FAD7}"/>
              </a:ext>
            </a:extLst>
          </p:cNvPr>
          <p:cNvSpPr/>
          <p:nvPr/>
        </p:nvSpPr>
        <p:spPr>
          <a:xfrm>
            <a:off x="4084320" y="3870170"/>
            <a:ext cx="3611880" cy="976011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23" name="Пряма зі стрілкою 22">
            <a:extLst>
              <a:ext uri="{FF2B5EF4-FFF2-40B4-BE49-F238E27FC236}">
                <a16:creationId xmlns:a16="http://schemas.microsoft.com/office/drawing/2014/main" id="{60142CF6-EA37-7F99-B86C-F757F68EB22F}"/>
              </a:ext>
            </a:extLst>
          </p:cNvPr>
          <p:cNvCxnSpPr>
            <a:cxnSpLocks/>
          </p:cNvCxnSpPr>
          <p:nvPr/>
        </p:nvCxnSpPr>
        <p:spPr>
          <a:xfrm flipH="1">
            <a:off x="5890260" y="1280160"/>
            <a:ext cx="22860" cy="243512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199FDE0-FEAD-C064-C304-022EF9371115}"/>
              </a:ext>
            </a:extLst>
          </p:cNvPr>
          <p:cNvSpPr txBox="1"/>
          <p:nvPr/>
        </p:nvSpPr>
        <p:spPr>
          <a:xfrm>
            <a:off x="7289800" y="2719762"/>
            <a:ext cx="3495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7030A0"/>
                </a:solidFill>
                <a:latin typeface="Bahnschrift" panose="020B0502040204020203" pitchFamily="34" charset="0"/>
              </a:rPr>
              <a:t>2) Umožniť sledovanie pokroku a štatistík používateľa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5" name="Прямокутник 34">
            <a:extLst>
              <a:ext uri="{FF2B5EF4-FFF2-40B4-BE49-F238E27FC236}">
                <a16:creationId xmlns:a16="http://schemas.microsoft.com/office/drawing/2014/main" id="{67AF9B48-B628-CF60-7AA4-A09C7AA7A962}"/>
              </a:ext>
            </a:extLst>
          </p:cNvPr>
          <p:cNvSpPr/>
          <p:nvPr/>
        </p:nvSpPr>
        <p:spPr>
          <a:xfrm>
            <a:off x="7254240" y="2554921"/>
            <a:ext cx="3611880" cy="976011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36" name="Пряма зі стрілкою 35">
            <a:extLst>
              <a:ext uri="{FF2B5EF4-FFF2-40B4-BE49-F238E27FC236}">
                <a16:creationId xmlns:a16="http://schemas.microsoft.com/office/drawing/2014/main" id="{C181FA9B-D3FE-6D4A-A234-EC4C8D80238E}"/>
              </a:ext>
            </a:extLst>
          </p:cNvPr>
          <p:cNvCxnSpPr>
            <a:cxnSpLocks/>
          </p:cNvCxnSpPr>
          <p:nvPr/>
        </p:nvCxnSpPr>
        <p:spPr>
          <a:xfrm>
            <a:off x="6918960" y="1280160"/>
            <a:ext cx="1117600" cy="11099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71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51F9-539B-8714-9C1B-CDCA5B6A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3E5A7D-F55B-16C4-D1C7-627B2DFE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333" y="450154"/>
            <a:ext cx="6361334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Prínosy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nášho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119D8F17-3CD0-9894-6DE5-8FE9B69A534B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EE48352D-17CD-7DC9-3C0E-FDDBA80E5C9A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BF91EDC2-AD13-45CE-DF49-2C66F4263C55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0B3FF43A-F96F-AB4F-B1BC-95A56C3EE709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227102-557B-3538-C3B3-5285A9518643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9A735976-C90B-B36A-E444-D9F3391DED90}"/>
              </a:ext>
            </a:extLst>
          </p:cNvPr>
          <p:cNvSpPr/>
          <p:nvPr/>
        </p:nvSpPr>
        <p:spPr>
          <a:xfrm>
            <a:off x="3829098" y="2019307"/>
            <a:ext cx="4166822" cy="95201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8406A3-8320-3582-AF62-BCAB719F397D}"/>
              </a:ext>
            </a:extLst>
          </p:cNvPr>
          <p:cNvSpPr txBox="1"/>
          <p:nvPr/>
        </p:nvSpPr>
        <p:spPr>
          <a:xfrm>
            <a:off x="3942080" y="2172151"/>
            <a:ext cx="3975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Zlepšenie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dostupnosti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výučbových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materiálov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pre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Ukrajincov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6C9C79D2-F205-080C-826B-D78918B094B1}"/>
              </a:ext>
            </a:extLst>
          </p:cNvPr>
          <p:cNvSpPr/>
          <p:nvPr/>
        </p:nvSpPr>
        <p:spPr>
          <a:xfrm>
            <a:off x="3829098" y="3276156"/>
            <a:ext cx="4166822" cy="95201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FEFEE-68B0-2D9B-3BAF-EA078D4C372D}"/>
              </a:ext>
            </a:extLst>
          </p:cNvPr>
          <p:cNvSpPr txBox="1"/>
          <p:nvPr/>
        </p:nvSpPr>
        <p:spPr>
          <a:xfrm>
            <a:off x="3942080" y="3429000"/>
            <a:ext cx="3975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P</a:t>
            </a:r>
            <a:r>
              <a:rPr lang="pl-PL" dirty="0">
                <a:solidFill>
                  <a:srgbClr val="7030A0"/>
                </a:solidFill>
                <a:latin typeface="Bahnschrift" panose="020B0502040204020203" pitchFamily="34" charset="0"/>
              </a:rPr>
              <a:t>odpora jazykovej a kultúrnej integrácie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C0812FAE-C446-C0D6-CBB1-835FC9FED540}"/>
              </a:ext>
            </a:extLst>
          </p:cNvPr>
          <p:cNvSpPr/>
          <p:nvPr/>
        </p:nvSpPr>
        <p:spPr>
          <a:xfrm>
            <a:off x="3829098" y="4533005"/>
            <a:ext cx="4166822" cy="95201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FE671-B349-9DE4-7BF5-77A959DFFAEF}"/>
              </a:ext>
            </a:extLst>
          </p:cNvPr>
          <p:cNvSpPr txBox="1"/>
          <p:nvPr/>
        </p:nvSpPr>
        <p:spPr>
          <a:xfrm>
            <a:off x="3942079" y="4685849"/>
            <a:ext cx="39750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Rozvoj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gramotnosti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prostredníctvom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e-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learningu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7" name="Пряма сполучна лінія 16">
            <a:extLst>
              <a:ext uri="{FF2B5EF4-FFF2-40B4-BE49-F238E27FC236}">
                <a16:creationId xmlns:a16="http://schemas.microsoft.com/office/drawing/2014/main" id="{18F68359-CEB1-3355-0F67-41594AFA5259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5912509" y="2971325"/>
            <a:ext cx="0" cy="30483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 сполучна лінія 18">
            <a:extLst>
              <a:ext uri="{FF2B5EF4-FFF2-40B4-BE49-F238E27FC236}">
                <a16:creationId xmlns:a16="http://schemas.microsoft.com/office/drawing/2014/main" id="{F1C0B4BD-BC1F-084E-605C-F4EBB7665105}"/>
              </a:ext>
            </a:extLst>
          </p:cNvPr>
          <p:cNvCxnSpPr>
            <a:cxnSpLocks/>
          </p:cNvCxnSpPr>
          <p:nvPr/>
        </p:nvCxnSpPr>
        <p:spPr>
          <a:xfrm>
            <a:off x="5912509" y="4228174"/>
            <a:ext cx="0" cy="30483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70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6946-A738-84C2-32CD-B92B8CAC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4519B-E1EC-B885-4A48-73841E142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933" y="476429"/>
            <a:ext cx="7428134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Konkurencia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nášho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B9AB1-CCAA-66D3-F4EA-DB6E10CAB76A}"/>
              </a:ext>
            </a:extLst>
          </p:cNvPr>
          <p:cNvSpPr txBox="1"/>
          <p:nvPr/>
        </p:nvSpPr>
        <p:spPr>
          <a:xfrm>
            <a:off x="1280161" y="2497805"/>
            <a:ext cx="96077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Existujú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platformy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ako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Duolingo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alebo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Slovake.eu, ale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žiadna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z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nich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neponúka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plnohodnotnú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podporu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v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ukrajinskom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jazyku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32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14DF5DFD-65AD-E66A-4326-5D93961036B2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70786224-9D02-5B39-A1B4-92BDFD616459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40B9FA03-39EB-2AA5-171C-A57DA7BB7B9D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FC24843D-C243-73A8-43EE-2C98C2634010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AF721D-9449-A558-38C9-28C157D128BA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181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5F45-D1F0-B973-4184-4472164C3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74117-57AC-349C-1D78-17A7B149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93" y="450154"/>
            <a:ext cx="7428134" cy="1325563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Technická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uskutočniteľnosť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53833-6EB3-C924-9EAA-A45A3EB678F2}"/>
              </a:ext>
            </a:extLst>
          </p:cNvPr>
          <p:cNvSpPr txBox="1"/>
          <p:nvPr/>
        </p:nvSpPr>
        <p:spPr>
          <a:xfrm>
            <a:off x="1292101" y="2153384"/>
            <a:ext cx="96077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Vývoj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webovej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stránky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je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možný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pomocou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moderných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webových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technológií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(HTML5, CSS3, JavaScript). Na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realizáciu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funkcií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testov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cvičení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interaktívneho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slovníka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ukladania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pokroku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je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možné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použiť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hotové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knižnice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databázy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Stránka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bude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responzívny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aby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fungovala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mobilných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zariadeniach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 Do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budúcna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plánuje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samostatná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mobilná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aplikácia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E3F3DC22-F34B-6DD4-DB4B-B96E86CDADC0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6A3290B1-8DE2-C0C4-850B-A0F085484F50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B688DA61-3FC4-999D-E1CB-C86902C24FF3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8926E32C-F17B-1FF9-D6E2-6CA9F4B209B9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209953-E7AF-A55E-C202-22DA1E230E5B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166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6DF4-989B-EF24-F840-27F9B82A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63D1AA2F-C1DD-CDF6-9015-B21703869F15}"/>
              </a:ext>
            </a:extLst>
          </p:cNvPr>
          <p:cNvSpPr/>
          <p:nvPr/>
        </p:nvSpPr>
        <p:spPr>
          <a:xfrm rot="14526702">
            <a:off x="-5588610" y="651678"/>
            <a:ext cx="14024558" cy="6804324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3FCEC-913A-16D5-90C8-F4B8AC2C2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0" y="1311720"/>
            <a:ext cx="542544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Ekonomická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uskutočniteľnosť</a:t>
            </a:r>
            <a:endParaRPr lang="uk-UA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0" name="Пряма сполучна лінія 39">
            <a:extLst>
              <a:ext uri="{FF2B5EF4-FFF2-40B4-BE49-F238E27FC236}">
                <a16:creationId xmlns:a16="http://schemas.microsoft.com/office/drawing/2014/main" id="{1FE588BC-46A7-5AAF-FDAE-28FCFB3E4B02}"/>
              </a:ext>
            </a:extLst>
          </p:cNvPr>
          <p:cNvCxnSpPr>
            <a:cxnSpLocks/>
          </p:cNvCxnSpPr>
          <p:nvPr/>
        </p:nvCxnSpPr>
        <p:spPr>
          <a:xfrm>
            <a:off x="6870540" y="3699320"/>
            <a:ext cx="513453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D084AFB-5D79-EE0E-A851-A35CAE77BC5B}"/>
              </a:ext>
            </a:extLst>
          </p:cNvPr>
          <p:cNvSpPr/>
          <p:nvPr/>
        </p:nvSpPr>
        <p:spPr>
          <a:xfrm rot="14526702">
            <a:off x="-5296132" y="514518"/>
            <a:ext cx="14024558" cy="680432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grpSp>
        <p:nvGrpSpPr>
          <p:cNvPr id="74" name="Групувати 73">
            <a:extLst>
              <a:ext uri="{FF2B5EF4-FFF2-40B4-BE49-F238E27FC236}">
                <a16:creationId xmlns:a16="http://schemas.microsoft.com/office/drawing/2014/main" id="{AB8F2BEF-2442-1439-80EB-D630AAA41EDF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66" name="Шестикутник 65">
              <a:extLst>
                <a:ext uri="{FF2B5EF4-FFF2-40B4-BE49-F238E27FC236}">
                  <a16:creationId xmlns:a16="http://schemas.microsoft.com/office/drawing/2014/main" id="{FCFB4B6A-AF2D-9C6E-D955-276EECDDED22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7" name="Прямокутник 66">
              <a:extLst>
                <a:ext uri="{FF2B5EF4-FFF2-40B4-BE49-F238E27FC236}">
                  <a16:creationId xmlns:a16="http://schemas.microsoft.com/office/drawing/2014/main" id="{C74A1309-E40C-03A7-22B5-CC028222072F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9" name="Рівнобедрений трикутник 68">
              <a:extLst>
                <a:ext uri="{FF2B5EF4-FFF2-40B4-BE49-F238E27FC236}">
                  <a16:creationId xmlns:a16="http://schemas.microsoft.com/office/drawing/2014/main" id="{BD832B9F-86DE-89C4-AE09-7C05CA98CCD3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2534133-657D-1D03-EA93-2587B49B214D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468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22E4-4972-D785-98C8-6DB447F8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908A1A4-7518-0620-7A4D-C093266E29C9}"/>
              </a:ext>
            </a:extLst>
          </p:cNvPr>
          <p:cNvSpPr txBox="1"/>
          <p:nvPr/>
        </p:nvSpPr>
        <p:spPr>
          <a:xfrm>
            <a:off x="5769581" y="3444629"/>
            <a:ext cx="61020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     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Vývoj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MVP: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približne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3–6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mesiacov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v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závislosti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od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rozsahu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75F8757E-9340-2A6B-B9CC-8ABCF0B5AC36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5E2DE177-FD5E-EDA8-E853-4254ECA9C8CF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1A910F0D-0A70-7A3A-E3BA-28B06FA87853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C24C1521-0976-0C46-E78E-F581E6829926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F38A35-408D-4B5B-B756-390FE2D1FA95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EC34F9A-35AD-DD4E-1963-97F994938892}"/>
              </a:ext>
            </a:extLst>
          </p:cNvPr>
          <p:cNvSpPr txBox="1"/>
          <p:nvPr/>
        </p:nvSpPr>
        <p:spPr>
          <a:xfrm>
            <a:off x="916650" y="1509070"/>
            <a:ext cx="4505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Očakávané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náklady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 10 000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EUR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F45CA5C6-1754-3B63-362E-4615D0B8834E}"/>
              </a:ext>
            </a:extLst>
          </p:cNvPr>
          <p:cNvSpPr/>
          <p:nvPr/>
        </p:nvSpPr>
        <p:spPr>
          <a:xfrm>
            <a:off x="320405" y="1358597"/>
            <a:ext cx="5101891" cy="785151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4EC144B5-9E94-68E5-0D92-0DCEAE40A09B}"/>
              </a:ext>
            </a:extLst>
          </p:cNvPr>
          <p:cNvSpPr/>
          <p:nvPr/>
        </p:nvSpPr>
        <p:spPr>
          <a:xfrm>
            <a:off x="5771939" y="3412409"/>
            <a:ext cx="6232700" cy="1011000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CD8747-31C4-C62A-BFB2-2353E2471D9B}"/>
              </a:ext>
            </a:extLst>
          </p:cNvPr>
          <p:cNvSpPr txBox="1"/>
          <p:nvPr/>
        </p:nvSpPr>
        <p:spPr>
          <a:xfrm>
            <a:off x="320405" y="2511859"/>
            <a:ext cx="5005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      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Mzdy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závisia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od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zapojenia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odborníkov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freelanceri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ale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pravdepodobnejšie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bude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vlastný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tím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18713345-D692-2123-1E81-C7C5BE51483C}"/>
              </a:ext>
            </a:extLst>
          </p:cNvPr>
          <p:cNvSpPr/>
          <p:nvPr/>
        </p:nvSpPr>
        <p:spPr>
          <a:xfrm>
            <a:off x="320405" y="2422671"/>
            <a:ext cx="5101891" cy="175216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4361A63-BCFF-B48F-3A34-B330B1151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28" y="2542284"/>
            <a:ext cx="396810" cy="39681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FFE9D35-228F-65BE-F8C2-C71ADBB24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79" y="1570162"/>
            <a:ext cx="373578" cy="373578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619318C-4850-EA7E-9E85-64DE89237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91" y="3575995"/>
            <a:ext cx="271136" cy="27113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102159C-BF6D-30AD-4861-40857EE6C83A}"/>
              </a:ext>
            </a:extLst>
          </p:cNvPr>
          <p:cNvSpPr txBox="1"/>
          <p:nvPr/>
        </p:nvSpPr>
        <p:spPr>
          <a:xfrm>
            <a:off x="5771939" y="1505158"/>
            <a:ext cx="60944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       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Zdroje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príjmu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Platené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predplatné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(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prémiový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obsah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)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Reklama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v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bezplatnej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verzii</a:t>
            </a:r>
            <a:r>
              <a:rPr lang="ru-RU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Partnerstvá s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jazykovými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školami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alebo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vzdelávacími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programami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 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65D2338-C57F-F264-D3CF-611DBE326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851" y="1458542"/>
            <a:ext cx="442982" cy="442982"/>
          </a:xfrm>
          <a:prstGeom prst="rect">
            <a:avLst/>
          </a:prstGeom>
        </p:spPr>
      </p:pic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807951C0-65EE-CA2F-CF03-618223829997}"/>
              </a:ext>
            </a:extLst>
          </p:cNvPr>
          <p:cNvSpPr/>
          <p:nvPr/>
        </p:nvSpPr>
        <p:spPr>
          <a:xfrm>
            <a:off x="5771939" y="1359647"/>
            <a:ext cx="6232700" cy="1806691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6E1C62-388C-0A82-8C8C-7C65E09EA50C}"/>
              </a:ext>
            </a:extLst>
          </p:cNvPr>
          <p:cNvSpPr txBox="1"/>
          <p:nvPr/>
        </p:nvSpPr>
        <p:spPr>
          <a:xfrm>
            <a:off x="408909" y="4374847"/>
            <a:ext cx="11457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Záver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</a:t>
            </a:r>
            <a:endParaRPr lang="ru-RU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  <a:p>
            <a:pPr algn="just"/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Projekt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môže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stať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sebestačným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do 12–18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mesiacov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od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spustenia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za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predpokladu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aktívnej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propagácie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rastu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používateľskej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základne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.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4272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8123-F8A0-D176-4042-076F8E97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4E10F35C-F0FF-C3FE-6A41-394D646A732E}"/>
              </a:ext>
            </a:extLst>
          </p:cNvPr>
          <p:cNvSpPr/>
          <p:nvPr/>
        </p:nvSpPr>
        <p:spPr>
          <a:xfrm rot="14526702">
            <a:off x="-5588610" y="651678"/>
            <a:ext cx="14024558" cy="6804324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5BE26E-D9B9-DEDC-BB4F-30E183A8F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0" y="1311720"/>
            <a:ext cx="542544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Organizačná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uskutočniteľnosť</a:t>
            </a:r>
            <a:endParaRPr lang="uk-UA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0" name="Пряма сполучна лінія 39">
            <a:extLst>
              <a:ext uri="{FF2B5EF4-FFF2-40B4-BE49-F238E27FC236}">
                <a16:creationId xmlns:a16="http://schemas.microsoft.com/office/drawing/2014/main" id="{3F92BEED-2231-13D7-3874-1E7B486B4655}"/>
              </a:ext>
            </a:extLst>
          </p:cNvPr>
          <p:cNvCxnSpPr>
            <a:cxnSpLocks/>
          </p:cNvCxnSpPr>
          <p:nvPr/>
        </p:nvCxnSpPr>
        <p:spPr>
          <a:xfrm>
            <a:off x="6870540" y="3699320"/>
            <a:ext cx="513453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4585333-D6DC-93DD-C672-C3ED315A5C57}"/>
              </a:ext>
            </a:extLst>
          </p:cNvPr>
          <p:cNvSpPr/>
          <p:nvPr/>
        </p:nvSpPr>
        <p:spPr>
          <a:xfrm rot="14526702">
            <a:off x="-5296132" y="514518"/>
            <a:ext cx="14024558" cy="680432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grpSp>
        <p:nvGrpSpPr>
          <p:cNvPr id="74" name="Групувати 73">
            <a:extLst>
              <a:ext uri="{FF2B5EF4-FFF2-40B4-BE49-F238E27FC236}">
                <a16:creationId xmlns:a16="http://schemas.microsoft.com/office/drawing/2014/main" id="{F5E7B496-0147-F226-CBB9-5348B26FEA02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66" name="Шестикутник 65">
              <a:extLst>
                <a:ext uri="{FF2B5EF4-FFF2-40B4-BE49-F238E27FC236}">
                  <a16:creationId xmlns:a16="http://schemas.microsoft.com/office/drawing/2014/main" id="{042E5AC7-DB29-DECD-48AD-B6E413545CC3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7" name="Прямокутник 66">
              <a:extLst>
                <a:ext uri="{FF2B5EF4-FFF2-40B4-BE49-F238E27FC236}">
                  <a16:creationId xmlns:a16="http://schemas.microsoft.com/office/drawing/2014/main" id="{4A21F55A-A66B-657E-8751-9A4789F46BDE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9" name="Рівнобедрений трикутник 68">
              <a:extLst>
                <a:ext uri="{FF2B5EF4-FFF2-40B4-BE49-F238E27FC236}">
                  <a16:creationId xmlns:a16="http://schemas.microsoft.com/office/drawing/2014/main" id="{72491F31-0C68-C0D6-C9ED-72FA4F990F27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68329FE-8413-330D-F98F-BE0969934F1A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7244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77525-B283-3D72-294E-9D8F589B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42" y="41518"/>
            <a:ext cx="4262557" cy="1325563"/>
          </a:xfrm>
        </p:spPr>
        <p:txBody>
          <a:bodyPr>
            <a:normAutofit/>
          </a:bodyPr>
          <a:lstStyle/>
          <a:p>
            <a:r>
              <a:rPr lang="en-GB" altLang="uk-UA" sz="48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Realizačný</a:t>
            </a:r>
            <a:r>
              <a:rPr lang="en-GB" altLang="uk-UA" sz="48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altLang="uk-UA" sz="48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tím</a:t>
            </a:r>
            <a:endParaRPr lang="uk-UA" sz="4800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1EFCA88E-5387-88DA-6C08-AC52F21690A8}"/>
              </a:ext>
            </a:extLst>
          </p:cNvPr>
          <p:cNvSpPr/>
          <p:nvPr/>
        </p:nvSpPr>
        <p:spPr>
          <a:xfrm>
            <a:off x="5332070" y="1264515"/>
            <a:ext cx="1601165" cy="1601165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393A168-FC7F-F1DE-7577-064DE3227E73}"/>
              </a:ext>
            </a:extLst>
          </p:cNvPr>
          <p:cNvSpPr/>
          <p:nvPr/>
        </p:nvSpPr>
        <p:spPr>
          <a:xfrm>
            <a:off x="3324633" y="1927112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9555A-9BDE-5453-2917-9703C1BE82B3}"/>
              </a:ext>
            </a:extLst>
          </p:cNvPr>
          <p:cNvSpPr txBox="1"/>
          <p:nvPr/>
        </p:nvSpPr>
        <p:spPr>
          <a:xfrm>
            <a:off x="3075549" y="3317039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Maksym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Sahun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9431C-9313-D796-8B68-DBF74F4ED036}"/>
              </a:ext>
            </a:extLst>
          </p:cNvPr>
          <p:cNvSpPr txBox="1"/>
          <p:nvPr/>
        </p:nvSpPr>
        <p:spPr>
          <a:xfrm>
            <a:off x="3363217" y="3671378"/>
            <a:ext cx="1212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IT specialist 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1793BE5-C4F4-1727-40AB-FDB1FF966853}"/>
              </a:ext>
            </a:extLst>
          </p:cNvPr>
          <p:cNvSpPr/>
          <p:nvPr/>
        </p:nvSpPr>
        <p:spPr>
          <a:xfrm>
            <a:off x="1506564" y="2926953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6DE1A5-B1ED-BEA0-3F76-BB934AFD44CE}"/>
              </a:ext>
            </a:extLst>
          </p:cNvPr>
          <p:cNvSpPr txBox="1"/>
          <p:nvPr/>
        </p:nvSpPr>
        <p:spPr>
          <a:xfrm>
            <a:off x="1257480" y="4316880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Vladyslav Momot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7E242B-35A8-340F-0758-E20E87EC9652}"/>
              </a:ext>
            </a:extLst>
          </p:cNvPr>
          <p:cNvSpPr txBox="1"/>
          <p:nvPr/>
        </p:nvSpPr>
        <p:spPr>
          <a:xfrm>
            <a:off x="1718769" y="4671219"/>
            <a:ext cx="1212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Marketér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E28EB85-84C7-3C48-A38F-B8297EA4E80C}"/>
              </a:ext>
            </a:extLst>
          </p:cNvPr>
          <p:cNvSpPr/>
          <p:nvPr/>
        </p:nvSpPr>
        <p:spPr>
          <a:xfrm>
            <a:off x="7881333" y="1925489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0E24D8-7F8E-4FB4-F9A6-AB2E2C22DB5D}"/>
              </a:ext>
            </a:extLst>
          </p:cNvPr>
          <p:cNvSpPr txBox="1"/>
          <p:nvPr/>
        </p:nvSpPr>
        <p:spPr>
          <a:xfrm>
            <a:off x="7840596" y="3315416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Illia Tretiak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E695C-29AA-64CD-10CC-334C1D43D9F9}"/>
              </a:ext>
            </a:extLst>
          </p:cNvPr>
          <p:cNvSpPr txBox="1"/>
          <p:nvPr/>
        </p:nvSpPr>
        <p:spPr>
          <a:xfrm>
            <a:off x="7616338" y="3617668"/>
            <a:ext cx="1799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UX/UI</a:t>
            </a:r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1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Dizajnér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D6E744B-6AA9-E621-A715-D8713B40FFB9}"/>
              </a:ext>
            </a:extLst>
          </p:cNvPr>
          <p:cNvSpPr/>
          <p:nvPr/>
        </p:nvSpPr>
        <p:spPr>
          <a:xfrm>
            <a:off x="9471654" y="2992153"/>
            <a:ext cx="1251031" cy="1251031"/>
          </a:xfrm>
          <a:prstGeom prst="ellipse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2B3709-B305-1149-06DA-72A1EA9CEF4F}"/>
              </a:ext>
            </a:extLst>
          </p:cNvPr>
          <p:cNvSpPr txBox="1"/>
          <p:nvPr/>
        </p:nvSpPr>
        <p:spPr>
          <a:xfrm>
            <a:off x="9122013" y="4334242"/>
            <a:ext cx="209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Dmytro </a:t>
            </a:r>
            <a:r>
              <a:rPr lang="en-GB" b="0" i="0" dirty="0" err="1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Balanenko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5A8B05-AF18-49A9-25FC-496BF240816D}"/>
              </a:ext>
            </a:extLst>
          </p:cNvPr>
          <p:cNvSpPr txBox="1"/>
          <p:nvPr/>
        </p:nvSpPr>
        <p:spPr>
          <a:xfrm>
            <a:off x="4878198" y="3243224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SEO/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Projektový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manažér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F02BEA-4234-7F29-F7F1-4A2A360B22C3}"/>
              </a:ext>
            </a:extLst>
          </p:cNvPr>
          <p:cNvSpPr txBox="1"/>
          <p:nvPr/>
        </p:nvSpPr>
        <p:spPr>
          <a:xfrm>
            <a:off x="5135094" y="2962119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Dmytro </a:t>
            </a:r>
            <a:r>
              <a:rPr lang="en-GB" b="0" i="0" dirty="0" err="1"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Sydorenko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B4BFCC5-E275-2B4E-5469-EF638026D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304" y="2255995"/>
            <a:ext cx="609685" cy="60968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DECD889-A662-6FF0-06BB-F7E9F816F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36" y="3277052"/>
            <a:ext cx="609685" cy="60968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218FB13-FCEE-AD35-E394-DCE196609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557" y="2246161"/>
            <a:ext cx="609685" cy="60968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0C42ACE-7852-4021-8CEF-61475C377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326" y="3362530"/>
            <a:ext cx="609685" cy="609685"/>
          </a:xfrm>
          <a:prstGeom prst="rect">
            <a:avLst/>
          </a:prstGeom>
        </p:spPr>
      </p:pic>
      <p:grpSp>
        <p:nvGrpSpPr>
          <p:cNvPr id="3" name="Групувати 2">
            <a:extLst>
              <a:ext uri="{FF2B5EF4-FFF2-40B4-BE49-F238E27FC236}">
                <a16:creationId xmlns:a16="http://schemas.microsoft.com/office/drawing/2014/main" id="{D1EEA059-4540-3DC4-73A1-84594BCA5332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5" name="Шестикутник 4">
              <a:extLst>
                <a:ext uri="{FF2B5EF4-FFF2-40B4-BE49-F238E27FC236}">
                  <a16:creationId xmlns:a16="http://schemas.microsoft.com/office/drawing/2014/main" id="{237C3CC2-8FE5-428A-7F93-7540FE2C0215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Прямокутник 5">
              <a:extLst>
                <a:ext uri="{FF2B5EF4-FFF2-40B4-BE49-F238E27FC236}">
                  <a16:creationId xmlns:a16="http://schemas.microsoft.com/office/drawing/2014/main" id="{D9AF85FE-E357-D8BE-48EB-889A978A9B1A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Рівнобедрений трикутник 9">
              <a:extLst>
                <a:ext uri="{FF2B5EF4-FFF2-40B4-BE49-F238E27FC236}">
                  <a16:creationId xmlns:a16="http://schemas.microsoft.com/office/drawing/2014/main" id="{C6DFF21A-09F8-40A9-74FE-4BA2E67F237F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E7EB7-A7AD-E29C-A0F3-31E04C347F89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ACAB7A1-EBEA-7EE0-0414-A28F5BE8E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51" y="1707008"/>
            <a:ext cx="718249" cy="7182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279BCAB-FC0D-74A5-5623-9DC89FF3F139}"/>
              </a:ext>
            </a:extLst>
          </p:cNvPr>
          <p:cNvSpPr txBox="1"/>
          <p:nvPr/>
        </p:nvSpPr>
        <p:spPr>
          <a:xfrm>
            <a:off x="9197441" y="4613561"/>
            <a:ext cx="1799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UX/UI</a:t>
            </a:r>
            <a:r>
              <a:rPr lang="ru-RU" sz="1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1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Dizajnér</a:t>
            </a:r>
            <a:endParaRPr lang="uk-UA" sz="1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49186-0CAB-5FAD-C1B0-82E56642BCC2}"/>
              </a:ext>
            </a:extLst>
          </p:cNvPr>
          <p:cNvSpPr txBox="1"/>
          <p:nvPr/>
        </p:nvSpPr>
        <p:spPr>
          <a:xfrm>
            <a:off x="3392505" y="4651981"/>
            <a:ext cx="62982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-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Projektový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manažér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koordinuje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process</a:t>
            </a:r>
          </a:p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-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Webový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vývojár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zodpovedá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za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funkčnosť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stránky</a:t>
            </a:r>
            <a:endParaRPr lang="en-GB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-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Dizajnér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vizuálna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identita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</a:p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- UX/UI</a:t>
            </a:r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Jazykový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špecialista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slovenčinu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tvorba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obsahu</a:t>
            </a:r>
            <a:endParaRPr lang="en-GB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-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Marketér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propagácia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stránky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sociálnych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sieťach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</a:p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- SEO – head team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5760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543C-FCEA-151A-429F-094F6A59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48849-EEBB-DB4D-2A8A-F154664A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387" y="476429"/>
            <a:ext cx="5353226" cy="1325563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Štruktúra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60964968-E8D5-040C-953E-C712C3E28972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C88AAC05-AA10-9FAA-1DF6-7B24449418DD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83E60623-10A8-48D5-672B-74EED721596E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8DBB45E0-20C9-447B-95CB-76F6C04F4D0E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BCD656-AE7E-B507-32EF-F2A8FBBFC8EE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F0E9DF0F-1420-F065-9C66-E74692EA2FE9}"/>
              </a:ext>
            </a:extLst>
          </p:cNvPr>
          <p:cNvSpPr/>
          <p:nvPr/>
        </p:nvSpPr>
        <p:spPr>
          <a:xfrm>
            <a:off x="652265" y="1972173"/>
            <a:ext cx="4166822" cy="95201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89BFAEC8-0B27-D47E-524D-4E3215F6E04A}"/>
              </a:ext>
            </a:extLst>
          </p:cNvPr>
          <p:cNvSpPr/>
          <p:nvPr/>
        </p:nvSpPr>
        <p:spPr>
          <a:xfrm>
            <a:off x="7334594" y="4429171"/>
            <a:ext cx="4166822" cy="95201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04B5A595-EE2C-CA8D-BD02-66D9C3069FC0}"/>
              </a:ext>
            </a:extLst>
          </p:cNvPr>
          <p:cNvSpPr/>
          <p:nvPr/>
        </p:nvSpPr>
        <p:spPr>
          <a:xfrm>
            <a:off x="4012589" y="3200672"/>
            <a:ext cx="4166822" cy="952018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265F4-BFDF-BE6F-C284-9346F21D2216}"/>
              </a:ext>
            </a:extLst>
          </p:cNvPr>
          <p:cNvSpPr txBox="1"/>
          <p:nvPr/>
        </p:nvSpPr>
        <p:spPr>
          <a:xfrm>
            <a:off x="903828" y="2032683"/>
            <a:ext cx="36587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Počiatočná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fáza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výskum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</a:p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dizajn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vývoj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MVP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E06D0-C332-2393-60C5-2A04C77250B4}"/>
              </a:ext>
            </a:extLst>
          </p:cNvPr>
          <p:cNvSpPr txBox="1"/>
          <p:nvPr/>
        </p:nvSpPr>
        <p:spPr>
          <a:xfrm>
            <a:off x="4124183" y="3261182"/>
            <a:ext cx="39436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Prechodná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fáza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testovanie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s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používateľmi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cxnSp>
        <p:nvCxnSpPr>
          <p:cNvPr id="19" name="Пряма сполучна лінія 18">
            <a:extLst>
              <a:ext uri="{FF2B5EF4-FFF2-40B4-BE49-F238E27FC236}">
                <a16:creationId xmlns:a16="http://schemas.microsoft.com/office/drawing/2014/main" id="{5893562B-152C-74F3-3A1C-190593CECD0F}"/>
              </a:ext>
            </a:extLst>
          </p:cNvPr>
          <p:cNvCxnSpPr>
            <a:cxnSpLocks/>
          </p:cNvCxnSpPr>
          <p:nvPr/>
        </p:nvCxnSpPr>
        <p:spPr>
          <a:xfrm>
            <a:off x="4328806" y="2924191"/>
            <a:ext cx="0" cy="30483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 сполучна лінія 19">
            <a:extLst>
              <a:ext uri="{FF2B5EF4-FFF2-40B4-BE49-F238E27FC236}">
                <a16:creationId xmlns:a16="http://schemas.microsoft.com/office/drawing/2014/main" id="{DC2C8BB1-2398-16B2-1055-C4B32CF56058}"/>
              </a:ext>
            </a:extLst>
          </p:cNvPr>
          <p:cNvCxnSpPr>
            <a:cxnSpLocks/>
          </p:cNvCxnSpPr>
          <p:nvPr/>
        </p:nvCxnSpPr>
        <p:spPr>
          <a:xfrm>
            <a:off x="7921989" y="4124340"/>
            <a:ext cx="0" cy="304831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E8F1C7B-5A5D-C3ED-C5A1-DEA2722A0B6A}"/>
              </a:ext>
            </a:extLst>
          </p:cNvPr>
          <p:cNvSpPr txBox="1"/>
          <p:nvPr/>
        </p:nvSpPr>
        <p:spPr>
          <a:xfrm>
            <a:off x="7483149" y="4489681"/>
            <a:ext cx="39436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Záverečná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fáza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: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Spustenie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monitorovanie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škálovanie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58387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4688-B1EA-1AFA-CBB7-CDCE14C4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3B7A3-2209-50FB-7DF8-61D736DE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7534" y="639238"/>
            <a:ext cx="2817571" cy="369333"/>
          </a:xfrm>
        </p:spPr>
        <p:txBody>
          <a:bodyPr>
            <a:normAutofit fontScale="90000"/>
          </a:bodyPr>
          <a:lstStyle/>
          <a:p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MindMap</a:t>
            </a:r>
            <a:b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03C386-AA1D-2109-B7F4-815B744F3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97" y="1112936"/>
            <a:ext cx="10501460" cy="4921159"/>
          </a:xfrm>
          <a:prstGeom prst="rect">
            <a:avLst/>
          </a:prstGeom>
        </p:spPr>
      </p:pic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9C5E9947-9107-F1BF-D815-3A75373906CA}"/>
              </a:ext>
            </a:extLst>
          </p:cNvPr>
          <p:cNvSpPr/>
          <p:nvPr/>
        </p:nvSpPr>
        <p:spPr>
          <a:xfrm>
            <a:off x="339365" y="928270"/>
            <a:ext cx="1348033" cy="542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15" name="Групувати 14">
            <a:extLst>
              <a:ext uri="{FF2B5EF4-FFF2-40B4-BE49-F238E27FC236}">
                <a16:creationId xmlns:a16="http://schemas.microsoft.com/office/drawing/2014/main" id="{AFB64CEC-03A7-6513-1703-5084E58466C7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6" name="Шестикутник 15">
              <a:extLst>
                <a:ext uri="{FF2B5EF4-FFF2-40B4-BE49-F238E27FC236}">
                  <a16:creationId xmlns:a16="http://schemas.microsoft.com/office/drawing/2014/main" id="{52451067-0669-673F-C6EF-6FDC379FFDED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7" name="Прямокутник 16">
              <a:extLst>
                <a:ext uri="{FF2B5EF4-FFF2-40B4-BE49-F238E27FC236}">
                  <a16:creationId xmlns:a16="http://schemas.microsoft.com/office/drawing/2014/main" id="{67246EA8-86B8-9341-43B8-419BBD1B76C6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8" name="Рівнобедрений трикутник 17">
              <a:extLst>
                <a:ext uri="{FF2B5EF4-FFF2-40B4-BE49-F238E27FC236}">
                  <a16:creationId xmlns:a16="http://schemas.microsoft.com/office/drawing/2014/main" id="{4C9805A3-BA18-FA80-6015-0A8FCB82AEC5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B55548B-4730-5793-6389-EE484C6A2D10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5530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B2CC-8150-3B80-26FC-656CFC7D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892B0-6D59-3494-7018-D1AE5431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200" y="430639"/>
            <a:ext cx="6742708" cy="1325563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Riziká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ich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minimalizácia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A03B4919-2F7C-CA0F-34D2-1D517E7B15E9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1" name="Шестикутник 10">
              <a:extLst>
                <a:ext uri="{FF2B5EF4-FFF2-40B4-BE49-F238E27FC236}">
                  <a16:creationId xmlns:a16="http://schemas.microsoft.com/office/drawing/2014/main" id="{2797A7BB-135F-6A5E-D5C9-9976FE7364B5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158B306B-F114-AFFF-3C95-A7C1DEC2BB0C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5494F3A4-FC45-1B27-FECF-57622F25331C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F972CF-CDD4-150E-EF01-40538ECDCD1C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740EFBE6-55C9-2760-6880-84C16E279F50}"/>
              </a:ext>
            </a:extLst>
          </p:cNvPr>
          <p:cNvSpPr/>
          <p:nvPr/>
        </p:nvSpPr>
        <p:spPr>
          <a:xfrm>
            <a:off x="432614" y="1987856"/>
            <a:ext cx="5430204" cy="1372583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13E6E6-0E25-7155-2EB9-E5655DC9E3FA}"/>
              </a:ext>
            </a:extLst>
          </p:cNvPr>
          <p:cNvSpPr txBox="1"/>
          <p:nvPr/>
        </p:nvSpPr>
        <p:spPr>
          <a:xfrm>
            <a:off x="507248" y="2034877"/>
            <a:ext cx="5355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Nízky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záujem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používateľov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Stredné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riešenie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(Marketing,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analýza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potrieb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cieľovej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skupiny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)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0BD20B3D-AE94-56BC-4216-A18431939C2E}"/>
              </a:ext>
            </a:extLst>
          </p:cNvPr>
          <p:cNvSpPr/>
          <p:nvPr/>
        </p:nvSpPr>
        <p:spPr>
          <a:xfrm>
            <a:off x="4427274" y="3843286"/>
            <a:ext cx="5430204" cy="1372583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12962-2BDB-D7D1-2144-8971138A6EC5}"/>
              </a:ext>
            </a:extLst>
          </p:cNvPr>
          <p:cNvSpPr txBox="1"/>
          <p:nvPr/>
        </p:nvSpPr>
        <p:spPr>
          <a:xfrm>
            <a:off x="4501908" y="3890307"/>
            <a:ext cx="5355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Vysoká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konkurencia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Vysoké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riešenie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(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Unikátny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obsah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zameranie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Ukrajincov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)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5C562539-FC7C-5593-0B3C-FB45C5AA9170}"/>
              </a:ext>
            </a:extLst>
          </p:cNvPr>
          <p:cNvSpPr/>
          <p:nvPr/>
        </p:nvSpPr>
        <p:spPr>
          <a:xfrm>
            <a:off x="6329184" y="1948750"/>
            <a:ext cx="5430204" cy="1372583"/>
          </a:xfrm>
          <a:prstGeom prst="rect">
            <a:avLst/>
          </a:prstGeom>
          <a:noFill/>
          <a:ln w="5715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52B1DE-0CD9-4927-8C8C-CE51CF2EF136}"/>
              </a:ext>
            </a:extLst>
          </p:cNvPr>
          <p:cNvSpPr txBox="1"/>
          <p:nvPr/>
        </p:nvSpPr>
        <p:spPr>
          <a:xfrm>
            <a:off x="6403818" y="1995771"/>
            <a:ext cx="5355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Prekročenie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rozpočtu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Stredné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riešenie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(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Dôkladné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plánovanie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postupná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realizácia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  <a:ea typeface="Artifakt Element Thin" panose="020B0203050000020004" pitchFamily="34" charset="-52"/>
              </a:rPr>
              <a:t>)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  <a:ea typeface="Artifakt Element Thin" panose="020B0203050000020004" pitchFamily="34" charset="-52"/>
            </a:endParaRPr>
          </a:p>
        </p:txBody>
      </p:sp>
      <p:cxnSp>
        <p:nvCxnSpPr>
          <p:cNvPr id="21" name="Пряма сполучна лінія 20">
            <a:extLst>
              <a:ext uri="{FF2B5EF4-FFF2-40B4-BE49-F238E27FC236}">
                <a16:creationId xmlns:a16="http://schemas.microsoft.com/office/drawing/2014/main" id="{847402B3-B165-8936-2938-8AC19BB580F7}"/>
              </a:ext>
            </a:extLst>
          </p:cNvPr>
          <p:cNvCxnSpPr>
            <a:cxnSpLocks/>
            <a:stCxn id="17" idx="1"/>
            <a:endCxn id="8" idx="3"/>
          </p:cNvCxnSpPr>
          <p:nvPr/>
        </p:nvCxnSpPr>
        <p:spPr>
          <a:xfrm flipH="1">
            <a:off x="5862818" y="2635042"/>
            <a:ext cx="466366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 сполучна лінія 30">
            <a:extLst>
              <a:ext uri="{FF2B5EF4-FFF2-40B4-BE49-F238E27FC236}">
                <a16:creationId xmlns:a16="http://schemas.microsoft.com/office/drawing/2014/main" id="{5DFFBBD3-6456-9299-F5D1-A7D88BCC31BD}"/>
              </a:ext>
            </a:extLst>
          </p:cNvPr>
          <p:cNvCxnSpPr>
            <a:cxnSpLocks/>
          </p:cNvCxnSpPr>
          <p:nvPr/>
        </p:nvCxnSpPr>
        <p:spPr>
          <a:xfrm>
            <a:off x="6873711" y="3341585"/>
            <a:ext cx="0" cy="491213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711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10AF-ADEE-CCE1-1FAB-B79D21B2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75776-6707-A2AF-85AA-8195AA47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632" y="192372"/>
            <a:ext cx="3975041" cy="132922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Web-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stranka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9FCB5F12-0805-069D-1C62-00A784EA3AD8}"/>
              </a:ext>
            </a:extLst>
          </p:cNvPr>
          <p:cNvSpPr/>
          <p:nvPr/>
        </p:nvSpPr>
        <p:spPr>
          <a:xfrm>
            <a:off x="3824569" y="1498443"/>
            <a:ext cx="4433104" cy="4433104"/>
          </a:xfrm>
          <a:prstGeom prst="rect">
            <a:avLst/>
          </a:prstGeom>
          <a:noFill/>
          <a:ln w="5715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12ACE7-3233-2D0B-50BD-9C199F5D1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435" y="1683309"/>
            <a:ext cx="4063371" cy="4063371"/>
          </a:xfrm>
          <a:prstGeom prst="rect">
            <a:avLst/>
          </a:prstGeom>
        </p:spPr>
      </p:pic>
      <p:sp>
        <p:nvSpPr>
          <p:cNvPr id="24" name="Прямокутник 23">
            <a:extLst>
              <a:ext uri="{FF2B5EF4-FFF2-40B4-BE49-F238E27FC236}">
                <a16:creationId xmlns:a16="http://schemas.microsoft.com/office/drawing/2014/main" id="{0AFCD9CD-922A-EC0D-463F-EFFE2099523D}"/>
              </a:ext>
            </a:extLst>
          </p:cNvPr>
          <p:cNvSpPr/>
          <p:nvPr/>
        </p:nvSpPr>
        <p:spPr>
          <a:xfrm>
            <a:off x="5674935" y="3354827"/>
            <a:ext cx="716437" cy="71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4D2CF91F-7440-89E1-2FC6-BF8DD9AD12C1}"/>
              </a:ext>
            </a:extLst>
          </p:cNvPr>
          <p:cNvGrpSpPr/>
          <p:nvPr/>
        </p:nvGrpSpPr>
        <p:grpSpPr>
          <a:xfrm>
            <a:off x="5627432" y="3388408"/>
            <a:ext cx="811441" cy="703187"/>
            <a:chOff x="10417766" y="3408585"/>
            <a:chExt cx="811441" cy="703187"/>
          </a:xfrm>
        </p:grpSpPr>
        <p:grpSp>
          <p:nvGrpSpPr>
            <p:cNvPr id="25" name="Групувати 24">
              <a:extLst>
                <a:ext uri="{FF2B5EF4-FFF2-40B4-BE49-F238E27FC236}">
                  <a16:creationId xmlns:a16="http://schemas.microsoft.com/office/drawing/2014/main" id="{598FF49C-86BD-843B-254B-C6F0EA5A6BA6}"/>
                </a:ext>
              </a:extLst>
            </p:cNvPr>
            <p:cNvGrpSpPr/>
            <p:nvPr/>
          </p:nvGrpSpPr>
          <p:grpSpPr>
            <a:xfrm>
              <a:off x="10643939" y="3408585"/>
              <a:ext cx="359093" cy="395410"/>
              <a:chOff x="10653683" y="3252763"/>
              <a:chExt cx="515936" cy="568115"/>
            </a:xfrm>
          </p:grpSpPr>
          <p:sp>
            <p:nvSpPr>
              <p:cNvPr id="20" name="Шестикутник 19">
                <a:extLst>
                  <a:ext uri="{FF2B5EF4-FFF2-40B4-BE49-F238E27FC236}">
                    <a16:creationId xmlns:a16="http://schemas.microsoft.com/office/drawing/2014/main" id="{F7F86A11-BDA6-5B1C-DA19-4901E76EED9F}"/>
                  </a:ext>
                </a:extLst>
              </p:cNvPr>
              <p:cNvSpPr/>
              <p:nvPr/>
            </p:nvSpPr>
            <p:spPr>
              <a:xfrm rot="5400000">
                <a:off x="10627593" y="3278853"/>
                <a:ext cx="568115" cy="515936"/>
              </a:xfrm>
              <a:prstGeom prst="hexagon">
                <a:avLst/>
              </a:prstGeom>
              <a:solidFill>
                <a:srgbClr val="7030A0"/>
              </a:solidFill>
              <a:ln cap="rnd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 dirty="0"/>
              </a:p>
            </p:txBody>
          </p:sp>
          <p:sp>
            <p:nvSpPr>
              <p:cNvPr id="21" name="Прямокутник 20">
                <a:extLst>
                  <a:ext uri="{FF2B5EF4-FFF2-40B4-BE49-F238E27FC236}">
                    <a16:creationId xmlns:a16="http://schemas.microsoft.com/office/drawing/2014/main" id="{3C77DF80-A91D-7AEC-3620-EFCB6A8ABBCD}"/>
                  </a:ext>
                </a:extLst>
              </p:cNvPr>
              <p:cNvSpPr/>
              <p:nvPr/>
            </p:nvSpPr>
            <p:spPr>
              <a:xfrm rot="18900000">
                <a:off x="10817189" y="3442361"/>
                <a:ext cx="188919" cy="1889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2" name="Рівнобедрений трикутник 21">
                <a:extLst>
                  <a:ext uri="{FF2B5EF4-FFF2-40B4-BE49-F238E27FC236}">
                    <a16:creationId xmlns:a16="http://schemas.microsoft.com/office/drawing/2014/main" id="{1C893269-80FC-F06D-30C8-4060F990D56A}"/>
                  </a:ext>
                </a:extLst>
              </p:cNvPr>
              <p:cNvSpPr/>
              <p:nvPr/>
            </p:nvSpPr>
            <p:spPr>
              <a:xfrm rot="10800000">
                <a:off x="10837015" y="3536821"/>
                <a:ext cx="149269" cy="80425"/>
              </a:xfrm>
              <a:prstGeom prst="triangl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B8F9F9-3C0C-378E-F127-9347044249C7}"/>
                </a:ext>
              </a:extLst>
            </p:cNvPr>
            <p:cNvSpPr txBox="1"/>
            <p:nvPr/>
          </p:nvSpPr>
          <p:spPr>
            <a:xfrm>
              <a:off x="10417766" y="3803995"/>
              <a:ext cx="811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7030A0"/>
                  </a:solidFill>
                  <a:latin typeface="Artifakt Element Black" panose="020B0A03050000020004" pitchFamily="34" charset="-52"/>
                  <a:ea typeface="Artifakt Element Black" panose="020B0A03050000020004" pitchFamily="34" charset="-52"/>
                </a:rPr>
                <a:t>DmDEV</a:t>
              </a:r>
              <a:endParaRPr lang="uk-UA" sz="1400" dirty="0">
                <a:solidFill>
                  <a:srgbClr val="7030A0"/>
                </a:solidFill>
                <a:latin typeface="Artifakt Element Black" panose="020B0A03050000020004" pitchFamily="34" charset="-52"/>
                <a:ea typeface="Artifakt Element Black" panose="020B0A03050000020004" pitchFamily="34" charset="-52"/>
              </a:endParaRPr>
            </a:p>
          </p:txBody>
        </p:sp>
      </p:grpSp>
      <p:grpSp>
        <p:nvGrpSpPr>
          <p:cNvPr id="9" name="Групувати 8">
            <a:extLst>
              <a:ext uri="{FF2B5EF4-FFF2-40B4-BE49-F238E27FC236}">
                <a16:creationId xmlns:a16="http://schemas.microsoft.com/office/drawing/2014/main" id="{4D852059-0A71-7E3F-2661-90D2741BE6FF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0" name="Шестикутник 9">
              <a:extLst>
                <a:ext uri="{FF2B5EF4-FFF2-40B4-BE49-F238E27FC236}">
                  <a16:creationId xmlns:a16="http://schemas.microsoft.com/office/drawing/2014/main" id="{B70369B6-898A-AE40-2675-EA59EBDAC551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1" name="Прямокутник 10">
              <a:extLst>
                <a:ext uri="{FF2B5EF4-FFF2-40B4-BE49-F238E27FC236}">
                  <a16:creationId xmlns:a16="http://schemas.microsoft.com/office/drawing/2014/main" id="{4A037A62-82E1-281A-9434-DC323644E6E3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3" name="Рівнобедрений трикутник 12">
              <a:extLst>
                <a:ext uri="{FF2B5EF4-FFF2-40B4-BE49-F238E27FC236}">
                  <a16:creationId xmlns:a16="http://schemas.microsoft.com/office/drawing/2014/main" id="{384ECF09-F645-6CAD-6533-AFC629A974BC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CA3CCE-4868-F733-19F8-3B27BCAAD11C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57F27C6-61B1-95AB-8859-F03851163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3035" y="2413337"/>
            <a:ext cx="854592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6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Ďakujeme</a:t>
            </a:r>
            <a:r>
              <a:rPr kumimoji="0" lang="uk-UA" altLang="uk-UA" sz="6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6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za</a:t>
            </a:r>
            <a:r>
              <a:rPr kumimoji="0" lang="uk-UA" altLang="uk-UA" sz="6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uk-UA" altLang="uk-UA" sz="6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pozornosť</a:t>
            </a:r>
            <a:r>
              <a:rPr kumimoji="0" lang="uk-UA" altLang="uk-UA" sz="6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!</a:t>
            </a:r>
          </a:p>
        </p:txBody>
      </p:sp>
      <p:grpSp>
        <p:nvGrpSpPr>
          <p:cNvPr id="13" name="Групувати 12">
            <a:extLst>
              <a:ext uri="{FF2B5EF4-FFF2-40B4-BE49-F238E27FC236}">
                <a16:creationId xmlns:a16="http://schemas.microsoft.com/office/drawing/2014/main" id="{1E44C52E-64AA-8111-ACB2-60C16B5A9046}"/>
              </a:ext>
            </a:extLst>
          </p:cNvPr>
          <p:cNvGrpSpPr/>
          <p:nvPr/>
        </p:nvGrpSpPr>
        <p:grpSpPr>
          <a:xfrm>
            <a:off x="10950972" y="192372"/>
            <a:ext cx="1120820" cy="920564"/>
            <a:chOff x="10490967" y="246382"/>
            <a:chExt cx="1120820" cy="920564"/>
          </a:xfrm>
        </p:grpSpPr>
        <p:sp>
          <p:nvSpPr>
            <p:cNvPr id="14" name="Шестикутник 13">
              <a:extLst>
                <a:ext uri="{FF2B5EF4-FFF2-40B4-BE49-F238E27FC236}">
                  <a16:creationId xmlns:a16="http://schemas.microsoft.com/office/drawing/2014/main" id="{A90C1641-8EE0-14FD-FFA5-87F578381808}"/>
                </a:ext>
              </a:extLst>
            </p:cNvPr>
            <p:cNvSpPr/>
            <p:nvPr/>
          </p:nvSpPr>
          <p:spPr>
            <a:xfrm rot="5400000">
              <a:off x="10757356" y="272472"/>
              <a:ext cx="568115" cy="515936"/>
            </a:xfrm>
            <a:prstGeom prst="hexagon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0BDA85F4-5CF8-E545-32B5-964FF9C8A680}"/>
                </a:ext>
              </a:extLst>
            </p:cNvPr>
            <p:cNvSpPr/>
            <p:nvPr/>
          </p:nvSpPr>
          <p:spPr>
            <a:xfrm rot="18900000">
              <a:off x="10946952" y="435980"/>
              <a:ext cx="188919" cy="18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6" name="Рівнобедрений трикутник 15">
              <a:extLst>
                <a:ext uri="{FF2B5EF4-FFF2-40B4-BE49-F238E27FC236}">
                  <a16:creationId xmlns:a16="http://schemas.microsoft.com/office/drawing/2014/main" id="{1E890235-0B26-2F49-820B-F8B58FF448AA}"/>
                </a:ext>
              </a:extLst>
            </p:cNvPr>
            <p:cNvSpPr/>
            <p:nvPr/>
          </p:nvSpPr>
          <p:spPr>
            <a:xfrm rot="10800000">
              <a:off x="10966778" y="530440"/>
              <a:ext cx="149269" cy="80425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09CAC8-D9DB-5F5D-4922-03DB0B38A71F}"/>
                </a:ext>
              </a:extLst>
            </p:cNvPr>
            <p:cNvSpPr txBox="1"/>
            <p:nvPr/>
          </p:nvSpPr>
          <p:spPr>
            <a:xfrm>
              <a:off x="10490967" y="79761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7030A0"/>
                  </a:solidFill>
                  <a:latin typeface="Arial Black" panose="020B0A04020102020204" pitchFamily="34" charset="0"/>
                  <a:ea typeface="Artifakt Element Black" panose="020B0A03050000020004" pitchFamily="34" charset="-52"/>
                </a:rPr>
                <a:t>DmDEV</a:t>
              </a:r>
              <a:endParaRPr lang="uk-UA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2522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447</Words>
  <Application>Microsoft Office PowerPoint</Application>
  <PresentationFormat>Širokouhlá</PresentationFormat>
  <Paragraphs>77</Paragraphs>
  <Slides>17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Artifakt Element Black</vt:lpstr>
      <vt:lpstr>Bahnschrift</vt:lpstr>
      <vt:lpstr>Calibri</vt:lpstr>
      <vt:lpstr>Calibri Light</vt:lpstr>
      <vt:lpstr>Тема Office</vt:lpstr>
      <vt:lpstr>Projekt tímu  DMDEV</vt:lpstr>
      <vt:lpstr>Všeobecné informácie</vt:lpstr>
      <vt:lpstr>Cieľ projektu</vt:lpstr>
      <vt:lpstr>Cieľová skupina</vt:lpstr>
      <vt:lpstr>Podciele</vt:lpstr>
      <vt:lpstr>Prínosy nášho projektu</vt:lpstr>
      <vt:lpstr>Konkurencia nášho projektu</vt:lpstr>
      <vt:lpstr>Technická uskutočniteľnosť</vt:lpstr>
      <vt:lpstr>Ekonomická uskutočniteľnosť</vt:lpstr>
      <vt:lpstr>Prezentácia programu PowerPoint</vt:lpstr>
      <vt:lpstr>Organizačná uskutočniteľnosť</vt:lpstr>
      <vt:lpstr>Realizačný tím</vt:lpstr>
      <vt:lpstr>Štruktúra projektu</vt:lpstr>
      <vt:lpstr>MindMap </vt:lpstr>
      <vt:lpstr>Riziká a ich minimalizácia</vt:lpstr>
      <vt:lpstr>Web-stranka</vt:lpstr>
      <vt:lpstr>Ďakujeme za pozornosť!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Maksis S</dc:creator>
  <cp:lastModifiedBy>Dmytro Sydorenko</cp:lastModifiedBy>
  <cp:revision>51</cp:revision>
  <dcterms:created xsi:type="dcterms:W3CDTF">2025-09-28T09:02:11Z</dcterms:created>
  <dcterms:modified xsi:type="dcterms:W3CDTF">2025-10-19T21:08:36Z</dcterms:modified>
</cp:coreProperties>
</file>