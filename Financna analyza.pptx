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56" r:id="rId4"/>
    <p:sldId id="264" r:id="rId5"/>
    <p:sldId id="261" r:id="rId6"/>
    <p:sldId id="262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1B59"/>
    <a:srgbClr val="7030A0"/>
    <a:srgbClr val="A278C1"/>
    <a:srgbClr val="FFFFFF"/>
    <a:srgbClr val="D4C0E2"/>
    <a:srgbClr val="996FB8"/>
    <a:srgbClr val="E6E6E6"/>
    <a:srgbClr val="7730D5"/>
    <a:srgbClr val="EC11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Стиль із теми 1 –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Стиль із теми 1 –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Без стилю та сі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із теми 1 –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93426" autoAdjust="0"/>
  </p:normalViewPr>
  <p:slideViewPr>
    <p:cSldViewPr snapToGrid="0">
      <p:cViewPr varScale="1">
        <p:scale>
          <a:sx n="76" d="100"/>
          <a:sy n="76" d="100"/>
        </p:scale>
        <p:origin x="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DDD40-5591-418D-B585-D97777CB3AE0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93F9D-464C-49BF-9196-2F8E2F1C4B9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35462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6C1C-440C-124F-6560-D642CF8F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16541526-E53D-F1CE-C2C2-D04DACFFB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A49E9643-D91B-906D-7972-BC02CB010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CAD3878-696D-17C2-DC7F-D10A8FF4D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420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A02D4-41A5-7D4F-5BD5-D8C746B6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D595A444-4454-2598-4CA1-5D5633951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E9F3161C-1457-7702-CA60-4BE437CBE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5478C31-5781-49CF-A267-03B269482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49792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4881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176B-4A56-0B94-03D6-DB7021EC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FA115208-003A-FDF5-75A5-FAA370CBE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13F9EBA8-D0B0-807B-4795-A3ECE8322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2AD5769A-B7C1-DEB7-9340-EFE649317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8949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4358F-A181-91B8-2122-04D660239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3F7CFA96-63DB-97A4-2302-3FC343DB9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7C8715F1-E69D-4FC6-896B-BA63BD2EE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A7BBB04-2621-029F-035F-301C31F35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7065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296C2-6E58-854C-FACF-3501E625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8C664252-EBE9-942F-200E-5EBC13A26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60288E8B-FF88-2D07-F416-16D7513D3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CC06EC3-D03B-F6DB-D9D6-D1BE85526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8966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2AAB8-3647-C062-4113-7DE9927A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6CBDA7FF-9022-FDB3-99AA-EC760B740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DF7A4169-E17F-C48E-0850-2688BC05F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7EB345E-03E8-A972-94E2-EE9827166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9506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2245D-B861-26CE-9E4D-B9551212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D2C78969-AD02-0499-E572-F397ED5D3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3733E1A7-B66E-09D2-7A65-BBB0C4378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7CF4D12-17D4-19E3-013C-BE5FC0F9D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77744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EE64-E4E9-BB50-EEE5-01E36E76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C6F2A924-07F3-E230-C75C-96490FBC9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F83A4C88-5F77-093E-5B52-9CE669146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39D5DB1-5639-5C2A-2E6B-5D5FD14C3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69033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EE33F-1A5F-F066-D4F9-5B2F0B5FA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252C91F-D589-D796-C842-9008FDF50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01312CF-0A0E-C49E-4CFF-A743B859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954B744-2648-D502-2F00-7A531CB2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3E8F48E-A3CB-6B41-FF8E-DF2CABD0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9661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3C7E5-0B15-B356-ADAE-EDADCEAD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2A8D4B0-7B6F-464D-24ED-141CD1D70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DCABDAA-151C-E27B-F605-6C984F8E2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40B6B56-7A76-B041-FE76-4AEDC5A9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24F45BB-7AB1-39FE-60C7-62C78C13E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179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14D7C-CD12-8AEB-6E57-303FED918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9631258-4D0D-19F3-BA80-3892F468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FD8DC6E-44FD-77F7-13F9-1D554D23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0868B43-B5D2-8BE0-F246-248A2D87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83DECE6-42A7-B3F8-D111-13667C4E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067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993E3-C9E8-A8BA-FBD1-EEA9F6FA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97D271B-3DE9-C27D-B42B-3F0EA6A54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99BF747-9F15-7E7C-9ADC-30C3317E7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D6C952D-1A8D-3E0B-621B-2F7079712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BA80FE2-F5F9-EE1C-56B2-DE9DE6A0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00A7AEB-EB01-5284-D52D-D947514A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000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401C4-50C4-9507-B42A-2A415D860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ADC1ECD-0ED9-0109-4DF2-857E8F57D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69FD2C3-986C-33AA-0177-64E85DE53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4CCD935-23AB-5FC8-A0C6-AFEC69291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B0ABD146-A505-4EBC-AB03-C0D478DDB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273ABCF-F36D-447D-C1E7-5BDEDE0E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C9AD0699-20BE-A2C6-25F2-A032E2F6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EF31D92-03EF-5040-613A-4102FE76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389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82C02-20EB-D3DF-26E9-5B0C92CB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D6556EB-65E4-F675-095E-17E74BEB3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059280C8-246A-EB1D-D673-8B1B2D42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1734F18-0500-B833-5378-CDD2E5A7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746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B6D63A5-BEAA-9347-81C6-9117CD98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982E7E4-DA81-CEAC-C0BF-739CB575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04BD942-E071-3B0C-AA1D-700057CC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052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BF6D3-797A-AAD9-28F7-7EB3487D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152700-1297-7E1F-140A-1B895B7F7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9B4D952-6D79-E627-E6D0-E81B0107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C8CE863-183B-965B-BE86-D79DFA769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4C3D2D5-E90D-2227-05CA-30AE5C7A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60197DE-D2F8-66C7-7B92-E88F16FA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743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9F215-075E-6091-304C-4C1DE542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CC80241E-8589-58AD-C024-6D8DE9865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787C17B-7CCE-B4BA-2544-656F3F591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E702358-6E78-E688-C381-70C642E1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5160ADB-779A-0E64-E5FF-389F2D04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EB2B316-913A-998F-CC90-1EACAA0B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941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AA4FC-F116-9A0A-A58C-CA2F04CC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58687D8-91F8-89D8-DBB3-0D419E993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38C18B5-DAF1-147E-4E38-81143083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3506CEA-7019-8952-0847-5F741C0B0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16051B6-9642-BC23-11D4-DF457D01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034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34A6DC4-6D34-8C62-649D-21326177F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BF68B88-62B9-5C09-D236-347422FE5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EA7610D-DB84-2FF2-1353-B4E5435D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EDF82FC-FC6F-B694-3E61-01B748D6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3065032-5370-51EF-2313-24B19F4C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860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7738AE3-AE55-748F-3229-B660B019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4CC41C6-5A81-3116-5293-7613D33DC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B6FE618-8C69-4C4B-D2A6-D6157A077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4C55-D749-4BEA-A36D-910077BF0DA2}" type="datetimeFigureOut">
              <a:rPr lang="uk-UA" smtClean="0"/>
              <a:t>27.10.2025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B2808D4-22F8-EE27-362D-8FDF5DCD9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C451922-3A50-5B6E-DC87-41BCD89D6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822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35E0E-0859-AFC5-67EA-3ECF52B5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7A2CB49D-D05C-D2CD-5E9D-E4BB28FF642E}"/>
              </a:ext>
            </a:extLst>
          </p:cNvPr>
          <p:cNvSpPr/>
          <p:nvPr/>
        </p:nvSpPr>
        <p:spPr>
          <a:xfrm>
            <a:off x="615948" y="-5813"/>
            <a:ext cx="14024558" cy="6960745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069D1FF3-7B38-5556-FD16-326452CE6F94}"/>
              </a:ext>
            </a:extLst>
          </p:cNvPr>
          <p:cNvSpPr/>
          <p:nvPr/>
        </p:nvSpPr>
        <p:spPr>
          <a:xfrm>
            <a:off x="1315026" y="-5813"/>
            <a:ext cx="14024558" cy="696074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E8006314-8B9A-D5B6-46EB-3B1F7502B4B5}"/>
              </a:ext>
            </a:extLst>
          </p:cNvPr>
          <p:cNvSpPr/>
          <p:nvPr/>
        </p:nvSpPr>
        <p:spPr>
          <a:xfrm>
            <a:off x="2014104" y="2121"/>
            <a:ext cx="14024558" cy="69030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Прямокутник 11">
            <a:extLst>
              <a:ext uri="{FF2B5EF4-FFF2-40B4-BE49-F238E27FC236}">
                <a16:creationId xmlns:a16="http://schemas.microsoft.com/office/drawing/2014/main" id="{8C4B6D0C-4211-6AF9-79DD-1AA6AFFBE42A}"/>
              </a:ext>
            </a:extLst>
          </p:cNvPr>
          <p:cNvSpPr/>
          <p:nvPr/>
        </p:nvSpPr>
        <p:spPr>
          <a:xfrm>
            <a:off x="2723815" y="2121"/>
            <a:ext cx="14024558" cy="6903094"/>
          </a:xfrm>
          <a:prstGeom prst="rect">
            <a:avLst/>
          </a:prstGeom>
          <a:solidFill>
            <a:srgbClr val="3E1B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D2FE52F-9428-2975-C676-5EA598CA3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3958" y="29664"/>
            <a:ext cx="4572000" cy="2387600"/>
          </a:xfrm>
        </p:spPr>
        <p:txBody>
          <a:bodyPr/>
          <a:lstStyle/>
          <a:p>
            <a:pPr algn="l"/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Projekt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tímu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b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DMDEV</a:t>
            </a:r>
            <a:endParaRPr lang="uk-UA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0" name="Пряма сполучна лінія 39">
            <a:extLst>
              <a:ext uri="{FF2B5EF4-FFF2-40B4-BE49-F238E27FC236}">
                <a16:creationId xmlns:a16="http://schemas.microsoft.com/office/drawing/2014/main" id="{5658E67D-44BB-D786-B985-561B99251AD3}"/>
              </a:ext>
            </a:extLst>
          </p:cNvPr>
          <p:cNvCxnSpPr>
            <a:cxnSpLocks/>
          </p:cNvCxnSpPr>
          <p:nvPr/>
        </p:nvCxnSpPr>
        <p:spPr>
          <a:xfrm>
            <a:off x="3003922" y="2417264"/>
            <a:ext cx="419003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5">
            <a:extLst>
              <a:ext uri="{FF2B5EF4-FFF2-40B4-BE49-F238E27FC236}">
                <a16:creationId xmlns:a16="http://schemas.microsoft.com/office/drawing/2014/main" id="{C6298EF2-5C68-CC6D-49AF-7D391463C72B}"/>
              </a:ext>
            </a:extLst>
          </p:cNvPr>
          <p:cNvSpPr txBox="1"/>
          <p:nvPr/>
        </p:nvSpPr>
        <p:spPr>
          <a:xfrm>
            <a:off x="2883958" y="252802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Slovak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Quiz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6777D412-5E1D-AF91-2D3F-516D8D1A9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833" y="350067"/>
            <a:ext cx="4190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Analýza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za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prvý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rok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realizácie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projektu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Bahnschrift" panose="020B0502040204020203" pitchFamily="34" charset="0"/>
            </a:endParaRPr>
          </a:p>
        </p:txBody>
      </p:sp>
      <p:grpSp>
        <p:nvGrpSpPr>
          <p:cNvPr id="19" name="Групувати 12">
            <a:extLst>
              <a:ext uri="{FF2B5EF4-FFF2-40B4-BE49-F238E27FC236}">
                <a16:creationId xmlns:a16="http://schemas.microsoft.com/office/drawing/2014/main" id="{751EDD4C-6773-5EE7-929C-06A2E38FBB47}"/>
              </a:ext>
            </a:extLst>
          </p:cNvPr>
          <p:cNvGrpSpPr/>
          <p:nvPr/>
        </p:nvGrpSpPr>
        <p:grpSpPr>
          <a:xfrm>
            <a:off x="10909136" y="259117"/>
            <a:ext cx="1120820" cy="920564"/>
            <a:chOff x="10490967" y="246382"/>
            <a:chExt cx="1120820" cy="920564"/>
          </a:xfrm>
        </p:grpSpPr>
        <p:sp>
          <p:nvSpPr>
            <p:cNvPr id="20" name="Шестикутник 13">
              <a:extLst>
                <a:ext uri="{FF2B5EF4-FFF2-40B4-BE49-F238E27FC236}">
                  <a16:creationId xmlns:a16="http://schemas.microsoft.com/office/drawing/2014/main" id="{4BC740DF-ABF7-49E8-9D2D-7CBBCF8D4FBD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>
                <a:solidFill>
                  <a:srgbClr val="D4C0E2"/>
                </a:solidFill>
              </a:endParaRPr>
            </a:p>
          </p:txBody>
        </p:sp>
        <p:sp>
          <p:nvSpPr>
            <p:cNvPr id="21" name="Прямокутник 14">
              <a:extLst>
                <a:ext uri="{FF2B5EF4-FFF2-40B4-BE49-F238E27FC236}">
                  <a16:creationId xmlns:a16="http://schemas.microsoft.com/office/drawing/2014/main" id="{82864353-389E-C937-A225-D231F6AB9B19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rgbClr val="D4C0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22" name="Рівнобедрений трикутник 15">
              <a:extLst>
                <a:ext uri="{FF2B5EF4-FFF2-40B4-BE49-F238E27FC236}">
                  <a16:creationId xmlns:a16="http://schemas.microsoft.com/office/drawing/2014/main" id="{624E588F-01B2-0DDD-5B15-426E94B8C772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23" name="TextBox 16">
              <a:extLst>
                <a:ext uri="{FF2B5EF4-FFF2-40B4-BE49-F238E27FC236}">
                  <a16:creationId xmlns:a16="http://schemas.microsoft.com/office/drawing/2014/main" id="{207BD1FB-EB05-C953-A908-26E5CFD4DC44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0349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F9A2C-C626-AC74-F469-D8A893D6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573CFC49-740C-4096-EC69-DE712ED6DDDC}"/>
              </a:ext>
            </a:extLst>
          </p:cNvPr>
          <p:cNvSpPr/>
          <p:nvPr/>
        </p:nvSpPr>
        <p:spPr>
          <a:xfrm>
            <a:off x="615948" y="-5813"/>
            <a:ext cx="14024558" cy="6960745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C6E40BE8-CD90-AE38-F973-B3983E6A7EFF}"/>
              </a:ext>
            </a:extLst>
          </p:cNvPr>
          <p:cNvSpPr/>
          <p:nvPr/>
        </p:nvSpPr>
        <p:spPr>
          <a:xfrm>
            <a:off x="1315026" y="-5813"/>
            <a:ext cx="14024558" cy="696074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FE538EFF-972F-2C9D-36F6-7D6C34D8B425}"/>
              </a:ext>
            </a:extLst>
          </p:cNvPr>
          <p:cNvSpPr/>
          <p:nvPr/>
        </p:nvSpPr>
        <p:spPr>
          <a:xfrm>
            <a:off x="2014104" y="2121"/>
            <a:ext cx="14024558" cy="69030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Прямокутник 11">
            <a:extLst>
              <a:ext uri="{FF2B5EF4-FFF2-40B4-BE49-F238E27FC236}">
                <a16:creationId xmlns:a16="http://schemas.microsoft.com/office/drawing/2014/main" id="{D953FB47-590F-9E15-EAA0-0D4B63EA844B}"/>
              </a:ext>
            </a:extLst>
          </p:cNvPr>
          <p:cNvSpPr/>
          <p:nvPr/>
        </p:nvSpPr>
        <p:spPr>
          <a:xfrm>
            <a:off x="12076250" y="2121"/>
            <a:ext cx="4545740" cy="6903094"/>
          </a:xfrm>
          <a:prstGeom prst="rect">
            <a:avLst/>
          </a:prstGeom>
          <a:solidFill>
            <a:srgbClr val="3E1B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080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0BCAAFFF-BDA1-53D9-5946-C43BBCA169F9}"/>
              </a:ext>
            </a:extLst>
          </p:cNvPr>
          <p:cNvSpPr/>
          <p:nvPr/>
        </p:nvSpPr>
        <p:spPr>
          <a:xfrm>
            <a:off x="615948" y="-5813"/>
            <a:ext cx="14024558" cy="6960745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7D4D7302-5BCE-41A1-0267-5BD5F27902F1}"/>
              </a:ext>
            </a:extLst>
          </p:cNvPr>
          <p:cNvSpPr/>
          <p:nvPr/>
        </p:nvSpPr>
        <p:spPr>
          <a:xfrm>
            <a:off x="1315026" y="-5813"/>
            <a:ext cx="14024558" cy="696074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2849A26A-937D-3FF5-C8F4-F2D04837F1C4}"/>
              </a:ext>
            </a:extLst>
          </p:cNvPr>
          <p:cNvSpPr/>
          <p:nvPr/>
        </p:nvSpPr>
        <p:spPr>
          <a:xfrm>
            <a:off x="2014104" y="2121"/>
            <a:ext cx="14024558" cy="69030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8" name="Групувати 4">
            <a:extLst>
              <a:ext uri="{FF2B5EF4-FFF2-40B4-BE49-F238E27FC236}">
                <a16:creationId xmlns:a16="http://schemas.microsoft.com/office/drawing/2014/main" id="{5A8BA7AA-2D85-3016-ED61-184CD92BE092}"/>
              </a:ext>
            </a:extLst>
          </p:cNvPr>
          <p:cNvGrpSpPr/>
          <p:nvPr/>
        </p:nvGrpSpPr>
        <p:grpSpPr>
          <a:xfrm>
            <a:off x="10990155" y="264330"/>
            <a:ext cx="1120820" cy="920564"/>
            <a:chOff x="10490967" y="246382"/>
            <a:chExt cx="1120820" cy="920564"/>
          </a:xfrm>
        </p:grpSpPr>
        <p:sp>
          <p:nvSpPr>
            <p:cNvPr id="19" name="Шестикутник 8">
              <a:extLst>
                <a:ext uri="{FF2B5EF4-FFF2-40B4-BE49-F238E27FC236}">
                  <a16:creationId xmlns:a16="http://schemas.microsoft.com/office/drawing/2014/main" id="{171E6668-8068-646C-2661-1A6FF94922EE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A278C1"/>
            </a:solidFill>
            <a:ln cap="rnd">
              <a:solidFill>
                <a:srgbClr val="A278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solidFill>
                  <a:srgbClr val="D4C0E2"/>
                </a:solidFill>
              </a:endParaRPr>
            </a:p>
          </p:txBody>
        </p:sp>
        <p:sp>
          <p:nvSpPr>
            <p:cNvPr id="20" name="Прямокутник 9">
              <a:extLst>
                <a:ext uri="{FF2B5EF4-FFF2-40B4-BE49-F238E27FC236}">
                  <a16:creationId xmlns:a16="http://schemas.microsoft.com/office/drawing/2014/main" id="{5D6E6E31-33C6-3F25-DD67-2BD7AB15DA3D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21" name="Рівнобедрений трикутник 10">
              <a:extLst>
                <a:ext uri="{FF2B5EF4-FFF2-40B4-BE49-F238E27FC236}">
                  <a16:creationId xmlns:a16="http://schemas.microsoft.com/office/drawing/2014/main" id="{8841E539-DFDD-42A6-5AEF-A8634BC68044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A278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99C300DB-EAA3-9C2C-3247-E2B035772937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A278C1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A278C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015E957D-C0AF-2C85-3652-BFF54EC8BACF}"/>
              </a:ext>
            </a:extLst>
          </p:cNvPr>
          <p:cNvSpPr txBox="1"/>
          <p:nvPr/>
        </p:nvSpPr>
        <p:spPr>
          <a:xfrm>
            <a:off x="2143947" y="456244"/>
            <a:ext cx="64415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A278C1"/>
                </a:solidFill>
                <a:latin typeface="Bahnschrift" panose="020B0502040204020203" pitchFamily="34" charset="0"/>
              </a:rPr>
              <a:t> </a:t>
            </a:r>
            <a:r>
              <a:rPr lang="en-US" sz="4400" dirty="0" err="1">
                <a:solidFill>
                  <a:srgbClr val="A278C1"/>
                </a:solidFill>
                <a:latin typeface="Bahnschrift" panose="020B0502040204020203" pitchFamily="34" charset="0"/>
              </a:rPr>
              <a:t>Jednorazové</a:t>
            </a:r>
            <a:r>
              <a:rPr lang="en-US" sz="4400" dirty="0">
                <a:solidFill>
                  <a:srgbClr val="A278C1"/>
                </a:solidFill>
                <a:latin typeface="Bahnschrift" panose="020B0502040204020203" pitchFamily="34" charset="0"/>
              </a:rPr>
              <a:t> n</a:t>
            </a:r>
            <a:r>
              <a:rPr lang="uk-UA" sz="4400" dirty="0">
                <a:solidFill>
                  <a:srgbClr val="A278C1"/>
                </a:solidFill>
                <a:latin typeface="Bahnschrift" panose="020B0502040204020203" pitchFamily="34" charset="0"/>
              </a:rPr>
              <a:t>áklady</a:t>
            </a:r>
          </a:p>
        </p:txBody>
      </p:sp>
      <p:sp>
        <p:nvSpPr>
          <p:cNvPr id="24" name="Прямокутник 24">
            <a:extLst>
              <a:ext uri="{FF2B5EF4-FFF2-40B4-BE49-F238E27FC236}">
                <a16:creationId xmlns:a16="http://schemas.microsoft.com/office/drawing/2014/main" id="{5F916A10-08AD-1213-7841-9C2CCEDDEC25}"/>
              </a:ext>
            </a:extLst>
          </p:cNvPr>
          <p:cNvSpPr/>
          <p:nvPr/>
        </p:nvSpPr>
        <p:spPr>
          <a:xfrm>
            <a:off x="2772730" y="2432491"/>
            <a:ext cx="2036291" cy="231493"/>
          </a:xfrm>
          <a:prstGeom prst="rect">
            <a:avLst/>
          </a:prstGeom>
          <a:solidFill>
            <a:srgbClr val="A278C1"/>
          </a:solidFill>
          <a:ln>
            <a:solidFill>
              <a:srgbClr val="A278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Прямокутник 25">
            <a:extLst>
              <a:ext uri="{FF2B5EF4-FFF2-40B4-BE49-F238E27FC236}">
                <a16:creationId xmlns:a16="http://schemas.microsoft.com/office/drawing/2014/main" id="{02F4CF1C-E267-5E51-C51D-66C38871D7E9}"/>
              </a:ext>
            </a:extLst>
          </p:cNvPr>
          <p:cNvSpPr/>
          <p:nvPr/>
        </p:nvSpPr>
        <p:spPr>
          <a:xfrm>
            <a:off x="2772731" y="2989854"/>
            <a:ext cx="510058" cy="231493"/>
          </a:xfrm>
          <a:prstGeom prst="rect">
            <a:avLst/>
          </a:prstGeom>
          <a:solidFill>
            <a:srgbClr val="A278C1"/>
          </a:solidFill>
          <a:ln>
            <a:solidFill>
              <a:srgbClr val="A278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Прямокутник 26">
            <a:extLst>
              <a:ext uri="{FF2B5EF4-FFF2-40B4-BE49-F238E27FC236}">
                <a16:creationId xmlns:a16="http://schemas.microsoft.com/office/drawing/2014/main" id="{C2745AA3-A036-DD55-1E64-AA96ECC688D7}"/>
              </a:ext>
            </a:extLst>
          </p:cNvPr>
          <p:cNvSpPr/>
          <p:nvPr/>
        </p:nvSpPr>
        <p:spPr>
          <a:xfrm>
            <a:off x="2772731" y="4104580"/>
            <a:ext cx="686884" cy="231493"/>
          </a:xfrm>
          <a:prstGeom prst="rect">
            <a:avLst/>
          </a:prstGeom>
          <a:solidFill>
            <a:srgbClr val="A278C1"/>
          </a:solidFill>
          <a:ln>
            <a:solidFill>
              <a:srgbClr val="A278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7" name="Прямокутник 27">
            <a:extLst>
              <a:ext uri="{FF2B5EF4-FFF2-40B4-BE49-F238E27FC236}">
                <a16:creationId xmlns:a16="http://schemas.microsoft.com/office/drawing/2014/main" id="{030233F2-BA1B-0DB6-9158-E46C961C6BB2}"/>
              </a:ext>
            </a:extLst>
          </p:cNvPr>
          <p:cNvSpPr/>
          <p:nvPr/>
        </p:nvSpPr>
        <p:spPr>
          <a:xfrm>
            <a:off x="2772730" y="3547217"/>
            <a:ext cx="421952" cy="231493"/>
          </a:xfrm>
          <a:prstGeom prst="rect">
            <a:avLst/>
          </a:prstGeom>
          <a:solidFill>
            <a:srgbClr val="A278C1"/>
          </a:solidFill>
          <a:ln>
            <a:solidFill>
              <a:srgbClr val="A278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rgbClr val="D4C0E2"/>
              </a:solidFill>
            </a:endParaRPr>
          </a:p>
        </p:txBody>
      </p:sp>
      <p:cxnSp>
        <p:nvCxnSpPr>
          <p:cNvPr id="28" name="Пряма сполучна лінія 28">
            <a:extLst>
              <a:ext uri="{FF2B5EF4-FFF2-40B4-BE49-F238E27FC236}">
                <a16:creationId xmlns:a16="http://schemas.microsoft.com/office/drawing/2014/main" id="{AAEE67E2-0483-2999-CA05-FB0C54F789A1}"/>
              </a:ext>
            </a:extLst>
          </p:cNvPr>
          <p:cNvCxnSpPr>
            <a:cxnSpLocks/>
          </p:cNvCxnSpPr>
          <p:nvPr/>
        </p:nvCxnSpPr>
        <p:spPr>
          <a:xfrm>
            <a:off x="2760538" y="1929476"/>
            <a:ext cx="0" cy="2795288"/>
          </a:xfrm>
          <a:prstGeom prst="line">
            <a:avLst/>
          </a:prstGeom>
          <a:ln>
            <a:solidFill>
              <a:srgbClr val="D4C0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 сполучна лінія 29">
            <a:extLst>
              <a:ext uri="{FF2B5EF4-FFF2-40B4-BE49-F238E27FC236}">
                <a16:creationId xmlns:a16="http://schemas.microsoft.com/office/drawing/2014/main" id="{004F434D-E8D1-6090-8AF8-C3914430D434}"/>
              </a:ext>
            </a:extLst>
          </p:cNvPr>
          <p:cNvCxnSpPr>
            <a:cxnSpLocks/>
          </p:cNvCxnSpPr>
          <p:nvPr/>
        </p:nvCxnSpPr>
        <p:spPr>
          <a:xfrm>
            <a:off x="3893761" y="1929476"/>
            <a:ext cx="0" cy="2795288"/>
          </a:xfrm>
          <a:prstGeom prst="line">
            <a:avLst/>
          </a:prstGeom>
          <a:ln>
            <a:solidFill>
              <a:srgbClr val="D4C0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 сполучна лінія 30">
            <a:extLst>
              <a:ext uri="{FF2B5EF4-FFF2-40B4-BE49-F238E27FC236}">
                <a16:creationId xmlns:a16="http://schemas.microsoft.com/office/drawing/2014/main" id="{B35BCAA1-5A5B-4C5E-A00C-126669AC2CD6}"/>
              </a:ext>
            </a:extLst>
          </p:cNvPr>
          <p:cNvCxnSpPr>
            <a:cxnSpLocks/>
          </p:cNvCxnSpPr>
          <p:nvPr/>
        </p:nvCxnSpPr>
        <p:spPr>
          <a:xfrm>
            <a:off x="5026984" y="1929476"/>
            <a:ext cx="0" cy="2795288"/>
          </a:xfrm>
          <a:prstGeom prst="line">
            <a:avLst/>
          </a:prstGeom>
          <a:ln>
            <a:solidFill>
              <a:srgbClr val="D4C0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1">
            <a:extLst>
              <a:ext uri="{FF2B5EF4-FFF2-40B4-BE49-F238E27FC236}">
                <a16:creationId xmlns:a16="http://schemas.microsoft.com/office/drawing/2014/main" id="{BE6D94EE-AFEF-CC79-EC3C-9169AB479451}"/>
              </a:ext>
            </a:extLst>
          </p:cNvPr>
          <p:cNvSpPr txBox="1"/>
          <p:nvPr/>
        </p:nvSpPr>
        <p:spPr>
          <a:xfrm>
            <a:off x="3648834" y="4745996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A278C1"/>
                </a:solidFill>
                <a:latin typeface="Bahnschrift" panose="020B0502040204020203" pitchFamily="34" charset="0"/>
              </a:rPr>
              <a:t>250</a:t>
            </a:r>
            <a:endParaRPr lang="uk-UA" sz="1400" dirty="0">
              <a:solidFill>
                <a:srgbClr val="A278C1"/>
              </a:solidFill>
              <a:latin typeface="Bahnschrift" panose="020B0502040204020203" pitchFamily="34" charset="0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9800F725-A6E6-C04A-C6BF-AE0029AC8370}"/>
              </a:ext>
            </a:extLst>
          </p:cNvPr>
          <p:cNvSpPr txBox="1"/>
          <p:nvPr/>
        </p:nvSpPr>
        <p:spPr>
          <a:xfrm>
            <a:off x="2664809" y="474599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400" dirty="0">
                <a:solidFill>
                  <a:srgbClr val="A278C1"/>
                </a:solidFill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D549F50-AEA4-EA18-0F4C-695C3D7DF817}"/>
              </a:ext>
            </a:extLst>
          </p:cNvPr>
          <p:cNvSpPr txBox="1"/>
          <p:nvPr/>
        </p:nvSpPr>
        <p:spPr>
          <a:xfrm>
            <a:off x="4815243" y="4724764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A278C1"/>
                </a:solidFill>
                <a:latin typeface="Bahnschrift" panose="020B0502040204020203" pitchFamily="34" charset="0"/>
              </a:rPr>
              <a:t>500</a:t>
            </a:r>
            <a:endParaRPr lang="uk-UA" sz="1400" dirty="0">
              <a:solidFill>
                <a:srgbClr val="A278C1"/>
              </a:solidFill>
              <a:latin typeface="Bahnschrift" panose="020B0502040204020203" pitchFamily="34" charset="0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E77B333-29B5-7847-02BA-7701E1F02C97}"/>
              </a:ext>
            </a:extLst>
          </p:cNvPr>
          <p:cNvSpPr txBox="1"/>
          <p:nvPr/>
        </p:nvSpPr>
        <p:spPr>
          <a:xfrm>
            <a:off x="2357788" y="2356883"/>
            <a:ext cx="402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uk-UA" sz="1800" dirty="0">
                <a:solidFill>
                  <a:srgbClr val="A278C1"/>
                </a:solidFill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058366DF-2907-5F45-3E34-A9C0BA1DFD53}"/>
              </a:ext>
            </a:extLst>
          </p:cNvPr>
          <p:cNvSpPr txBox="1"/>
          <p:nvPr/>
        </p:nvSpPr>
        <p:spPr>
          <a:xfrm>
            <a:off x="2357788" y="2912425"/>
            <a:ext cx="402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uk-UA" dirty="0">
                <a:solidFill>
                  <a:srgbClr val="A278C1"/>
                </a:solidFill>
                <a:latin typeface="Bahnschrift" panose="020B0502040204020203" pitchFamily="34" charset="0"/>
              </a:rPr>
              <a:t>2</a:t>
            </a:r>
            <a:endParaRPr lang="uk-UA" sz="1800" dirty="0">
              <a:solidFill>
                <a:srgbClr val="A278C1"/>
              </a:solidFill>
              <a:latin typeface="Bahnschrift" panose="020B0502040204020203" pitchFamily="34" charset="0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B10EEBC7-2F44-F274-2BCA-B4197C373E91}"/>
              </a:ext>
            </a:extLst>
          </p:cNvPr>
          <p:cNvSpPr txBox="1"/>
          <p:nvPr/>
        </p:nvSpPr>
        <p:spPr>
          <a:xfrm>
            <a:off x="2357788" y="3467967"/>
            <a:ext cx="402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uk-UA" sz="1800" dirty="0">
                <a:solidFill>
                  <a:srgbClr val="A278C1"/>
                </a:solidFill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6C742946-DD91-3FF4-6F3B-A1D6DE5C5614}"/>
              </a:ext>
            </a:extLst>
          </p:cNvPr>
          <p:cNvSpPr txBox="1"/>
          <p:nvPr/>
        </p:nvSpPr>
        <p:spPr>
          <a:xfrm>
            <a:off x="2357788" y="4023509"/>
            <a:ext cx="402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uk-UA" sz="1800" dirty="0">
                <a:solidFill>
                  <a:srgbClr val="A278C1"/>
                </a:solidFill>
                <a:latin typeface="Bahnschrift" panose="020B0502040204020203" pitchFamily="34" charset="0"/>
              </a:rPr>
              <a:t>4</a:t>
            </a:r>
          </a:p>
        </p:txBody>
      </p:sp>
      <p:graphicFrame>
        <p:nvGraphicFramePr>
          <p:cNvPr id="38" name="Таблиця 44">
            <a:extLst>
              <a:ext uri="{FF2B5EF4-FFF2-40B4-BE49-F238E27FC236}">
                <a16:creationId xmlns:a16="http://schemas.microsoft.com/office/drawing/2014/main" id="{B9E6C99A-D3E8-F294-6A30-1E1229CAB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170726"/>
              </p:ext>
            </p:extLst>
          </p:nvPr>
        </p:nvGraphicFramePr>
        <p:xfrm>
          <a:off x="5277750" y="1936284"/>
          <a:ext cx="6615502" cy="2499360"/>
        </p:xfrm>
        <a:graphic>
          <a:graphicData uri="http://schemas.openxmlformats.org/drawingml/2006/table">
            <a:tbl>
              <a:tblPr/>
              <a:tblGrid>
                <a:gridCol w="960674">
                  <a:extLst>
                    <a:ext uri="{9D8B030D-6E8A-4147-A177-3AD203B41FA5}">
                      <a16:colId xmlns:a16="http://schemas.microsoft.com/office/drawing/2014/main" val="2653431320"/>
                    </a:ext>
                  </a:extLst>
                </a:gridCol>
                <a:gridCol w="4332563">
                  <a:extLst>
                    <a:ext uri="{9D8B030D-6E8A-4147-A177-3AD203B41FA5}">
                      <a16:colId xmlns:a16="http://schemas.microsoft.com/office/drawing/2014/main" val="156681546"/>
                    </a:ext>
                  </a:extLst>
                </a:gridCol>
                <a:gridCol w="1322265">
                  <a:extLst>
                    <a:ext uri="{9D8B030D-6E8A-4147-A177-3AD203B41FA5}">
                      <a16:colId xmlns:a16="http://schemas.microsoft.com/office/drawing/2014/main" val="1950003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Položka</a:t>
                      </a:r>
                      <a:endParaRPr lang="en-GB" sz="1600" dirty="0">
                        <a:solidFill>
                          <a:srgbClr val="A278C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Suma (€)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99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60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Vývoj</a:t>
                      </a:r>
                      <a:r>
                        <a:rPr lang="en-GB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 MVP (</a:t>
                      </a:r>
                      <a:r>
                        <a:rPr lang="en-GB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základná</a:t>
                      </a:r>
                      <a:r>
                        <a:rPr lang="en-GB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verzia</a:t>
                      </a:r>
                      <a:r>
                        <a:rPr lang="en-GB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webu</a:t>
                      </a:r>
                      <a:r>
                        <a:rPr lang="en-GB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) – frontend + 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  <a:r>
                        <a:rPr lang="en-US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0</a:t>
                      </a:r>
                      <a:r>
                        <a:rPr lang="uk-UA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710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60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UX/UI </a:t>
                      </a:r>
                      <a:r>
                        <a:rPr lang="en-GB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dizajn</a:t>
                      </a:r>
                      <a:r>
                        <a:rPr lang="en-GB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GB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testovanie</a:t>
                      </a:r>
                      <a:r>
                        <a:rPr lang="en-GB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rozhrania</a:t>
                      </a:r>
                      <a:endParaRPr lang="en-GB" sz="1600" dirty="0">
                        <a:solidFill>
                          <a:srgbClr val="A278C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899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60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Doména</a:t>
                      </a:r>
                      <a:r>
                        <a:rPr lang="en-US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, hosting a </a:t>
                      </a:r>
                      <a:r>
                        <a:rPr lang="en-US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databáza</a:t>
                      </a:r>
                      <a:r>
                        <a:rPr lang="en-US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 (1 </a:t>
                      </a:r>
                      <a:r>
                        <a:rPr lang="en-US" sz="1600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rok</a:t>
                      </a:r>
                      <a:r>
                        <a:rPr lang="en-US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257065"/>
                  </a:ext>
                </a:extLst>
              </a:tr>
              <a:tr h="148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60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Spúšťacia marketingová kampaň (sociálne siete, plagáty)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180</a:t>
                      </a:r>
                      <a:endParaRPr lang="uk-UA" sz="1600" dirty="0">
                        <a:solidFill>
                          <a:srgbClr val="A278C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94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uk-UA" sz="1600">
                        <a:solidFill>
                          <a:srgbClr val="A278C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Spolu</a:t>
                      </a:r>
                      <a:r>
                        <a:rPr lang="en-GB" sz="1600" b="1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600" b="1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pravidelné</a:t>
                      </a:r>
                      <a:r>
                        <a:rPr lang="en-GB" sz="1600" b="1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600" b="1" dirty="0" err="1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náklady</a:t>
                      </a:r>
                      <a:r>
                        <a:rPr lang="en-GB" sz="1600" b="1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:</a:t>
                      </a:r>
                      <a:endParaRPr lang="en-GB" sz="1600" dirty="0">
                        <a:solidFill>
                          <a:srgbClr val="A278C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850 </a:t>
                      </a:r>
                      <a:r>
                        <a:rPr lang="uk-UA" sz="1600" b="1" dirty="0">
                          <a:solidFill>
                            <a:srgbClr val="A278C1"/>
                          </a:solidFill>
                          <a:latin typeface="Bahnschrift" panose="020B0502040204020203" pitchFamily="34" charset="0"/>
                        </a:rPr>
                        <a:t>€</a:t>
                      </a:r>
                      <a:endParaRPr lang="uk-UA" sz="1600" dirty="0">
                        <a:solidFill>
                          <a:srgbClr val="A278C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366305"/>
                  </a:ext>
                </a:extLst>
              </a:tr>
            </a:tbl>
          </a:graphicData>
        </a:graphic>
      </p:graphicFrame>
      <p:sp>
        <p:nvSpPr>
          <p:cNvPr id="39" name="BlokTextu 38">
            <a:extLst>
              <a:ext uri="{FF2B5EF4-FFF2-40B4-BE49-F238E27FC236}">
                <a16:creationId xmlns:a16="http://schemas.microsoft.com/office/drawing/2014/main" id="{3E9DF43C-F481-0675-3856-B99687251026}"/>
              </a:ext>
            </a:extLst>
          </p:cNvPr>
          <p:cNvSpPr txBox="1"/>
          <p:nvPr/>
        </p:nvSpPr>
        <p:spPr>
          <a:xfrm>
            <a:off x="2264953" y="6274274"/>
            <a:ext cx="3198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A278C1"/>
                </a:solidFill>
                <a:latin typeface="Bahnschrift" panose="020B0502040204020203" pitchFamily="34" charset="0"/>
              </a:rPr>
              <a:t>1</a:t>
            </a:r>
            <a:endParaRPr lang="en-US" sz="2800" b="1" dirty="0">
              <a:solidFill>
                <a:srgbClr val="A278C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Прямокутник 11">
            <a:extLst>
              <a:ext uri="{FF2B5EF4-FFF2-40B4-BE49-F238E27FC236}">
                <a16:creationId xmlns:a16="http://schemas.microsoft.com/office/drawing/2014/main" id="{DCCC2E1B-6AD6-12BE-68E5-E87D9157BEF6}"/>
              </a:ext>
            </a:extLst>
          </p:cNvPr>
          <p:cNvSpPr/>
          <p:nvPr/>
        </p:nvSpPr>
        <p:spPr>
          <a:xfrm>
            <a:off x="12076250" y="2121"/>
            <a:ext cx="4545740" cy="6903094"/>
          </a:xfrm>
          <a:prstGeom prst="rect">
            <a:avLst/>
          </a:prstGeom>
          <a:solidFill>
            <a:srgbClr val="3E1B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48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31" grpId="0" build="allAtOnce"/>
      <p:bldP spid="32" grpId="0" build="allAtOnce"/>
      <p:bldP spid="3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001A-ED81-AB25-282F-87B47EB0C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7D04C101-3C5A-454C-B671-2DD9A482134B}"/>
              </a:ext>
            </a:extLst>
          </p:cNvPr>
          <p:cNvSpPr/>
          <p:nvPr/>
        </p:nvSpPr>
        <p:spPr>
          <a:xfrm>
            <a:off x="615948" y="-5813"/>
            <a:ext cx="14024558" cy="6960745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89641D64-870C-9DF3-510A-F516344CBABF}"/>
              </a:ext>
            </a:extLst>
          </p:cNvPr>
          <p:cNvSpPr/>
          <p:nvPr/>
        </p:nvSpPr>
        <p:spPr>
          <a:xfrm>
            <a:off x="1315026" y="-51373"/>
            <a:ext cx="14024558" cy="696074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E91609AA-D721-B2E0-F476-22503969B896}"/>
              </a:ext>
            </a:extLst>
          </p:cNvPr>
          <p:cNvSpPr/>
          <p:nvPr/>
        </p:nvSpPr>
        <p:spPr>
          <a:xfrm>
            <a:off x="11946315" y="2121"/>
            <a:ext cx="3976596" cy="69030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Прямокутник 11">
            <a:extLst>
              <a:ext uri="{FF2B5EF4-FFF2-40B4-BE49-F238E27FC236}">
                <a16:creationId xmlns:a16="http://schemas.microsoft.com/office/drawing/2014/main" id="{1A4BF622-831C-EF88-5B6E-F36713AD061E}"/>
              </a:ext>
            </a:extLst>
          </p:cNvPr>
          <p:cNvSpPr/>
          <p:nvPr/>
        </p:nvSpPr>
        <p:spPr>
          <a:xfrm>
            <a:off x="12076250" y="2121"/>
            <a:ext cx="4545740" cy="6903094"/>
          </a:xfrm>
          <a:prstGeom prst="rect">
            <a:avLst/>
          </a:prstGeom>
          <a:solidFill>
            <a:srgbClr val="3E1B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314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9F286-EC8D-93BC-44B2-A9D92C8BB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FA50D551-E8AE-AE99-E597-EFC73D471682}"/>
              </a:ext>
            </a:extLst>
          </p:cNvPr>
          <p:cNvSpPr/>
          <p:nvPr/>
        </p:nvSpPr>
        <p:spPr>
          <a:xfrm>
            <a:off x="615948" y="-5813"/>
            <a:ext cx="14024558" cy="6960745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15B86C61-77E0-BECA-EE6D-2D03E31E9A5A}"/>
              </a:ext>
            </a:extLst>
          </p:cNvPr>
          <p:cNvSpPr/>
          <p:nvPr/>
        </p:nvSpPr>
        <p:spPr>
          <a:xfrm>
            <a:off x="1315026" y="-5813"/>
            <a:ext cx="14024558" cy="696074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5" name="Групувати 4">
            <a:extLst>
              <a:ext uri="{FF2B5EF4-FFF2-40B4-BE49-F238E27FC236}">
                <a16:creationId xmlns:a16="http://schemas.microsoft.com/office/drawing/2014/main" id="{AB6FCB5B-27D2-0F36-D50D-B5196B1585E6}"/>
              </a:ext>
            </a:extLst>
          </p:cNvPr>
          <p:cNvGrpSpPr/>
          <p:nvPr/>
        </p:nvGrpSpPr>
        <p:grpSpPr>
          <a:xfrm>
            <a:off x="10835992" y="252755"/>
            <a:ext cx="1120820" cy="920564"/>
            <a:chOff x="10490967" y="246382"/>
            <a:chExt cx="1120820" cy="920564"/>
          </a:xfrm>
        </p:grpSpPr>
        <p:sp>
          <p:nvSpPr>
            <p:cNvPr id="9" name="Шестикутник 8">
              <a:extLst>
                <a:ext uri="{FF2B5EF4-FFF2-40B4-BE49-F238E27FC236}">
                  <a16:creationId xmlns:a16="http://schemas.microsoft.com/office/drawing/2014/main" id="{C1EEAEF3-8771-4E85-44F3-D91DDD1948F4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D4C0E2"/>
            </a:solidFill>
            <a:ln cap="rnd">
              <a:solidFill>
                <a:srgbClr val="D4C0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>
                <a:solidFill>
                  <a:srgbClr val="D4C0E2"/>
                </a:solidFill>
              </a:endParaRPr>
            </a:p>
          </p:txBody>
        </p:sp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BD00812B-1BA6-D150-61B3-8393422C4D23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rgbClr val="A278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11" name="Рівнобедрений трикутник 10">
              <a:extLst>
                <a:ext uri="{FF2B5EF4-FFF2-40B4-BE49-F238E27FC236}">
                  <a16:creationId xmlns:a16="http://schemas.microsoft.com/office/drawing/2014/main" id="{8C600DD7-0E10-5BFD-81FF-E64499969F4C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D4C0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A0191A-E4D1-199F-5CEA-AF79B13B64A7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D4C0E2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D4C0E2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A9F35A5-999C-BD8D-2547-D62DE4FFFD35}"/>
              </a:ext>
            </a:extLst>
          </p:cNvPr>
          <p:cNvSpPr txBox="1"/>
          <p:nvPr/>
        </p:nvSpPr>
        <p:spPr>
          <a:xfrm>
            <a:off x="1583688" y="494790"/>
            <a:ext cx="46110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4400" dirty="0" err="1">
                <a:solidFill>
                  <a:srgbClr val="D4C0E2"/>
                </a:solidFill>
                <a:latin typeface="Bahnschrift" panose="020B0502040204020203" pitchFamily="34" charset="0"/>
              </a:rPr>
              <a:t>Náklady</a:t>
            </a:r>
            <a:r>
              <a:rPr lang="uk-UA" sz="4400" dirty="0">
                <a:solidFill>
                  <a:srgbClr val="D4C0E2"/>
                </a:solidFill>
                <a:latin typeface="Bahnschrift" panose="020B0502040204020203" pitchFamily="34" charset="0"/>
              </a:rPr>
              <a:t> </a:t>
            </a:r>
            <a:r>
              <a:rPr lang="uk-UA" sz="4400" dirty="0" err="1">
                <a:solidFill>
                  <a:srgbClr val="D4C0E2"/>
                </a:solidFill>
                <a:latin typeface="Bahnschrift" panose="020B0502040204020203" pitchFamily="34" charset="0"/>
              </a:rPr>
              <a:t>projektu</a:t>
            </a:r>
            <a:endParaRPr lang="uk-UA" sz="4400" dirty="0">
              <a:solidFill>
                <a:srgbClr val="D4C0E2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6A5D02D5-3485-3F57-49CC-AF9AAFD971A2}"/>
              </a:ext>
            </a:extLst>
          </p:cNvPr>
          <p:cNvSpPr/>
          <p:nvPr/>
        </p:nvSpPr>
        <p:spPr>
          <a:xfrm>
            <a:off x="2062980" y="2420916"/>
            <a:ext cx="1083809" cy="231493"/>
          </a:xfrm>
          <a:prstGeom prst="rect">
            <a:avLst/>
          </a:prstGeom>
          <a:solidFill>
            <a:srgbClr val="D4C0E2"/>
          </a:solidFill>
          <a:ln>
            <a:solidFill>
              <a:srgbClr val="D4C0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AA2D96A8-44C8-0237-EDFB-D8E8A57A6362}"/>
              </a:ext>
            </a:extLst>
          </p:cNvPr>
          <p:cNvSpPr/>
          <p:nvPr/>
        </p:nvSpPr>
        <p:spPr>
          <a:xfrm>
            <a:off x="2062980" y="2978279"/>
            <a:ext cx="1264665" cy="231493"/>
          </a:xfrm>
          <a:prstGeom prst="rect">
            <a:avLst/>
          </a:prstGeom>
          <a:solidFill>
            <a:srgbClr val="D4C0E2"/>
          </a:solidFill>
          <a:ln>
            <a:solidFill>
              <a:srgbClr val="D4C0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7" name="Прямокутник 26">
            <a:extLst>
              <a:ext uri="{FF2B5EF4-FFF2-40B4-BE49-F238E27FC236}">
                <a16:creationId xmlns:a16="http://schemas.microsoft.com/office/drawing/2014/main" id="{0188D5B4-37D8-DF8D-8DA4-B9DE51C3F158}"/>
              </a:ext>
            </a:extLst>
          </p:cNvPr>
          <p:cNvSpPr/>
          <p:nvPr/>
        </p:nvSpPr>
        <p:spPr>
          <a:xfrm>
            <a:off x="2062980" y="4093005"/>
            <a:ext cx="831691" cy="231493"/>
          </a:xfrm>
          <a:prstGeom prst="rect">
            <a:avLst/>
          </a:prstGeom>
          <a:solidFill>
            <a:srgbClr val="D4C0E2"/>
          </a:solidFill>
          <a:ln>
            <a:solidFill>
              <a:srgbClr val="D4C0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8" name="Прямокутник 27">
            <a:extLst>
              <a:ext uri="{FF2B5EF4-FFF2-40B4-BE49-F238E27FC236}">
                <a16:creationId xmlns:a16="http://schemas.microsoft.com/office/drawing/2014/main" id="{49DB5D99-DE78-D5B8-00F0-3FB2877C90B6}"/>
              </a:ext>
            </a:extLst>
          </p:cNvPr>
          <p:cNvSpPr/>
          <p:nvPr/>
        </p:nvSpPr>
        <p:spPr>
          <a:xfrm>
            <a:off x="2062980" y="3535642"/>
            <a:ext cx="510058" cy="231493"/>
          </a:xfrm>
          <a:prstGeom prst="rect">
            <a:avLst/>
          </a:prstGeom>
          <a:solidFill>
            <a:srgbClr val="D4C0E2"/>
          </a:solidFill>
          <a:ln>
            <a:solidFill>
              <a:srgbClr val="D4C0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rgbClr val="D4C0E2"/>
              </a:solidFill>
            </a:endParaRPr>
          </a:p>
        </p:txBody>
      </p:sp>
      <p:cxnSp>
        <p:nvCxnSpPr>
          <p:cNvPr id="29" name="Пряма сполучна лінія 28">
            <a:extLst>
              <a:ext uri="{FF2B5EF4-FFF2-40B4-BE49-F238E27FC236}">
                <a16:creationId xmlns:a16="http://schemas.microsoft.com/office/drawing/2014/main" id="{D3A22FCA-DFAC-D2B8-C8E5-E0CDA4DF1E2D}"/>
              </a:ext>
            </a:extLst>
          </p:cNvPr>
          <p:cNvCxnSpPr>
            <a:cxnSpLocks/>
          </p:cNvCxnSpPr>
          <p:nvPr/>
        </p:nvCxnSpPr>
        <p:spPr>
          <a:xfrm>
            <a:off x="2050788" y="1917901"/>
            <a:ext cx="0" cy="2795288"/>
          </a:xfrm>
          <a:prstGeom prst="line">
            <a:avLst/>
          </a:prstGeom>
          <a:ln>
            <a:solidFill>
              <a:srgbClr val="D4C0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 сполучна лінія 29">
            <a:extLst>
              <a:ext uri="{FF2B5EF4-FFF2-40B4-BE49-F238E27FC236}">
                <a16:creationId xmlns:a16="http://schemas.microsoft.com/office/drawing/2014/main" id="{3EBBF9FF-5CB5-DB65-8EAA-5DAFEEB111BE}"/>
              </a:ext>
            </a:extLst>
          </p:cNvPr>
          <p:cNvCxnSpPr>
            <a:cxnSpLocks/>
          </p:cNvCxnSpPr>
          <p:nvPr/>
        </p:nvCxnSpPr>
        <p:spPr>
          <a:xfrm>
            <a:off x="3184011" y="1917901"/>
            <a:ext cx="0" cy="2795288"/>
          </a:xfrm>
          <a:prstGeom prst="line">
            <a:avLst/>
          </a:prstGeom>
          <a:ln>
            <a:solidFill>
              <a:srgbClr val="D4C0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 сполучна лінія 30">
            <a:extLst>
              <a:ext uri="{FF2B5EF4-FFF2-40B4-BE49-F238E27FC236}">
                <a16:creationId xmlns:a16="http://schemas.microsoft.com/office/drawing/2014/main" id="{976A3BE0-FB7C-04A7-0762-C038FFC473E2}"/>
              </a:ext>
            </a:extLst>
          </p:cNvPr>
          <p:cNvCxnSpPr>
            <a:cxnSpLocks/>
          </p:cNvCxnSpPr>
          <p:nvPr/>
        </p:nvCxnSpPr>
        <p:spPr>
          <a:xfrm>
            <a:off x="4317234" y="1917901"/>
            <a:ext cx="0" cy="2795288"/>
          </a:xfrm>
          <a:prstGeom prst="line">
            <a:avLst/>
          </a:prstGeom>
          <a:ln>
            <a:solidFill>
              <a:srgbClr val="D4C0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72B13E-5409-6B7C-D514-05EABC83C9C4}"/>
              </a:ext>
            </a:extLst>
          </p:cNvPr>
          <p:cNvSpPr txBox="1"/>
          <p:nvPr/>
        </p:nvSpPr>
        <p:spPr>
          <a:xfrm>
            <a:off x="2939084" y="4734421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D4C0E2"/>
                </a:solidFill>
                <a:latin typeface="Bahnschrift" panose="020B0502040204020203" pitchFamily="34" charset="0"/>
              </a:rPr>
              <a:t>500</a:t>
            </a:r>
            <a:endParaRPr lang="uk-UA" sz="1400" dirty="0">
              <a:solidFill>
                <a:srgbClr val="D4C0E2"/>
              </a:solidFill>
              <a:latin typeface="Bahnschrift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E48F41-ECA0-7944-385A-E1C25A644512}"/>
              </a:ext>
            </a:extLst>
          </p:cNvPr>
          <p:cNvSpPr txBox="1"/>
          <p:nvPr/>
        </p:nvSpPr>
        <p:spPr>
          <a:xfrm>
            <a:off x="1955059" y="473442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400" dirty="0">
                <a:solidFill>
                  <a:srgbClr val="D4C0E2"/>
                </a:solidFill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59A3B2-85DC-F5A1-A326-EDD8CF55556A}"/>
              </a:ext>
            </a:extLst>
          </p:cNvPr>
          <p:cNvSpPr txBox="1"/>
          <p:nvPr/>
        </p:nvSpPr>
        <p:spPr>
          <a:xfrm>
            <a:off x="4017682" y="4734421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D4C0E2"/>
                </a:solidFill>
                <a:latin typeface="Bahnschrift" panose="020B0502040204020203" pitchFamily="34" charset="0"/>
              </a:rPr>
              <a:t>1 000</a:t>
            </a:r>
            <a:endParaRPr lang="uk-UA" sz="1400" dirty="0">
              <a:solidFill>
                <a:srgbClr val="D4C0E2"/>
              </a:solidFill>
              <a:latin typeface="Bahnschrift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68E307-D75D-B465-D732-73A1544754D7}"/>
              </a:ext>
            </a:extLst>
          </p:cNvPr>
          <p:cNvSpPr txBox="1"/>
          <p:nvPr/>
        </p:nvSpPr>
        <p:spPr>
          <a:xfrm>
            <a:off x="1648038" y="2345308"/>
            <a:ext cx="402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uk-UA" sz="1800" dirty="0">
                <a:solidFill>
                  <a:srgbClr val="D4C0E2"/>
                </a:solidFill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2DDA8E-2D2C-8241-CDB6-3B00A77BE281}"/>
              </a:ext>
            </a:extLst>
          </p:cNvPr>
          <p:cNvSpPr txBox="1"/>
          <p:nvPr/>
        </p:nvSpPr>
        <p:spPr>
          <a:xfrm>
            <a:off x="1648038" y="2900850"/>
            <a:ext cx="402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uk-UA" dirty="0">
                <a:solidFill>
                  <a:srgbClr val="D4C0E2"/>
                </a:solidFill>
                <a:latin typeface="Bahnschrift" panose="020B0502040204020203" pitchFamily="34" charset="0"/>
              </a:rPr>
              <a:t>2</a:t>
            </a:r>
            <a:endParaRPr lang="uk-UA" sz="1800" dirty="0">
              <a:solidFill>
                <a:srgbClr val="D4C0E2"/>
              </a:solidFill>
              <a:latin typeface="Bahnschrift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FCDD9D-A2FF-86B8-75AE-26DACECB53D9}"/>
              </a:ext>
            </a:extLst>
          </p:cNvPr>
          <p:cNvSpPr txBox="1"/>
          <p:nvPr/>
        </p:nvSpPr>
        <p:spPr>
          <a:xfrm>
            <a:off x="1648038" y="3456392"/>
            <a:ext cx="402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uk-UA" sz="1800" dirty="0">
                <a:solidFill>
                  <a:srgbClr val="D4C0E2"/>
                </a:solidFill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F1693D-FC25-C665-A4D6-95B74721F4E0}"/>
              </a:ext>
            </a:extLst>
          </p:cNvPr>
          <p:cNvSpPr txBox="1"/>
          <p:nvPr/>
        </p:nvSpPr>
        <p:spPr>
          <a:xfrm>
            <a:off x="1648038" y="4011934"/>
            <a:ext cx="402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uk-UA" sz="1800" dirty="0">
                <a:solidFill>
                  <a:srgbClr val="D4C0E2"/>
                </a:solidFill>
                <a:latin typeface="Bahnschrift" panose="020B0502040204020203" pitchFamily="34" charset="0"/>
              </a:rPr>
              <a:t>4</a:t>
            </a:r>
          </a:p>
        </p:txBody>
      </p:sp>
      <p:graphicFrame>
        <p:nvGraphicFramePr>
          <p:cNvPr id="45" name="Таблиця 44">
            <a:extLst>
              <a:ext uri="{FF2B5EF4-FFF2-40B4-BE49-F238E27FC236}">
                <a16:creationId xmlns:a16="http://schemas.microsoft.com/office/drawing/2014/main" id="{1993B453-A6D7-7C49-6930-39B4DEE20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809478"/>
              </p:ext>
            </p:extLst>
          </p:nvPr>
        </p:nvGraphicFramePr>
        <p:xfrm>
          <a:off x="4856983" y="1917901"/>
          <a:ext cx="6858870" cy="2499360"/>
        </p:xfrm>
        <a:graphic>
          <a:graphicData uri="http://schemas.openxmlformats.org/drawingml/2006/table">
            <a:tbl>
              <a:tblPr/>
              <a:tblGrid>
                <a:gridCol w="792987">
                  <a:extLst>
                    <a:ext uri="{9D8B030D-6E8A-4147-A177-3AD203B41FA5}">
                      <a16:colId xmlns:a16="http://schemas.microsoft.com/office/drawing/2014/main" val="2653431320"/>
                    </a:ext>
                  </a:extLst>
                </a:gridCol>
                <a:gridCol w="3576309">
                  <a:extLst>
                    <a:ext uri="{9D8B030D-6E8A-4147-A177-3AD203B41FA5}">
                      <a16:colId xmlns:a16="http://schemas.microsoft.com/office/drawing/2014/main" val="156681546"/>
                    </a:ext>
                  </a:extLst>
                </a:gridCol>
                <a:gridCol w="1398112">
                  <a:extLst>
                    <a:ext uri="{9D8B030D-6E8A-4147-A177-3AD203B41FA5}">
                      <a16:colId xmlns:a16="http://schemas.microsoft.com/office/drawing/2014/main" val="888644421"/>
                    </a:ext>
                  </a:extLst>
                </a:gridCol>
                <a:gridCol w="1091462">
                  <a:extLst>
                    <a:ext uri="{9D8B030D-6E8A-4147-A177-3AD203B41FA5}">
                      <a16:colId xmlns:a16="http://schemas.microsoft.com/office/drawing/2014/main" val="1950003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600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Položka</a:t>
                      </a:r>
                      <a:endParaRPr lang="en-GB" sz="1600" dirty="0">
                        <a:solidFill>
                          <a:srgbClr val="D4C0E2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Mesačne</a:t>
                      </a:r>
                      <a:r>
                        <a:rPr lang="en-GB" sz="1600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 (€)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Ročne</a:t>
                      </a:r>
                      <a:r>
                        <a:rPr lang="en-GB" sz="1600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 (€)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99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Údržba</a:t>
                      </a:r>
                      <a:r>
                        <a:rPr lang="en-GB" sz="1600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 a </a:t>
                      </a:r>
                      <a:r>
                        <a:rPr lang="en-GB" sz="1600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aktualizácie</a:t>
                      </a:r>
                      <a:r>
                        <a:rPr lang="en-GB" sz="1600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600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webu</a:t>
                      </a:r>
                      <a:endParaRPr lang="en-GB" sz="1600" dirty="0">
                        <a:solidFill>
                          <a:srgbClr val="D4C0E2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480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710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Reklama</a:t>
                      </a:r>
                      <a:r>
                        <a:rPr lang="en-GB" sz="1600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 a </a:t>
                      </a:r>
                      <a:r>
                        <a:rPr lang="en-GB" sz="1600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propagácia</a:t>
                      </a:r>
                      <a:endParaRPr lang="en-GB" sz="1600" dirty="0">
                        <a:solidFill>
                          <a:srgbClr val="D4C0E2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899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Administratívne</a:t>
                      </a:r>
                      <a:r>
                        <a:rPr lang="en-US" sz="1600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poplatky</a:t>
                      </a:r>
                      <a:r>
                        <a:rPr lang="en-US" sz="1600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 (Google Workspace, Canva, AI Tools)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240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257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Konzultácie s lektorom / jazykový obsah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360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94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uk-UA" sz="1600">
                        <a:solidFill>
                          <a:srgbClr val="D4C0E2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Spolu</a:t>
                      </a:r>
                      <a:r>
                        <a:rPr lang="en-GB" sz="1600" b="1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600" b="1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pravidelné</a:t>
                      </a:r>
                      <a:r>
                        <a:rPr lang="en-GB" sz="1600" b="1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600" b="1" dirty="0" err="1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náklady</a:t>
                      </a:r>
                      <a:r>
                        <a:rPr lang="en-GB" sz="1600" b="1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:</a:t>
                      </a:r>
                      <a:endParaRPr lang="en-GB" sz="1600" dirty="0">
                        <a:solidFill>
                          <a:srgbClr val="D4C0E2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uk-UA" sz="1600">
                        <a:solidFill>
                          <a:srgbClr val="D4C0E2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600" b="1" dirty="0">
                          <a:solidFill>
                            <a:srgbClr val="D4C0E2"/>
                          </a:solidFill>
                          <a:latin typeface="Bahnschrift" panose="020B0502040204020203" pitchFamily="34" charset="0"/>
                        </a:rPr>
                        <a:t>1 680 €</a:t>
                      </a:r>
                      <a:endParaRPr lang="uk-UA" sz="1600" dirty="0">
                        <a:solidFill>
                          <a:srgbClr val="D4C0E2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366305"/>
                  </a:ext>
                </a:extLst>
              </a:tr>
            </a:tbl>
          </a:graphicData>
        </a:graphic>
      </p:graphicFrame>
      <p:sp>
        <p:nvSpPr>
          <p:cNvPr id="2" name="Прямокутник 11">
            <a:extLst>
              <a:ext uri="{FF2B5EF4-FFF2-40B4-BE49-F238E27FC236}">
                <a16:creationId xmlns:a16="http://schemas.microsoft.com/office/drawing/2014/main" id="{C823D5DB-B649-7D58-5633-C3B06D889382}"/>
              </a:ext>
            </a:extLst>
          </p:cNvPr>
          <p:cNvSpPr/>
          <p:nvPr/>
        </p:nvSpPr>
        <p:spPr>
          <a:xfrm>
            <a:off x="11946315" y="2121"/>
            <a:ext cx="3976596" cy="69030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Прямокутник 11">
            <a:extLst>
              <a:ext uri="{FF2B5EF4-FFF2-40B4-BE49-F238E27FC236}">
                <a16:creationId xmlns:a16="http://schemas.microsoft.com/office/drawing/2014/main" id="{DD4C034B-763C-B1CF-2587-07C23513EE16}"/>
              </a:ext>
            </a:extLst>
          </p:cNvPr>
          <p:cNvSpPr/>
          <p:nvPr/>
        </p:nvSpPr>
        <p:spPr>
          <a:xfrm>
            <a:off x="12076250" y="2121"/>
            <a:ext cx="4545740" cy="6903094"/>
          </a:xfrm>
          <a:prstGeom prst="rect">
            <a:avLst/>
          </a:prstGeom>
          <a:solidFill>
            <a:srgbClr val="3E1B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0F436D7E-80DB-290D-0CFF-926EC1D9EA9B}"/>
              </a:ext>
            </a:extLst>
          </p:cNvPr>
          <p:cNvSpPr txBox="1"/>
          <p:nvPr/>
        </p:nvSpPr>
        <p:spPr>
          <a:xfrm>
            <a:off x="1635401" y="6271981"/>
            <a:ext cx="3198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D4C0E2"/>
                </a:solidFill>
                <a:latin typeface="Bahnschrift" panose="020B0502040204020203" pitchFamily="34" charset="0"/>
              </a:rPr>
              <a:t>2</a:t>
            </a:r>
            <a:endParaRPr lang="en-US" sz="2800" b="1" dirty="0">
              <a:solidFill>
                <a:srgbClr val="D4C0E2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03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32" grpId="0" build="allAtOnce"/>
      <p:bldP spid="33" grpId="0" build="allAtOnce"/>
      <p:bldP spid="34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49DE2-B4E0-9DC9-46CE-2D4E7C2E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9812A0D-8FF5-4CE1-B2A9-63DD1ABFE7D2}"/>
              </a:ext>
            </a:extLst>
          </p:cNvPr>
          <p:cNvSpPr/>
          <p:nvPr/>
        </p:nvSpPr>
        <p:spPr>
          <a:xfrm>
            <a:off x="615948" y="-5813"/>
            <a:ext cx="14024558" cy="6960745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3" name="Прямокутник 6">
            <a:extLst>
              <a:ext uri="{FF2B5EF4-FFF2-40B4-BE49-F238E27FC236}">
                <a16:creationId xmlns:a16="http://schemas.microsoft.com/office/drawing/2014/main" id="{19E7AA4F-502A-AEE7-6A24-3381F3B7668C}"/>
              </a:ext>
            </a:extLst>
          </p:cNvPr>
          <p:cNvSpPr/>
          <p:nvPr/>
        </p:nvSpPr>
        <p:spPr>
          <a:xfrm>
            <a:off x="11828661" y="-5813"/>
            <a:ext cx="3465842" cy="696074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кутник 11">
            <a:extLst>
              <a:ext uri="{FF2B5EF4-FFF2-40B4-BE49-F238E27FC236}">
                <a16:creationId xmlns:a16="http://schemas.microsoft.com/office/drawing/2014/main" id="{4CA1BCF4-1B3C-50DF-22DB-55353EEFD66A}"/>
              </a:ext>
            </a:extLst>
          </p:cNvPr>
          <p:cNvSpPr/>
          <p:nvPr/>
        </p:nvSpPr>
        <p:spPr>
          <a:xfrm>
            <a:off x="11946315" y="2121"/>
            <a:ext cx="3976596" cy="69030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Прямокутник 11">
            <a:extLst>
              <a:ext uri="{FF2B5EF4-FFF2-40B4-BE49-F238E27FC236}">
                <a16:creationId xmlns:a16="http://schemas.microsoft.com/office/drawing/2014/main" id="{13695E0D-CB2C-03B4-905B-D3F0F5869F3D}"/>
              </a:ext>
            </a:extLst>
          </p:cNvPr>
          <p:cNvSpPr/>
          <p:nvPr/>
        </p:nvSpPr>
        <p:spPr>
          <a:xfrm>
            <a:off x="12076250" y="2121"/>
            <a:ext cx="4545740" cy="6903094"/>
          </a:xfrm>
          <a:prstGeom prst="rect">
            <a:avLst/>
          </a:prstGeom>
          <a:solidFill>
            <a:srgbClr val="3E1B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67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9BC03-8A18-0126-02C8-9C2B5902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7A72AAFE-83C5-BE54-9692-30EF64D0C941}"/>
              </a:ext>
            </a:extLst>
          </p:cNvPr>
          <p:cNvSpPr/>
          <p:nvPr/>
        </p:nvSpPr>
        <p:spPr>
          <a:xfrm>
            <a:off x="615948" y="-5813"/>
            <a:ext cx="14024558" cy="6960745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grpSp>
        <p:nvGrpSpPr>
          <p:cNvPr id="2" name="Групувати 1">
            <a:extLst>
              <a:ext uri="{FF2B5EF4-FFF2-40B4-BE49-F238E27FC236}">
                <a16:creationId xmlns:a16="http://schemas.microsoft.com/office/drawing/2014/main" id="{8D170870-342E-21F3-9D13-F3A0EBE6FD9F}"/>
              </a:ext>
            </a:extLst>
          </p:cNvPr>
          <p:cNvGrpSpPr/>
          <p:nvPr/>
        </p:nvGrpSpPr>
        <p:grpSpPr>
          <a:xfrm>
            <a:off x="10571083" y="249637"/>
            <a:ext cx="1120820" cy="920564"/>
            <a:chOff x="10490967" y="246382"/>
            <a:chExt cx="1120820" cy="920564"/>
          </a:xfrm>
        </p:grpSpPr>
        <p:sp>
          <p:nvSpPr>
            <p:cNvPr id="3" name="Шестикутник 2">
              <a:extLst>
                <a:ext uri="{FF2B5EF4-FFF2-40B4-BE49-F238E27FC236}">
                  <a16:creationId xmlns:a16="http://schemas.microsoft.com/office/drawing/2014/main" id="{713E68D2-280E-28A7-9FF5-77517CCB699A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chemeClr val="bg1"/>
            </a:solidFill>
            <a:ln cap="rnd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>
                <a:solidFill>
                  <a:srgbClr val="D4C0E2"/>
                </a:solidFill>
              </a:endParaRPr>
            </a:p>
          </p:txBody>
        </p:sp>
        <p:sp>
          <p:nvSpPr>
            <p:cNvPr id="4" name="Прямокутник 3">
              <a:extLst>
                <a:ext uri="{FF2B5EF4-FFF2-40B4-BE49-F238E27FC236}">
                  <a16:creationId xmlns:a16="http://schemas.microsoft.com/office/drawing/2014/main" id="{B81E1481-E50B-8277-B59A-A991FD114257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rgbClr val="D4C0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5" name="Рівнобедрений трикутник 4">
              <a:extLst>
                <a:ext uri="{FF2B5EF4-FFF2-40B4-BE49-F238E27FC236}">
                  <a16:creationId xmlns:a16="http://schemas.microsoft.com/office/drawing/2014/main" id="{0C475314-C1C7-7F0E-54DB-35F95DD4B754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A6302FB-B15F-477C-3A4F-D0411771A573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graphicFrame>
        <p:nvGraphicFramePr>
          <p:cNvPr id="9" name="Таблиця 8">
            <a:extLst>
              <a:ext uri="{FF2B5EF4-FFF2-40B4-BE49-F238E27FC236}">
                <a16:creationId xmlns:a16="http://schemas.microsoft.com/office/drawing/2014/main" id="{C7BED7C5-3983-0233-4E36-C3E254977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485190"/>
              </p:ext>
            </p:extLst>
          </p:nvPr>
        </p:nvGraphicFramePr>
        <p:xfrm>
          <a:off x="974129" y="1558961"/>
          <a:ext cx="9104671" cy="2255520"/>
        </p:xfrm>
        <a:graphic>
          <a:graphicData uri="http://schemas.openxmlformats.org/drawingml/2006/table">
            <a:tbl>
              <a:tblPr/>
              <a:tblGrid>
                <a:gridCol w="968356">
                  <a:extLst>
                    <a:ext uri="{9D8B030D-6E8A-4147-A177-3AD203B41FA5}">
                      <a16:colId xmlns:a16="http://schemas.microsoft.com/office/drawing/2014/main" val="2974596941"/>
                    </a:ext>
                  </a:extLst>
                </a:gridCol>
                <a:gridCol w="2792269">
                  <a:extLst>
                    <a:ext uri="{9D8B030D-6E8A-4147-A177-3AD203B41FA5}">
                      <a16:colId xmlns:a16="http://schemas.microsoft.com/office/drawing/2014/main" val="4134904659"/>
                    </a:ext>
                  </a:extLst>
                </a:gridCol>
                <a:gridCol w="4296527">
                  <a:extLst>
                    <a:ext uri="{9D8B030D-6E8A-4147-A177-3AD203B41FA5}">
                      <a16:colId xmlns:a16="http://schemas.microsoft.com/office/drawing/2014/main" val="1449908859"/>
                    </a:ext>
                  </a:extLst>
                </a:gridCol>
                <a:gridCol w="1047519">
                  <a:extLst>
                    <a:ext uri="{9D8B030D-6E8A-4147-A177-3AD203B41FA5}">
                      <a16:colId xmlns:a16="http://schemas.microsoft.com/office/drawing/2014/main" val="13057944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Zdroj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príjmov</a:t>
                      </a:r>
                      <a:endParaRPr lang="en-GB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Popis</a:t>
                      </a:r>
                      <a:endParaRPr lang="en-GB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Suma (€)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7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Prémiové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predplatné</a:t>
                      </a:r>
                      <a:endParaRPr lang="en-GB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100 používateľov × 2 €/mesiac × 12 mesiacov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40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2 400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87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40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Reklama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v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bezplatnej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verzii</a:t>
                      </a:r>
                      <a:endParaRPr lang="en-GB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40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Bannery + spolupráca s jazykovými školami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157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40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Partnerstvá a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podpora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univerzity</a:t>
                      </a:r>
                      <a:endParaRPr lang="en-GB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Spolupráca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na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jazykových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aktivitách</a:t>
                      </a:r>
                      <a:endParaRPr lang="en-GB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40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41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40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Dobrovoľné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príspevky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(Patreon,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BuyMeACoffee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Finančná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podpora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používateľov</a:t>
                      </a:r>
                      <a:endParaRPr lang="en-GB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338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uk-UA" sz="140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Spolu</a:t>
                      </a: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GB" sz="1400" b="1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príjmy</a:t>
                      </a: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za </a:t>
                      </a:r>
                      <a:r>
                        <a:rPr lang="en-GB" sz="1400" b="1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rok</a:t>
                      </a: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:</a:t>
                      </a:r>
                      <a:endParaRPr lang="en-GB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uk-UA" sz="140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14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3 200 €</a:t>
                      </a:r>
                      <a:endParaRPr lang="uk-UA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10302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BE4C055-463E-F103-F1B2-CE96299B4959}"/>
              </a:ext>
            </a:extLst>
          </p:cNvPr>
          <p:cNvSpPr txBox="1"/>
          <p:nvPr/>
        </p:nvSpPr>
        <p:spPr>
          <a:xfrm>
            <a:off x="974129" y="400760"/>
            <a:ext cx="47416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Príjmy</a:t>
            </a:r>
            <a:r>
              <a:rPr lang="en-GB" sz="4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GB" sz="44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projektu</a:t>
            </a:r>
            <a:endParaRPr lang="uk-UA" sz="4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71893C9E-6CCA-9DD7-F911-E59C6AD5278A}"/>
              </a:ext>
            </a:extLst>
          </p:cNvPr>
          <p:cNvSpPr/>
          <p:nvPr/>
        </p:nvSpPr>
        <p:spPr>
          <a:xfrm>
            <a:off x="4384287" y="5653336"/>
            <a:ext cx="176130" cy="23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F90B8D7B-1E17-A2DA-8D39-308FE8584584}"/>
              </a:ext>
            </a:extLst>
          </p:cNvPr>
          <p:cNvSpPr/>
          <p:nvPr/>
        </p:nvSpPr>
        <p:spPr>
          <a:xfrm>
            <a:off x="4384284" y="4214640"/>
            <a:ext cx="3564897" cy="23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A745D05A-EA76-2DA1-7125-D456835BE722}"/>
              </a:ext>
            </a:extLst>
          </p:cNvPr>
          <p:cNvSpPr/>
          <p:nvPr/>
        </p:nvSpPr>
        <p:spPr>
          <a:xfrm>
            <a:off x="4384285" y="4694205"/>
            <a:ext cx="900946" cy="23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C0658937-6E2F-A399-1B0C-EC5F421C2182}"/>
              </a:ext>
            </a:extLst>
          </p:cNvPr>
          <p:cNvSpPr/>
          <p:nvPr/>
        </p:nvSpPr>
        <p:spPr>
          <a:xfrm>
            <a:off x="4384286" y="5173770"/>
            <a:ext cx="389951" cy="23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cxnSp>
        <p:nvCxnSpPr>
          <p:cNvPr id="16" name="Пряма сполучна лінія 15">
            <a:extLst>
              <a:ext uri="{FF2B5EF4-FFF2-40B4-BE49-F238E27FC236}">
                <a16:creationId xmlns:a16="http://schemas.microsoft.com/office/drawing/2014/main" id="{5000D44F-8765-4A87-7BB3-F9A11DEF53CC}"/>
              </a:ext>
            </a:extLst>
          </p:cNvPr>
          <p:cNvCxnSpPr>
            <a:cxnSpLocks/>
          </p:cNvCxnSpPr>
          <p:nvPr/>
        </p:nvCxnSpPr>
        <p:spPr>
          <a:xfrm>
            <a:off x="4372093" y="3528054"/>
            <a:ext cx="0" cy="27952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 сполучна лінія 16">
            <a:extLst>
              <a:ext uri="{FF2B5EF4-FFF2-40B4-BE49-F238E27FC236}">
                <a16:creationId xmlns:a16="http://schemas.microsoft.com/office/drawing/2014/main" id="{F5EB2508-C18B-39BA-FEF9-143E861CF327}"/>
              </a:ext>
            </a:extLst>
          </p:cNvPr>
          <p:cNvCxnSpPr>
            <a:cxnSpLocks/>
          </p:cNvCxnSpPr>
          <p:nvPr/>
        </p:nvCxnSpPr>
        <p:spPr>
          <a:xfrm>
            <a:off x="5403363" y="3528054"/>
            <a:ext cx="0" cy="27952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 сполучна лінія 17">
            <a:extLst>
              <a:ext uri="{FF2B5EF4-FFF2-40B4-BE49-F238E27FC236}">
                <a16:creationId xmlns:a16="http://schemas.microsoft.com/office/drawing/2014/main" id="{8378F3E3-5C95-A9BB-F033-0143BBAA8478}"/>
              </a:ext>
            </a:extLst>
          </p:cNvPr>
          <p:cNvCxnSpPr>
            <a:cxnSpLocks/>
          </p:cNvCxnSpPr>
          <p:nvPr/>
        </p:nvCxnSpPr>
        <p:spPr>
          <a:xfrm>
            <a:off x="6815633" y="3528054"/>
            <a:ext cx="0" cy="27952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6D53129-D43E-9D2D-6269-558E9B9771DD}"/>
              </a:ext>
            </a:extLst>
          </p:cNvPr>
          <p:cNvSpPr txBox="1"/>
          <p:nvPr/>
        </p:nvSpPr>
        <p:spPr>
          <a:xfrm>
            <a:off x="5170938" y="6319589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500</a:t>
            </a:r>
            <a:endParaRPr lang="uk-UA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B5EC77-7130-197E-6FFA-A640385D95D7}"/>
              </a:ext>
            </a:extLst>
          </p:cNvPr>
          <p:cNvSpPr txBox="1"/>
          <p:nvPr/>
        </p:nvSpPr>
        <p:spPr>
          <a:xfrm>
            <a:off x="4276364" y="63195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400" dirty="0">
                <a:solidFill>
                  <a:schemeClr val="bg1"/>
                </a:solidFill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BBE2EE-A2FE-32EE-EDF6-92AAF765083D}"/>
              </a:ext>
            </a:extLst>
          </p:cNvPr>
          <p:cNvSpPr txBox="1"/>
          <p:nvPr/>
        </p:nvSpPr>
        <p:spPr>
          <a:xfrm>
            <a:off x="6540026" y="6317555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1500</a:t>
            </a:r>
            <a:endParaRPr lang="uk-UA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18D49345-1136-9A3D-FE40-2487DEB8AF7A}"/>
              </a:ext>
            </a:extLst>
          </p:cNvPr>
          <p:cNvGrpSpPr/>
          <p:nvPr/>
        </p:nvGrpSpPr>
        <p:grpSpPr>
          <a:xfrm>
            <a:off x="3969343" y="4130838"/>
            <a:ext cx="402749" cy="1816222"/>
            <a:chOff x="3351913" y="4335355"/>
            <a:chExt cx="402749" cy="181622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E29E056-5DE2-3B21-C557-2A7A3BDA539E}"/>
                </a:ext>
              </a:extLst>
            </p:cNvPr>
            <p:cNvSpPr txBox="1"/>
            <p:nvPr/>
          </p:nvSpPr>
          <p:spPr>
            <a:xfrm>
              <a:off x="3351913" y="5782245"/>
              <a:ext cx="4027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ru-RU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4</a:t>
              </a:r>
              <a:endParaRPr lang="uk-UA" sz="1800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1E30ED-7393-907A-043C-EB53511C3BD5}"/>
                </a:ext>
              </a:extLst>
            </p:cNvPr>
            <p:cNvSpPr txBox="1"/>
            <p:nvPr/>
          </p:nvSpPr>
          <p:spPr>
            <a:xfrm>
              <a:off x="3351913" y="4335355"/>
              <a:ext cx="4027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ru-RU" sz="1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  <a:endParaRPr lang="uk-UA" sz="1800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C750581-5441-57F7-1753-676A569703A7}"/>
                </a:ext>
              </a:extLst>
            </p:cNvPr>
            <p:cNvSpPr txBox="1"/>
            <p:nvPr/>
          </p:nvSpPr>
          <p:spPr>
            <a:xfrm>
              <a:off x="3351913" y="5299949"/>
              <a:ext cx="4027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uk-UA" sz="1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73F84C-0DF3-30C5-E99F-96F54C1CE890}"/>
                </a:ext>
              </a:extLst>
            </p:cNvPr>
            <p:cNvSpPr txBox="1"/>
            <p:nvPr/>
          </p:nvSpPr>
          <p:spPr>
            <a:xfrm>
              <a:off x="3351913" y="4817652"/>
              <a:ext cx="4027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ru-RU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2</a:t>
              </a:r>
              <a:endParaRPr lang="uk-UA" sz="1800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</p:grpSp>
      <p:cxnSp>
        <p:nvCxnSpPr>
          <p:cNvPr id="27" name="Пряма сполучна лінія 26">
            <a:extLst>
              <a:ext uri="{FF2B5EF4-FFF2-40B4-BE49-F238E27FC236}">
                <a16:creationId xmlns:a16="http://schemas.microsoft.com/office/drawing/2014/main" id="{DD53C31A-9CEE-5E05-C119-AE25AD0DD8A4}"/>
              </a:ext>
            </a:extLst>
          </p:cNvPr>
          <p:cNvCxnSpPr>
            <a:cxnSpLocks/>
          </p:cNvCxnSpPr>
          <p:nvPr/>
        </p:nvCxnSpPr>
        <p:spPr>
          <a:xfrm>
            <a:off x="8037403" y="3528054"/>
            <a:ext cx="0" cy="27952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F49FBE7-4E54-BE42-75EE-3C8520C505FA}"/>
              </a:ext>
            </a:extLst>
          </p:cNvPr>
          <p:cNvSpPr txBox="1"/>
          <p:nvPr/>
        </p:nvSpPr>
        <p:spPr>
          <a:xfrm>
            <a:off x="7745496" y="6317555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2 500</a:t>
            </a:r>
            <a:endParaRPr lang="uk-UA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2" name="BlokTextu 31">
            <a:extLst>
              <a:ext uri="{FF2B5EF4-FFF2-40B4-BE49-F238E27FC236}">
                <a16:creationId xmlns:a16="http://schemas.microsoft.com/office/drawing/2014/main" id="{E3BC024F-4573-0928-3720-16988090B9E0}"/>
              </a:ext>
            </a:extLst>
          </p:cNvPr>
          <p:cNvSpPr txBox="1"/>
          <p:nvPr/>
        </p:nvSpPr>
        <p:spPr>
          <a:xfrm>
            <a:off x="838920" y="6256612"/>
            <a:ext cx="3198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FFFFFF"/>
                </a:solidFill>
                <a:latin typeface="Bahnschrift" panose="020B0502040204020203" pitchFamily="34" charset="0"/>
              </a:rPr>
              <a:t>3</a:t>
            </a:r>
            <a:endParaRPr lang="en-US" sz="2800" b="1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876F5A06-2C45-3061-E70D-57732915D43D}"/>
              </a:ext>
            </a:extLst>
          </p:cNvPr>
          <p:cNvSpPr/>
          <p:nvPr/>
        </p:nvSpPr>
        <p:spPr>
          <a:xfrm>
            <a:off x="11828661" y="-5813"/>
            <a:ext cx="3465842" cy="696074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28B2209C-93AD-7BB9-1A8F-5DD3BC51FE25}"/>
              </a:ext>
            </a:extLst>
          </p:cNvPr>
          <p:cNvSpPr/>
          <p:nvPr/>
        </p:nvSpPr>
        <p:spPr>
          <a:xfrm>
            <a:off x="11946315" y="2121"/>
            <a:ext cx="3976596" cy="69030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33" name="Прямокутник 11">
            <a:extLst>
              <a:ext uri="{FF2B5EF4-FFF2-40B4-BE49-F238E27FC236}">
                <a16:creationId xmlns:a16="http://schemas.microsoft.com/office/drawing/2014/main" id="{00FC95FC-487B-5B84-2460-172BCB24505A}"/>
              </a:ext>
            </a:extLst>
          </p:cNvPr>
          <p:cNvSpPr/>
          <p:nvPr/>
        </p:nvSpPr>
        <p:spPr>
          <a:xfrm>
            <a:off x="12076250" y="2121"/>
            <a:ext cx="4545740" cy="6903094"/>
          </a:xfrm>
          <a:prstGeom prst="rect">
            <a:avLst/>
          </a:prstGeom>
          <a:solidFill>
            <a:srgbClr val="3E1B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4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9" grpId="0" build="allAtOnce"/>
      <p:bldP spid="20" grpId="0" build="allAtOnce"/>
      <p:bldP spid="21" grpId="0" build="allAtOnce"/>
      <p:bldP spid="28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7862-D0A9-7A9F-8FB5-39FD9302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7">
            <a:extLst>
              <a:ext uri="{FF2B5EF4-FFF2-40B4-BE49-F238E27FC236}">
                <a16:creationId xmlns:a16="http://schemas.microsoft.com/office/drawing/2014/main" id="{4CC0FFF7-F314-728B-BBCA-C613C25F0658}"/>
              </a:ext>
            </a:extLst>
          </p:cNvPr>
          <p:cNvSpPr/>
          <p:nvPr/>
        </p:nvSpPr>
        <p:spPr>
          <a:xfrm>
            <a:off x="11699176" y="-22547"/>
            <a:ext cx="2869053" cy="6960745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0" name="Прямокутник 6">
            <a:extLst>
              <a:ext uri="{FF2B5EF4-FFF2-40B4-BE49-F238E27FC236}">
                <a16:creationId xmlns:a16="http://schemas.microsoft.com/office/drawing/2014/main" id="{310D6171-6CBC-4E32-1A8C-C92419627852}"/>
              </a:ext>
            </a:extLst>
          </p:cNvPr>
          <p:cNvSpPr/>
          <p:nvPr/>
        </p:nvSpPr>
        <p:spPr>
          <a:xfrm>
            <a:off x="11828661" y="-5813"/>
            <a:ext cx="3465842" cy="696074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Прямокутник 11">
            <a:extLst>
              <a:ext uri="{FF2B5EF4-FFF2-40B4-BE49-F238E27FC236}">
                <a16:creationId xmlns:a16="http://schemas.microsoft.com/office/drawing/2014/main" id="{C61B805B-1EF1-76D5-B5E5-BB1856B320E7}"/>
              </a:ext>
            </a:extLst>
          </p:cNvPr>
          <p:cNvSpPr/>
          <p:nvPr/>
        </p:nvSpPr>
        <p:spPr>
          <a:xfrm>
            <a:off x="11946315" y="2121"/>
            <a:ext cx="3976596" cy="69030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4CB8F82A-20E6-9850-410E-7A3404FD6BFB}"/>
              </a:ext>
            </a:extLst>
          </p:cNvPr>
          <p:cNvSpPr/>
          <p:nvPr/>
        </p:nvSpPr>
        <p:spPr>
          <a:xfrm>
            <a:off x="12076250" y="2121"/>
            <a:ext cx="4545740" cy="6903094"/>
          </a:xfrm>
          <a:prstGeom prst="rect">
            <a:avLst/>
          </a:prstGeom>
          <a:solidFill>
            <a:srgbClr val="3E1B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60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401D2-D02A-784E-CB65-1D58C308E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F6AEA96F-6FCE-7CE7-74D7-9A60B3F3FD3F}"/>
              </a:ext>
            </a:extLst>
          </p:cNvPr>
          <p:cNvSpPr txBox="1"/>
          <p:nvPr/>
        </p:nvSpPr>
        <p:spPr>
          <a:xfrm>
            <a:off x="5816115" y="3275111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7030A0"/>
                </a:solidFill>
                <a:latin typeface="Bahnschrift" panose="020B0502040204020203" pitchFamily="34" charset="0"/>
              </a:rPr>
              <a:t>+670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2" name="Групувати 1">
            <a:extLst>
              <a:ext uri="{FF2B5EF4-FFF2-40B4-BE49-F238E27FC236}">
                <a16:creationId xmlns:a16="http://schemas.microsoft.com/office/drawing/2014/main" id="{326591D4-13D5-ED3B-9978-6B81D0380D3D}"/>
              </a:ext>
            </a:extLst>
          </p:cNvPr>
          <p:cNvGrpSpPr/>
          <p:nvPr/>
        </p:nvGrpSpPr>
        <p:grpSpPr>
          <a:xfrm>
            <a:off x="10546457" y="178308"/>
            <a:ext cx="1120820" cy="920564"/>
            <a:chOff x="10490967" y="246382"/>
            <a:chExt cx="1120820" cy="920564"/>
          </a:xfrm>
        </p:grpSpPr>
        <p:sp>
          <p:nvSpPr>
            <p:cNvPr id="3" name="Шестикутник 2">
              <a:extLst>
                <a:ext uri="{FF2B5EF4-FFF2-40B4-BE49-F238E27FC236}">
                  <a16:creationId xmlns:a16="http://schemas.microsoft.com/office/drawing/2014/main" id="{501659FA-B7C7-7184-899C-1BF23B04EC09}"/>
                </a:ext>
              </a:extLst>
            </p:cNvPr>
            <p:cNvSpPr/>
            <p:nvPr/>
          </p:nvSpPr>
          <p:spPr>
            <a:xfrm rot="5400000">
              <a:off x="10757159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solidFill>
                  <a:srgbClr val="D4C0E2"/>
                </a:solidFill>
              </a:endParaRPr>
            </a:p>
          </p:txBody>
        </p:sp>
        <p:sp>
          <p:nvSpPr>
            <p:cNvPr id="4" name="Прямокутник 3">
              <a:extLst>
                <a:ext uri="{FF2B5EF4-FFF2-40B4-BE49-F238E27FC236}">
                  <a16:creationId xmlns:a16="http://schemas.microsoft.com/office/drawing/2014/main" id="{BDA052A0-2F03-679E-0586-863A4AA629B2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5" name="Рівнобедрений трикутник 4">
              <a:extLst>
                <a:ext uri="{FF2B5EF4-FFF2-40B4-BE49-F238E27FC236}">
                  <a16:creationId xmlns:a16="http://schemas.microsoft.com/office/drawing/2014/main" id="{9A5C3F8D-ED96-4B14-365B-EDE8B1C5D8DD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A39044-F337-6CF1-9317-108F1DF94A93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384C161-DB5A-E013-8346-CD058281A788}"/>
              </a:ext>
            </a:extLst>
          </p:cNvPr>
          <p:cNvSpPr txBox="1"/>
          <p:nvPr/>
        </p:nvSpPr>
        <p:spPr>
          <a:xfrm>
            <a:off x="513339" y="437286"/>
            <a:ext cx="80212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Porovnanie</a:t>
            </a:r>
            <a:r>
              <a:rPr lang="en-GB" sz="4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4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príjmov</a:t>
            </a:r>
            <a:r>
              <a:rPr lang="en-GB" sz="40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4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nákladov</a:t>
            </a:r>
            <a:endParaRPr lang="uk-UA" sz="40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18" name="Таблиця 17">
            <a:extLst>
              <a:ext uri="{FF2B5EF4-FFF2-40B4-BE49-F238E27FC236}">
                <a16:creationId xmlns:a16="http://schemas.microsoft.com/office/drawing/2014/main" id="{2F3315A1-7EBC-C487-5384-BE5206468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793159"/>
              </p:ext>
            </p:extLst>
          </p:nvPr>
        </p:nvGraphicFramePr>
        <p:xfrm>
          <a:off x="858622" y="1800822"/>
          <a:ext cx="3796496" cy="158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8248">
                  <a:extLst>
                    <a:ext uri="{9D8B030D-6E8A-4147-A177-3AD203B41FA5}">
                      <a16:colId xmlns:a16="http://schemas.microsoft.com/office/drawing/2014/main" val="2957269605"/>
                    </a:ext>
                  </a:extLst>
                </a:gridCol>
                <a:gridCol w="1898248">
                  <a:extLst>
                    <a:ext uri="{9D8B030D-6E8A-4147-A177-3AD203B41FA5}">
                      <a16:colId xmlns:a16="http://schemas.microsoft.com/office/drawing/2014/main" val="3135063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 err="1">
                          <a:solidFill>
                            <a:srgbClr val="7030A0"/>
                          </a:solidFill>
                        </a:rPr>
                        <a:t>Ukazovateľ</a:t>
                      </a:r>
                      <a:endParaRPr lang="en-GB" sz="20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2000" dirty="0">
                          <a:solidFill>
                            <a:srgbClr val="7030A0"/>
                          </a:solidFill>
                        </a:rPr>
                        <a:t>Suma (€)</a:t>
                      </a:r>
                      <a:endParaRPr lang="en-GB" sz="20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90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 err="1">
                          <a:solidFill>
                            <a:srgbClr val="7030A0"/>
                          </a:solidFill>
                        </a:rPr>
                        <a:t>Celkové</a:t>
                      </a:r>
                      <a:r>
                        <a:rPr lang="en-GB" sz="2000" b="1" dirty="0">
                          <a:solidFill>
                            <a:srgbClr val="7030A0"/>
                          </a:solidFill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rgbClr val="7030A0"/>
                          </a:solidFill>
                        </a:rPr>
                        <a:t>príjmy</a:t>
                      </a:r>
                      <a:endParaRPr lang="en-GB" sz="20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2000" dirty="0">
                          <a:solidFill>
                            <a:srgbClr val="7030A0"/>
                          </a:solidFill>
                        </a:rPr>
                        <a:t>3 200</a:t>
                      </a:r>
                      <a:endParaRPr lang="uk-UA" sz="20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02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 err="1">
                          <a:solidFill>
                            <a:srgbClr val="7030A0"/>
                          </a:solidFill>
                        </a:rPr>
                        <a:t>Celkové</a:t>
                      </a:r>
                      <a:r>
                        <a:rPr lang="en-GB" sz="2000" b="1" dirty="0">
                          <a:solidFill>
                            <a:srgbClr val="7030A0"/>
                          </a:solidFill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rgbClr val="7030A0"/>
                          </a:solidFill>
                        </a:rPr>
                        <a:t>náklady</a:t>
                      </a:r>
                      <a:endParaRPr lang="en-GB" sz="20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2000" dirty="0">
                          <a:solidFill>
                            <a:srgbClr val="7030A0"/>
                          </a:solidFill>
                        </a:rPr>
                        <a:t>2 530</a:t>
                      </a:r>
                      <a:endParaRPr lang="uk-UA" sz="20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292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>
                          <a:solidFill>
                            <a:srgbClr val="7030A0"/>
                          </a:solidFill>
                        </a:rPr>
                        <a:t>Rozdiel (zisk)</a:t>
                      </a:r>
                      <a:endParaRPr lang="en-GB" sz="200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uk-UA" sz="2000" b="1" dirty="0">
                          <a:solidFill>
                            <a:srgbClr val="7030A0"/>
                          </a:solidFill>
                        </a:rPr>
                        <a:t>+670 €</a:t>
                      </a:r>
                      <a:endParaRPr lang="uk-UA" sz="20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326167"/>
                  </a:ext>
                </a:extLst>
              </a:tr>
            </a:tbl>
          </a:graphicData>
        </a:graphic>
      </p:graphicFrame>
      <p:sp>
        <p:nvSpPr>
          <p:cNvPr id="37" name="Прямокутник 36">
            <a:extLst>
              <a:ext uri="{FF2B5EF4-FFF2-40B4-BE49-F238E27FC236}">
                <a16:creationId xmlns:a16="http://schemas.microsoft.com/office/drawing/2014/main" id="{F31AC36E-A75D-CA9E-574C-64E6CAF9F860}"/>
              </a:ext>
            </a:extLst>
          </p:cNvPr>
          <p:cNvSpPr/>
          <p:nvPr/>
        </p:nvSpPr>
        <p:spPr>
          <a:xfrm rot="5400000">
            <a:off x="8292872" y="3743971"/>
            <a:ext cx="1083809" cy="231493"/>
          </a:xfrm>
          <a:prstGeom prst="rect">
            <a:avLst/>
          </a:prstGeom>
          <a:solidFill>
            <a:srgbClr val="D4C0E2"/>
          </a:solidFill>
          <a:ln>
            <a:solidFill>
              <a:srgbClr val="D4C0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8" name="Прямокутник 37">
            <a:extLst>
              <a:ext uri="{FF2B5EF4-FFF2-40B4-BE49-F238E27FC236}">
                <a16:creationId xmlns:a16="http://schemas.microsoft.com/office/drawing/2014/main" id="{788871F7-E67B-63B0-B00E-2EC8365459B3}"/>
              </a:ext>
            </a:extLst>
          </p:cNvPr>
          <p:cNvSpPr/>
          <p:nvPr/>
        </p:nvSpPr>
        <p:spPr>
          <a:xfrm rot="5400000">
            <a:off x="6867666" y="2580364"/>
            <a:ext cx="1216462" cy="2314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0B970E-80A1-7E55-98DB-10B98148E53E}"/>
              </a:ext>
            </a:extLst>
          </p:cNvPr>
          <p:cNvSpPr txBox="1"/>
          <p:nvPr/>
        </p:nvSpPr>
        <p:spPr>
          <a:xfrm>
            <a:off x="8481373" y="299736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D4C0E2"/>
                </a:solidFill>
                <a:latin typeface="Bahnschrift" panose="020B0502040204020203" pitchFamily="34" charset="0"/>
              </a:rPr>
              <a:t>-2 530</a:t>
            </a:r>
            <a:endParaRPr lang="uk-UA" sz="1400" dirty="0">
              <a:solidFill>
                <a:srgbClr val="D4C0E2"/>
              </a:solidFill>
              <a:latin typeface="Bahnschrift" panose="020B050204020402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881FFC-4671-9822-F29B-6E8682D2F474}"/>
              </a:ext>
            </a:extLst>
          </p:cNvPr>
          <p:cNvSpPr txBox="1"/>
          <p:nvPr/>
        </p:nvSpPr>
        <p:spPr>
          <a:xfrm>
            <a:off x="7157014" y="3317704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7030A0"/>
                </a:solidFill>
                <a:latin typeface="Bahnschrift" panose="020B0502040204020203" pitchFamily="34" charset="0"/>
              </a:rPr>
              <a:t>+3 200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BF1027-734C-12AB-CD31-79457F6A1BCA}"/>
              </a:ext>
            </a:extLst>
          </p:cNvPr>
          <p:cNvSpPr txBox="1"/>
          <p:nvPr/>
        </p:nvSpPr>
        <p:spPr>
          <a:xfrm>
            <a:off x="9486016" y="2408810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7030A0"/>
                </a:solidFill>
                <a:latin typeface="Bahnschrift" panose="020B0502040204020203" pitchFamily="34" charset="0"/>
              </a:rPr>
              <a:t>2 000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86C2A6-6ABA-506A-5245-CD2AAF83872B}"/>
              </a:ext>
            </a:extLst>
          </p:cNvPr>
          <p:cNvSpPr txBox="1"/>
          <p:nvPr/>
        </p:nvSpPr>
        <p:spPr>
          <a:xfrm>
            <a:off x="9486016" y="1673498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7030A0"/>
                </a:solidFill>
                <a:latin typeface="Bahnschrift" panose="020B0502040204020203" pitchFamily="34" charset="0"/>
              </a:rPr>
              <a:t>4 000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CB98C0-217C-FE3B-829F-8F865D9547F4}"/>
              </a:ext>
            </a:extLst>
          </p:cNvPr>
          <p:cNvSpPr txBox="1"/>
          <p:nvPr/>
        </p:nvSpPr>
        <p:spPr>
          <a:xfrm>
            <a:off x="9486016" y="3879434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D4C0E2"/>
                </a:solidFill>
                <a:latin typeface="Bahnschrift" panose="020B0502040204020203" pitchFamily="34" charset="0"/>
              </a:rPr>
              <a:t>-2 000</a:t>
            </a:r>
            <a:endParaRPr lang="uk-UA" sz="1400" dirty="0">
              <a:solidFill>
                <a:srgbClr val="D4C0E2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59" name="Пряма сполучна лінія 58">
            <a:extLst>
              <a:ext uri="{FF2B5EF4-FFF2-40B4-BE49-F238E27FC236}">
                <a16:creationId xmlns:a16="http://schemas.microsoft.com/office/drawing/2014/main" id="{82816920-0A8F-78AD-7A78-20751DD1E9E1}"/>
              </a:ext>
            </a:extLst>
          </p:cNvPr>
          <p:cNvCxnSpPr>
            <a:cxnSpLocks/>
          </p:cNvCxnSpPr>
          <p:nvPr/>
        </p:nvCxnSpPr>
        <p:spPr>
          <a:xfrm>
            <a:off x="5302174" y="4783584"/>
            <a:ext cx="4183842" cy="0"/>
          </a:xfrm>
          <a:prstGeom prst="line">
            <a:avLst/>
          </a:prstGeom>
          <a:ln>
            <a:solidFill>
              <a:srgbClr val="D4C0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267957C-BCBA-A04C-2BBE-B6A61F0FA3BD}"/>
              </a:ext>
            </a:extLst>
          </p:cNvPr>
          <p:cNvSpPr txBox="1"/>
          <p:nvPr/>
        </p:nvSpPr>
        <p:spPr>
          <a:xfrm>
            <a:off x="9486016" y="4614744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D4C0E2"/>
                </a:solidFill>
                <a:latin typeface="Bahnschrift" panose="020B0502040204020203" pitchFamily="34" charset="0"/>
              </a:rPr>
              <a:t>-4 000</a:t>
            </a:r>
            <a:endParaRPr lang="uk-UA" sz="1400" dirty="0">
              <a:solidFill>
                <a:srgbClr val="D4C0E2"/>
              </a:solidFill>
              <a:latin typeface="Bahnschrift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3BCA20-A812-8E12-2B91-B3E40B2848AC}"/>
              </a:ext>
            </a:extLst>
          </p:cNvPr>
          <p:cNvSpPr txBox="1"/>
          <p:nvPr/>
        </p:nvSpPr>
        <p:spPr>
          <a:xfrm>
            <a:off x="9486016" y="314412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996FB8"/>
                </a:solidFill>
                <a:latin typeface="Bahnschrift" panose="020B0502040204020203" pitchFamily="34" charset="0"/>
              </a:rPr>
              <a:t>0</a:t>
            </a:r>
            <a:endParaRPr lang="uk-UA" sz="1400" dirty="0">
              <a:solidFill>
                <a:srgbClr val="996FB8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78" name="Пряма сполучна лінія 77">
            <a:extLst>
              <a:ext uri="{FF2B5EF4-FFF2-40B4-BE49-F238E27FC236}">
                <a16:creationId xmlns:a16="http://schemas.microsoft.com/office/drawing/2014/main" id="{0DF947EB-2F8B-FBA3-972C-65D23DF8CC89}"/>
              </a:ext>
            </a:extLst>
          </p:cNvPr>
          <p:cNvCxnSpPr>
            <a:cxnSpLocks/>
          </p:cNvCxnSpPr>
          <p:nvPr/>
        </p:nvCxnSpPr>
        <p:spPr>
          <a:xfrm>
            <a:off x="5302174" y="4044535"/>
            <a:ext cx="4183842" cy="0"/>
          </a:xfrm>
          <a:prstGeom prst="line">
            <a:avLst/>
          </a:prstGeom>
          <a:ln>
            <a:solidFill>
              <a:srgbClr val="D4C0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 сполучна лінія 78">
            <a:extLst>
              <a:ext uri="{FF2B5EF4-FFF2-40B4-BE49-F238E27FC236}">
                <a16:creationId xmlns:a16="http://schemas.microsoft.com/office/drawing/2014/main" id="{63A76FAE-B025-FFAA-35A5-D41DC4A21887}"/>
              </a:ext>
            </a:extLst>
          </p:cNvPr>
          <p:cNvCxnSpPr>
            <a:cxnSpLocks/>
          </p:cNvCxnSpPr>
          <p:nvPr/>
        </p:nvCxnSpPr>
        <p:spPr>
          <a:xfrm>
            <a:off x="5302174" y="3305485"/>
            <a:ext cx="4183842" cy="0"/>
          </a:xfrm>
          <a:prstGeom prst="line">
            <a:avLst/>
          </a:prstGeom>
          <a:ln>
            <a:solidFill>
              <a:srgbClr val="A278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 сполучна лінія 79">
            <a:extLst>
              <a:ext uri="{FF2B5EF4-FFF2-40B4-BE49-F238E27FC236}">
                <a16:creationId xmlns:a16="http://schemas.microsoft.com/office/drawing/2014/main" id="{B9E8C5B4-1A8C-9888-BF96-620840254CFD}"/>
              </a:ext>
            </a:extLst>
          </p:cNvPr>
          <p:cNvCxnSpPr>
            <a:cxnSpLocks/>
          </p:cNvCxnSpPr>
          <p:nvPr/>
        </p:nvCxnSpPr>
        <p:spPr>
          <a:xfrm>
            <a:off x="5302174" y="2566436"/>
            <a:ext cx="418384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 сполучна лінія 80">
            <a:extLst>
              <a:ext uri="{FF2B5EF4-FFF2-40B4-BE49-F238E27FC236}">
                <a16:creationId xmlns:a16="http://schemas.microsoft.com/office/drawing/2014/main" id="{12C36253-FEC4-0760-4344-504F5311978C}"/>
              </a:ext>
            </a:extLst>
          </p:cNvPr>
          <p:cNvCxnSpPr>
            <a:cxnSpLocks/>
          </p:cNvCxnSpPr>
          <p:nvPr/>
        </p:nvCxnSpPr>
        <p:spPr>
          <a:xfrm>
            <a:off x="5302174" y="1827386"/>
            <a:ext cx="418384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Прямокутник 81">
            <a:extLst>
              <a:ext uri="{FF2B5EF4-FFF2-40B4-BE49-F238E27FC236}">
                <a16:creationId xmlns:a16="http://schemas.microsoft.com/office/drawing/2014/main" id="{12BA0D1A-BE8F-08D1-0676-5EEC9FF1F769}"/>
              </a:ext>
            </a:extLst>
          </p:cNvPr>
          <p:cNvSpPr/>
          <p:nvPr/>
        </p:nvSpPr>
        <p:spPr>
          <a:xfrm rot="5400000">
            <a:off x="6034299" y="3104999"/>
            <a:ext cx="165437" cy="2314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C3047C2A-1A3C-AA11-F14A-D2BDB34BE2CA}"/>
              </a:ext>
            </a:extLst>
          </p:cNvPr>
          <p:cNvSpPr txBox="1"/>
          <p:nvPr/>
        </p:nvSpPr>
        <p:spPr>
          <a:xfrm>
            <a:off x="202313" y="6205404"/>
            <a:ext cx="3198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7030A0"/>
                </a:solidFill>
                <a:latin typeface="Bahnschrift" panose="020B0502040204020203" pitchFamily="34" charset="0"/>
              </a:rPr>
              <a:t>4</a:t>
            </a:r>
            <a:endParaRPr lang="en-US" sz="28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Прямокутник 7">
            <a:extLst>
              <a:ext uri="{FF2B5EF4-FFF2-40B4-BE49-F238E27FC236}">
                <a16:creationId xmlns:a16="http://schemas.microsoft.com/office/drawing/2014/main" id="{17C456E4-6519-3A31-D443-C5ABE1893080}"/>
              </a:ext>
            </a:extLst>
          </p:cNvPr>
          <p:cNvSpPr/>
          <p:nvPr/>
        </p:nvSpPr>
        <p:spPr>
          <a:xfrm>
            <a:off x="11699176" y="-22547"/>
            <a:ext cx="2869053" cy="6960745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8" name="Прямокутник 6">
            <a:extLst>
              <a:ext uri="{FF2B5EF4-FFF2-40B4-BE49-F238E27FC236}">
                <a16:creationId xmlns:a16="http://schemas.microsoft.com/office/drawing/2014/main" id="{035C5583-DC55-F9B4-4632-DC6FA4FC8D8F}"/>
              </a:ext>
            </a:extLst>
          </p:cNvPr>
          <p:cNvSpPr/>
          <p:nvPr/>
        </p:nvSpPr>
        <p:spPr>
          <a:xfrm>
            <a:off x="11828661" y="-5813"/>
            <a:ext cx="3465842" cy="696074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4E23A2AB-B08C-4B84-AA61-FB60858C0718}"/>
              </a:ext>
            </a:extLst>
          </p:cNvPr>
          <p:cNvSpPr/>
          <p:nvPr/>
        </p:nvSpPr>
        <p:spPr>
          <a:xfrm>
            <a:off x="11946315" y="2121"/>
            <a:ext cx="3976596" cy="69030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Прямокутник 11">
            <a:extLst>
              <a:ext uri="{FF2B5EF4-FFF2-40B4-BE49-F238E27FC236}">
                <a16:creationId xmlns:a16="http://schemas.microsoft.com/office/drawing/2014/main" id="{34A6209C-8DD0-D62D-7A9A-332321F97913}"/>
              </a:ext>
            </a:extLst>
          </p:cNvPr>
          <p:cNvSpPr/>
          <p:nvPr/>
        </p:nvSpPr>
        <p:spPr>
          <a:xfrm>
            <a:off x="12076250" y="2121"/>
            <a:ext cx="4545740" cy="6903094"/>
          </a:xfrm>
          <a:prstGeom prst="rect">
            <a:avLst/>
          </a:prstGeom>
          <a:solidFill>
            <a:srgbClr val="3E1B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uk-UA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18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build="allAtOnce"/>
      <p:bldP spid="37" grpId="0" animBg="1"/>
      <p:bldP spid="38" grpId="0" animBg="1"/>
      <p:bldP spid="44" grpId="0" build="allAtOnce"/>
      <p:bldP spid="46" grpId="0" build="allAtOnce"/>
      <p:bldP spid="53" grpId="0" build="allAtOnce"/>
      <p:bldP spid="54" grpId="0" build="allAtOnce"/>
      <p:bldP spid="58" grpId="0" build="allAtOnce"/>
      <p:bldP spid="60" grpId="0" build="allAtOnce"/>
      <p:bldP spid="61" grpId="0" build="allAtOnce"/>
      <p:bldP spid="82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282</Words>
  <Application>Microsoft Office PowerPoint</Application>
  <PresentationFormat>Širokouhlá</PresentationFormat>
  <Paragraphs>124</Paragraphs>
  <Slides>9</Slides>
  <Notes>9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Bahnschrift</vt:lpstr>
      <vt:lpstr>Calibri</vt:lpstr>
      <vt:lpstr>Calibri Light</vt:lpstr>
      <vt:lpstr>Тема Office</vt:lpstr>
      <vt:lpstr>Projekt tímu  DMDEV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Maksis S</dc:creator>
  <cp:lastModifiedBy>Dmytro Sydorenko</cp:lastModifiedBy>
  <cp:revision>102</cp:revision>
  <dcterms:created xsi:type="dcterms:W3CDTF">2025-09-28T09:02:11Z</dcterms:created>
  <dcterms:modified xsi:type="dcterms:W3CDTF">2025-10-27T09:25:50Z</dcterms:modified>
</cp:coreProperties>
</file>