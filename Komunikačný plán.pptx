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E8D3F9"/>
    <a:srgbClr val="B97BF1"/>
    <a:srgbClr val="D6B2F4"/>
    <a:srgbClr val="E0D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3C587-E8FE-2E17-536A-73E49582B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397BE98-7E65-FB57-87FE-621C8998F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9C1EEBC-9CC7-07A8-DA88-73197237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8431F5E-235E-9F1D-2257-8291CD81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F5A61EC-C86F-F17A-F777-9E75FD6C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412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0F378-DFAC-4D0D-3CA3-1A40DAC5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F551A67-402A-8A1B-F68F-44162DE4A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8A8AEB7-5C0D-2BE2-849F-0610CA0B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370879-F59D-3EF0-820B-79B4A0CE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5D0CC2B-91FC-5E22-5D7C-42251E71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29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DEDC07-CDB2-6DD9-476B-4E8D62DC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4084F20-D75E-449A-5D07-D93CAA789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49E816-B419-0F96-9780-62C858BA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FCCD6B-47C8-D08E-61BF-43CD0C51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5136BCB-E243-22B7-A29B-FE346CE3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4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B94C3-AD2F-6DF6-5596-CEE3B974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1231C0-DF51-8762-6776-24FFFC4F9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E0A1F26-2298-7C36-753B-832F62C1E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256706F-2088-11A3-73AC-EF9BD00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A511097-8603-9CEB-1D39-8BAA391B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B53DB2A-C6AD-96EE-705A-76BD641C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7104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C5E81-304F-41D2-E9B2-9B62664C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0A7BB22-D4D8-0EEB-F52D-7B8A569D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E56536A-4ABA-2D2C-77C9-79FEE5C31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CE965CE-3479-B4AA-20F0-C1C89C01A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B7D72F2-33B8-F4B0-83FF-D27BBC856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F220E9B-B53A-93EB-425F-2037D9EE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8F951D5-D19A-16EC-942F-C1C72E59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AE124DF-32A2-FCD0-12E6-38481DBC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563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03F3A-6BAA-0970-052B-7D28E1D1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CEAA0CB-F8C3-3C44-3B37-CA240B9E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ABF43DE-E3FE-901C-C3DF-0878AE9B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63124C0-511D-1717-EFEC-742661F7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266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C6AEE43-6AA8-10D2-A92C-0AE4656D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B613482-D48C-C30D-463B-720DC1011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7FEDA5C-265B-82EF-F64C-D8013F24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446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73C0C-3996-3D7D-AF59-2389B560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DABD23B-8E05-2DD2-E9A1-0D56254A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427D0D6-B3B3-C4B3-A76F-6683FA250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26CDC4E-5755-5E9D-3158-2AC95470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7C767E6-22CA-A866-B2CB-1BA30EF55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9D9E059-CD6E-B38E-E3F2-0072237E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466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BC26C-26C6-1460-C7E9-8A1A9E93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BB44426-98B4-7697-F105-B53049010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065F712-6F8A-759C-A221-F14164E70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7FEE9A1-0E27-3284-564C-BBE3305D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6C39560-EC0D-B390-D231-F5124AF9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6072BC4-0475-C924-41E8-FFD57AA6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355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A47AC-7F9F-8F5E-FC97-67C9B489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8893FB1-10DE-27C2-4DE2-968BEA4A1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0F21E3-F1C1-C9B2-B3FD-4490E6C94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C4C4AD2-72D8-0C45-280D-897D1B1F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D78FFF-5A43-859F-AA4E-46A8E6F2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692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A9B1DB3-015D-6FC4-BAA1-0D2CCC32B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C1DDD1D-6620-7758-E0CF-A7C9A1582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27A3C5D-67AC-3207-6A25-D8FAF93B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A8FF03-AED1-CA34-25D5-FD008060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5915B51-1055-8101-4143-265C8E2E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355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2BC59BB-5DB4-4727-862E-B8B57E32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BE57289-0323-52D4-F8CA-B553BCA17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19671A7-D216-859F-F4B5-AFE4F077B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DF65-9213-4579-9FD8-DC9485BEA346}" type="datetimeFigureOut">
              <a:rPr lang="uk-UA" smtClean="0"/>
              <a:t>01.12.2025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82EE515-E675-5C8B-41B6-73E365E66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4A315CC-ED66-1159-7946-541CEE6E1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018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C79EF05C-AE15-E519-580A-57482284B85E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3979203B-824F-BBD1-09B1-B45650F1D93E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13FB0A-168F-6777-D131-05D7DA2D9AA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0BDFBA-81F2-85EB-01B5-6AC151EA9E23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67B741E-847F-040D-2CCE-3C0BDC68D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C9865634-7ED6-BC6E-2EBC-0137634AA7FF}"/>
              </a:ext>
            </a:extLst>
          </p:cNvPr>
          <p:cNvSpPr txBox="1">
            <a:spLocks/>
          </p:cNvSpPr>
          <p:nvPr/>
        </p:nvSpPr>
        <p:spPr>
          <a:xfrm>
            <a:off x="595303" y="22271"/>
            <a:ext cx="457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Projekt </a:t>
            </a:r>
            <a:r>
              <a:rPr lang="en-GB" sz="6000" b="1" dirty="0" err="1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tímu</a:t>
            </a: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b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DMDEV</a:t>
            </a:r>
            <a:endParaRPr lang="uk-UA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6" name="Пряма сполучна лінія 25">
            <a:extLst>
              <a:ext uri="{FF2B5EF4-FFF2-40B4-BE49-F238E27FC236}">
                <a16:creationId xmlns:a16="http://schemas.microsoft.com/office/drawing/2014/main" id="{A6E99209-EAE4-B393-E5C7-3708B7CD5E1F}"/>
              </a:ext>
            </a:extLst>
          </p:cNvPr>
          <p:cNvCxnSpPr>
            <a:cxnSpLocks/>
          </p:cNvCxnSpPr>
          <p:nvPr/>
        </p:nvCxnSpPr>
        <p:spPr>
          <a:xfrm>
            <a:off x="715267" y="2409871"/>
            <a:ext cx="419003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0916DC-50EA-856D-3F2D-6E09724078B7}"/>
              </a:ext>
            </a:extLst>
          </p:cNvPr>
          <p:cNvSpPr txBox="1"/>
          <p:nvPr/>
        </p:nvSpPr>
        <p:spPr>
          <a:xfrm>
            <a:off x="595303" y="2520630"/>
            <a:ext cx="4410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Slovak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Quiz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02465553-DF70-C942-FEAA-0B460FD7A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78" y="327285"/>
            <a:ext cx="41900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uk-UA" sz="20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Komunikačný</a:t>
            </a:r>
            <a:r>
              <a:rPr kumimoji="0" lang="en-US" altLang="uk-UA" sz="2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uk-UA" sz="20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Bahnschrift" panose="020B0502040204020203" pitchFamily="34" charset="0"/>
              </a:rPr>
              <a:t>plán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97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1ED4-AE8D-1714-BE80-8E3794FD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168641D6-E0E7-E41C-72D7-7E55F6FD127F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40BAF027-82B1-B62B-EEC4-7E28A8921116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A1B67-9C60-F831-8B23-453641C91D6A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</a:t>
            </a:r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334A7-6EBA-3FF3-C692-06D57C52F0A5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BA25DE-CCD2-82D3-0036-8CFE7725F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8561F5-A27C-DC30-CDE2-2CABA8BECD54}"/>
              </a:ext>
            </a:extLst>
          </p:cNvPr>
          <p:cNvSpPr txBox="1"/>
          <p:nvPr/>
        </p:nvSpPr>
        <p:spPr>
          <a:xfrm>
            <a:off x="5350075" y="588621"/>
            <a:ext cx="14918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Bahnschrift" panose="020B0502040204020203" pitchFamily="34" charset="0"/>
              </a:rPr>
              <a:t>P</a:t>
            </a:r>
            <a:r>
              <a:rPr lang="uk-UA" sz="4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lán</a:t>
            </a:r>
            <a:endParaRPr lang="uk-UA" sz="4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B21157C9-B309-4245-8235-DCFEDF24B32A}"/>
              </a:ext>
            </a:extLst>
          </p:cNvPr>
          <p:cNvGrpSpPr/>
          <p:nvPr/>
        </p:nvGrpSpPr>
        <p:grpSpPr>
          <a:xfrm>
            <a:off x="1801009" y="2034627"/>
            <a:ext cx="2299205" cy="3569687"/>
            <a:chOff x="919792" y="2022210"/>
            <a:chExt cx="2299205" cy="3569687"/>
          </a:xfrm>
        </p:grpSpPr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BADE1427-A763-48FE-ABBA-4B0DF29AEDEF}"/>
                </a:ext>
              </a:extLst>
            </p:cNvPr>
            <p:cNvGrpSpPr/>
            <p:nvPr/>
          </p:nvGrpSpPr>
          <p:grpSpPr>
            <a:xfrm>
              <a:off x="919792" y="2022210"/>
              <a:ext cx="2299205" cy="3569687"/>
              <a:chOff x="1659118" y="1637191"/>
              <a:chExt cx="2564090" cy="4069447"/>
            </a:xfrm>
          </p:grpSpPr>
          <p:sp>
            <p:nvSpPr>
              <p:cNvPr id="4" name="Прямокутник: округлені кути 3">
                <a:extLst>
                  <a:ext uri="{FF2B5EF4-FFF2-40B4-BE49-F238E27FC236}">
                    <a16:creationId xmlns:a16="http://schemas.microsoft.com/office/drawing/2014/main" id="{572EF2BC-4757-4CF9-DBF2-9413988814FD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5" name="Прямокутник 4">
                <a:extLst>
                  <a:ext uri="{FF2B5EF4-FFF2-40B4-BE49-F238E27FC236}">
                    <a16:creationId xmlns:a16="http://schemas.microsoft.com/office/drawing/2014/main" id="{9DACF0A9-D5F0-80E0-17ED-F38BFBF475F0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6DF1C6-01E1-21BE-7404-9A136C6C4428}"/>
                  </a:ext>
                </a:extLst>
              </p:cNvPr>
              <p:cNvSpPr txBox="1"/>
              <p:nvPr/>
            </p:nvSpPr>
            <p:spPr>
              <a:xfrm>
                <a:off x="2335869" y="1799046"/>
                <a:ext cx="121058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01.</a:t>
                </a:r>
                <a:endParaRPr lang="uk-UA" sz="72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993783-E106-4532-B218-F2A2AA7B61CB}"/>
                </a:ext>
              </a:extLst>
            </p:cNvPr>
            <p:cNvSpPr txBox="1"/>
            <p:nvPr/>
          </p:nvSpPr>
          <p:spPr>
            <a:xfrm>
              <a:off x="1174550" y="4036180"/>
              <a:ext cx="178968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Stakeholderi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projektu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E5F4B7FA-FC0D-4079-981A-8ABE4D303880}"/>
              </a:ext>
            </a:extLst>
          </p:cNvPr>
          <p:cNvGrpSpPr/>
          <p:nvPr/>
        </p:nvGrpSpPr>
        <p:grpSpPr>
          <a:xfrm>
            <a:off x="4946397" y="2034628"/>
            <a:ext cx="2299205" cy="3569687"/>
            <a:chOff x="6458431" y="2034868"/>
            <a:chExt cx="2299205" cy="3569687"/>
          </a:xfrm>
        </p:grpSpPr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B9A2DC3F-6274-40C2-8E4B-867B97AAD8A3}"/>
                </a:ext>
              </a:extLst>
            </p:cNvPr>
            <p:cNvGrpSpPr/>
            <p:nvPr/>
          </p:nvGrpSpPr>
          <p:grpSpPr>
            <a:xfrm>
              <a:off x="6458431" y="2034868"/>
              <a:ext cx="2299205" cy="3569687"/>
              <a:chOff x="1659118" y="1637191"/>
              <a:chExt cx="2564090" cy="4069447"/>
            </a:xfrm>
          </p:grpSpPr>
          <p:sp>
            <p:nvSpPr>
              <p:cNvPr id="33" name="Прямокутник: округлені кути 3">
                <a:extLst>
                  <a:ext uri="{FF2B5EF4-FFF2-40B4-BE49-F238E27FC236}">
                    <a16:creationId xmlns:a16="http://schemas.microsoft.com/office/drawing/2014/main" id="{7EC2EFA7-6F59-4C1F-BA65-F5DCF1503720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4" name="Прямокутник 4">
                <a:extLst>
                  <a:ext uri="{FF2B5EF4-FFF2-40B4-BE49-F238E27FC236}">
                    <a16:creationId xmlns:a16="http://schemas.microsoft.com/office/drawing/2014/main" id="{116DD6EC-19F8-4FDD-9179-1E81BC509098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A143DE-24EF-470D-BB3F-7EC93F97617C}"/>
                  </a:ext>
                </a:extLst>
              </p:cNvPr>
              <p:cNvSpPr txBox="1"/>
              <p:nvPr/>
            </p:nvSpPr>
            <p:spPr>
              <a:xfrm>
                <a:off x="2335869" y="1799046"/>
                <a:ext cx="1541339" cy="1368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</a:t>
                </a:r>
                <a:r>
                  <a:rPr lang="ru-RU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2</a:t>
                </a:r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.</a:t>
                </a:r>
                <a:endParaRPr lang="uk-UA" sz="72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879A739-C953-4AD7-B2DE-22280622166B}"/>
                </a:ext>
              </a:extLst>
            </p:cNvPr>
            <p:cNvSpPr txBox="1"/>
            <p:nvPr/>
          </p:nvSpPr>
          <p:spPr>
            <a:xfrm>
              <a:off x="6518310" y="4036180"/>
              <a:ext cx="217944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Komunikačné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nástroje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a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kanály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40C0FEA-13E7-498F-B4AE-363A94285342}"/>
              </a:ext>
            </a:extLst>
          </p:cNvPr>
          <p:cNvGrpSpPr/>
          <p:nvPr/>
        </p:nvGrpSpPr>
        <p:grpSpPr>
          <a:xfrm>
            <a:off x="8091786" y="2034627"/>
            <a:ext cx="2299205" cy="3569687"/>
            <a:chOff x="9364475" y="2034869"/>
            <a:chExt cx="2299205" cy="3569687"/>
          </a:xfrm>
        </p:grpSpPr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7BE466F5-621C-4F06-92C5-6E97B0356021}"/>
                </a:ext>
              </a:extLst>
            </p:cNvPr>
            <p:cNvGrpSpPr/>
            <p:nvPr/>
          </p:nvGrpSpPr>
          <p:grpSpPr>
            <a:xfrm>
              <a:off x="9364475" y="2034869"/>
              <a:ext cx="2299205" cy="3569687"/>
              <a:chOff x="1659118" y="1637191"/>
              <a:chExt cx="2564090" cy="4069447"/>
            </a:xfrm>
          </p:grpSpPr>
          <p:sp>
            <p:nvSpPr>
              <p:cNvPr id="37" name="Прямокутник: округлені кути 3">
                <a:extLst>
                  <a:ext uri="{FF2B5EF4-FFF2-40B4-BE49-F238E27FC236}">
                    <a16:creationId xmlns:a16="http://schemas.microsoft.com/office/drawing/2014/main" id="{535542D8-EE80-4715-BA8D-552EF677983F}"/>
                  </a:ext>
                </a:extLst>
              </p:cNvPr>
              <p:cNvSpPr/>
              <p:nvPr/>
            </p:nvSpPr>
            <p:spPr>
              <a:xfrm>
                <a:off x="1659118" y="1637191"/>
                <a:ext cx="2564090" cy="4069447"/>
              </a:xfrm>
              <a:prstGeom prst="roundRect">
                <a:avLst>
                  <a:gd name="adj" fmla="val 6741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8" name="Прямокутник 4">
                <a:extLst>
                  <a:ext uri="{FF2B5EF4-FFF2-40B4-BE49-F238E27FC236}">
                    <a16:creationId xmlns:a16="http://schemas.microsoft.com/office/drawing/2014/main" id="{49F65A1A-5E84-487B-A602-63A8991B3749}"/>
                  </a:ext>
                </a:extLst>
              </p:cNvPr>
              <p:cNvSpPr/>
              <p:nvPr/>
            </p:nvSpPr>
            <p:spPr>
              <a:xfrm>
                <a:off x="1659118" y="3199682"/>
                <a:ext cx="2564090" cy="45719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2D5763F-B831-444B-AF8E-C47BDB1FCC1A}"/>
                  </a:ext>
                </a:extLst>
              </p:cNvPr>
              <p:cNvSpPr txBox="1"/>
              <p:nvPr/>
            </p:nvSpPr>
            <p:spPr>
              <a:xfrm>
                <a:off x="2335869" y="1799046"/>
                <a:ext cx="1553852" cy="1368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0</a:t>
                </a:r>
                <a:r>
                  <a:rPr lang="ru-RU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3</a:t>
                </a:r>
                <a:r>
                  <a:rPr lang="en-GB" sz="7200" dirty="0">
                    <a:solidFill>
                      <a:srgbClr val="7030A0"/>
                    </a:solidFill>
                    <a:latin typeface="Bahnschrift" panose="020B0502040204020203" pitchFamily="34" charset="0"/>
                  </a:rPr>
                  <a:t>.</a:t>
                </a:r>
                <a:endParaRPr lang="uk-UA" sz="72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5D75FA1-7091-40E3-A49A-DEF8C91355D7}"/>
                </a:ext>
              </a:extLst>
            </p:cNvPr>
            <p:cNvSpPr txBox="1"/>
            <p:nvPr/>
          </p:nvSpPr>
          <p:spPr>
            <a:xfrm>
              <a:off x="9424354" y="4036180"/>
              <a:ext cx="217944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“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Komunikačná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matica</a:t>
              </a:r>
              <a:r>
                <a:rPr lang="en-US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750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38F17B17-F560-E3BA-026C-5BDE3CF7F3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17308-51E3-AF63-ECF3-B93A7A693EA3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50F43307-B02F-93B2-742E-274D595376B0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4BFB9ED2-1ED9-1E48-7E05-C48F1D6D5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51FDC2D8-323D-0DA2-FECC-5353862559D6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67A014-CFD0-EA43-2FE8-3F13AD0CC53D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4640B39-BDB7-E815-4A25-2487B6C8B148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EB83D-EB61-A831-40AD-60255836DAA3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01.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6EAB4-FC8A-43CC-877E-83060E2D82B7}"/>
              </a:ext>
            </a:extLst>
          </p:cNvPr>
          <p:cNvSpPr txBox="1"/>
          <p:nvPr/>
        </p:nvSpPr>
        <p:spPr>
          <a:xfrm>
            <a:off x="512687" y="3385780"/>
            <a:ext cx="62735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Stakeholderi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projektu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(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účastníci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7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9F79A0DB-6436-B8BE-0C0D-41C387E2375D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FB886-46B2-B2BB-5981-CF3A3F6791CC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97CC2-68A2-EE5B-9DE3-7CD0A1B02AE1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F4640F-EF79-1C5D-E02E-89C5D4BF9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1D0F8A-699F-6E03-A62A-4645334C4635}"/>
              </a:ext>
            </a:extLst>
          </p:cNvPr>
          <p:cNvSpPr txBox="1"/>
          <p:nvPr/>
        </p:nvSpPr>
        <p:spPr>
          <a:xfrm>
            <a:off x="434049" y="346843"/>
            <a:ext cx="44221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Stakeholderi</a:t>
            </a:r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</a:p>
          <a:p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(</a:t>
            </a:r>
            <a:r>
              <a:rPr lang="en-US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účastníci</a:t>
            </a:r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)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974AE72B-B75D-15A1-B9A1-95D69C6DDC10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742F000-8188-4874-B2FC-629F7F55B89E}"/>
              </a:ext>
            </a:extLst>
          </p:cNvPr>
          <p:cNvGrpSpPr/>
          <p:nvPr/>
        </p:nvGrpSpPr>
        <p:grpSpPr>
          <a:xfrm>
            <a:off x="1614011" y="3989100"/>
            <a:ext cx="811306" cy="1374392"/>
            <a:chOff x="2108947" y="2662518"/>
            <a:chExt cx="811306" cy="1374392"/>
          </a:xfrm>
        </p:grpSpPr>
        <p:sp>
          <p:nvSpPr>
            <p:cNvPr id="2" name="Арка 1">
              <a:extLst>
                <a:ext uri="{FF2B5EF4-FFF2-40B4-BE49-F238E27FC236}">
                  <a16:creationId xmlns:a16="http://schemas.microsoft.com/office/drawing/2014/main" id="{9D8F858F-6EAB-46D7-975C-7278BA8AE4B5}"/>
                </a:ext>
              </a:extLst>
            </p:cNvPr>
            <p:cNvSpPr/>
            <p:nvPr/>
          </p:nvSpPr>
          <p:spPr>
            <a:xfrm>
              <a:off x="2108947" y="3167333"/>
              <a:ext cx="811306" cy="869577"/>
            </a:xfrm>
            <a:prstGeom prst="blockArc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" name="Блок-схема: узел 2">
              <a:extLst>
                <a:ext uri="{FF2B5EF4-FFF2-40B4-BE49-F238E27FC236}">
                  <a16:creationId xmlns:a16="http://schemas.microsoft.com/office/drawing/2014/main" id="{3BD7465A-A254-466C-AEC9-6B5963A8EA5A}"/>
                </a:ext>
              </a:extLst>
            </p:cNvPr>
            <p:cNvSpPr/>
            <p:nvPr/>
          </p:nvSpPr>
          <p:spPr>
            <a:xfrm>
              <a:off x="2277035" y="2662518"/>
              <a:ext cx="475130" cy="457200"/>
            </a:xfrm>
            <a:prstGeom prst="flowChartConnector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E975D74-764A-4CD0-8EFF-9ED30E996A45}"/>
              </a:ext>
            </a:extLst>
          </p:cNvPr>
          <p:cNvGrpSpPr/>
          <p:nvPr/>
        </p:nvGrpSpPr>
        <p:grpSpPr>
          <a:xfrm>
            <a:off x="3951365" y="2307013"/>
            <a:ext cx="811306" cy="1374392"/>
            <a:chOff x="2108947" y="2662518"/>
            <a:chExt cx="811306" cy="1374392"/>
          </a:xfrm>
        </p:grpSpPr>
        <p:sp>
          <p:nvSpPr>
            <p:cNvPr id="21" name="Арка 20">
              <a:extLst>
                <a:ext uri="{FF2B5EF4-FFF2-40B4-BE49-F238E27FC236}">
                  <a16:creationId xmlns:a16="http://schemas.microsoft.com/office/drawing/2014/main" id="{3DE97A94-0E50-44A7-B436-28D257F33111}"/>
                </a:ext>
              </a:extLst>
            </p:cNvPr>
            <p:cNvSpPr/>
            <p:nvPr/>
          </p:nvSpPr>
          <p:spPr>
            <a:xfrm>
              <a:off x="2108947" y="3167333"/>
              <a:ext cx="811306" cy="869577"/>
            </a:xfrm>
            <a:prstGeom prst="blockArc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Блок-схема: узел 22">
              <a:extLst>
                <a:ext uri="{FF2B5EF4-FFF2-40B4-BE49-F238E27FC236}">
                  <a16:creationId xmlns:a16="http://schemas.microsoft.com/office/drawing/2014/main" id="{131A4FF7-C8B0-4487-B94D-E2C9EACD8D22}"/>
                </a:ext>
              </a:extLst>
            </p:cNvPr>
            <p:cNvSpPr/>
            <p:nvPr/>
          </p:nvSpPr>
          <p:spPr>
            <a:xfrm>
              <a:off x="2277035" y="2662518"/>
              <a:ext cx="475130" cy="457200"/>
            </a:xfrm>
            <a:prstGeom prst="flowChartConnector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D7494C6-2AA0-4D1D-9DFA-AFFEB17E040B}"/>
              </a:ext>
            </a:extLst>
          </p:cNvPr>
          <p:cNvGrpSpPr/>
          <p:nvPr/>
        </p:nvGrpSpPr>
        <p:grpSpPr>
          <a:xfrm>
            <a:off x="7597419" y="2307013"/>
            <a:ext cx="811306" cy="1374392"/>
            <a:chOff x="2108947" y="2662518"/>
            <a:chExt cx="811306" cy="1374392"/>
          </a:xfrm>
        </p:grpSpPr>
        <p:sp>
          <p:nvSpPr>
            <p:cNvPr id="25" name="Арка 24">
              <a:extLst>
                <a:ext uri="{FF2B5EF4-FFF2-40B4-BE49-F238E27FC236}">
                  <a16:creationId xmlns:a16="http://schemas.microsoft.com/office/drawing/2014/main" id="{467D1F01-B250-4A8F-9FCD-81B9AD039916}"/>
                </a:ext>
              </a:extLst>
            </p:cNvPr>
            <p:cNvSpPr/>
            <p:nvPr/>
          </p:nvSpPr>
          <p:spPr>
            <a:xfrm>
              <a:off x="2108947" y="3167333"/>
              <a:ext cx="811306" cy="869577"/>
            </a:xfrm>
            <a:prstGeom prst="blockArc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Блок-схема: узел 26">
              <a:extLst>
                <a:ext uri="{FF2B5EF4-FFF2-40B4-BE49-F238E27FC236}">
                  <a16:creationId xmlns:a16="http://schemas.microsoft.com/office/drawing/2014/main" id="{96968561-CAF8-40AA-BED8-CB1342711DD5}"/>
                </a:ext>
              </a:extLst>
            </p:cNvPr>
            <p:cNvSpPr/>
            <p:nvPr/>
          </p:nvSpPr>
          <p:spPr>
            <a:xfrm>
              <a:off x="2277035" y="2662518"/>
              <a:ext cx="475130" cy="457200"/>
            </a:xfrm>
            <a:prstGeom prst="flowChartConnector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965D69D-D199-482A-98CB-B74CCB1E486B}"/>
              </a:ext>
            </a:extLst>
          </p:cNvPr>
          <p:cNvGrpSpPr/>
          <p:nvPr/>
        </p:nvGrpSpPr>
        <p:grpSpPr>
          <a:xfrm>
            <a:off x="9766683" y="3989100"/>
            <a:ext cx="811306" cy="1374392"/>
            <a:chOff x="2108947" y="2662518"/>
            <a:chExt cx="811306" cy="1374392"/>
          </a:xfrm>
        </p:grpSpPr>
        <p:sp>
          <p:nvSpPr>
            <p:cNvPr id="29" name="Арка 28">
              <a:extLst>
                <a:ext uri="{FF2B5EF4-FFF2-40B4-BE49-F238E27FC236}">
                  <a16:creationId xmlns:a16="http://schemas.microsoft.com/office/drawing/2014/main" id="{57A35D41-960D-4F51-AC2D-525F5AA78B94}"/>
                </a:ext>
              </a:extLst>
            </p:cNvPr>
            <p:cNvSpPr/>
            <p:nvPr/>
          </p:nvSpPr>
          <p:spPr>
            <a:xfrm>
              <a:off x="2108947" y="3167333"/>
              <a:ext cx="811306" cy="869577"/>
            </a:xfrm>
            <a:prstGeom prst="blockArc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Блок-схема: узел 29">
              <a:extLst>
                <a:ext uri="{FF2B5EF4-FFF2-40B4-BE49-F238E27FC236}">
                  <a16:creationId xmlns:a16="http://schemas.microsoft.com/office/drawing/2014/main" id="{4E39B680-EB72-4CB7-BC49-82AC68B02F37}"/>
                </a:ext>
              </a:extLst>
            </p:cNvPr>
            <p:cNvSpPr/>
            <p:nvPr/>
          </p:nvSpPr>
          <p:spPr>
            <a:xfrm>
              <a:off x="2277035" y="2662518"/>
              <a:ext cx="475130" cy="457200"/>
            </a:xfrm>
            <a:prstGeom prst="flowChartConnector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B07E0C8-08C7-49F4-9CD5-A222D42BB891}"/>
              </a:ext>
            </a:extLst>
          </p:cNvPr>
          <p:cNvSpPr txBox="1"/>
          <p:nvPr/>
        </p:nvSpPr>
        <p:spPr>
          <a:xfrm>
            <a:off x="629622" y="4928703"/>
            <a:ext cx="2780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dirty="0">
                <a:solidFill>
                  <a:srgbClr val="7030A0"/>
                </a:solidFill>
                <a:latin typeface="Bahnschrift" panose="020B0502040204020203" pitchFamily="34" charset="0"/>
              </a:rPr>
              <a:t>Projektový tím a realizátori projektu</a:t>
            </a:r>
            <a:endParaRPr lang="en-US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5CDE8C-0E0D-47A4-95A7-993260816ACD}"/>
              </a:ext>
            </a:extLst>
          </p:cNvPr>
          <p:cNvSpPr txBox="1"/>
          <p:nvPr/>
        </p:nvSpPr>
        <p:spPr>
          <a:xfrm>
            <a:off x="3081271" y="3277833"/>
            <a:ext cx="2551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rgbClr val="7030A0"/>
                </a:solidFill>
                <a:latin typeface="Bahnschrift" panose="020B0502040204020203" pitchFamily="34" charset="0"/>
              </a:rPr>
              <a:t>Grantové agentúry, fondy a sponzori</a:t>
            </a:r>
            <a:endParaRPr lang="en-US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9B9439-9DDB-4BA6-90A2-C1A3A1C76729}"/>
              </a:ext>
            </a:extLst>
          </p:cNvPr>
          <p:cNvSpPr txBox="1"/>
          <p:nvPr/>
        </p:nvSpPr>
        <p:spPr>
          <a:xfrm>
            <a:off x="6846449" y="3265619"/>
            <a:ext cx="2313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Používatelia</a:t>
            </a:r>
            <a:r>
              <a:rPr lang="en-US" dirty="0">
                <a:solidFill>
                  <a:srgbClr val="7030A0"/>
                </a:solidFill>
                <a:latin typeface="Bahnschrift" panose="020B0502040204020203" pitchFamily="34" charset="0"/>
              </a:rPr>
              <a:t> – </a:t>
            </a:r>
            <a:r>
              <a:rPr lang="en-US" dirty="0" err="1">
                <a:solidFill>
                  <a:srgbClr val="7030A0"/>
                </a:solidFill>
                <a:latin typeface="Bahnschrift" panose="020B0502040204020203" pitchFamily="34" charset="0"/>
              </a:rPr>
              <a:t>zahraniční</a:t>
            </a:r>
            <a:r>
              <a:rPr lang="en-US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študenti</a:t>
            </a:r>
            <a:endParaRPr lang="en-US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B6B5F7-3247-473C-84D1-DB61A8629127}"/>
              </a:ext>
            </a:extLst>
          </p:cNvPr>
          <p:cNvSpPr txBox="1"/>
          <p:nvPr/>
        </p:nvSpPr>
        <p:spPr>
          <a:xfrm>
            <a:off x="8876441" y="4928702"/>
            <a:ext cx="2591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Konkurencia</a:t>
            </a:r>
            <a:r>
              <a:rPr lang="en-US" dirty="0">
                <a:solidFill>
                  <a:srgbClr val="7030A0"/>
                </a:solidFill>
                <a:latin typeface="Bahnschrift" panose="020B0502040204020203" pitchFamily="34" charset="0"/>
              </a:rPr>
              <a:t> – </a:t>
            </a:r>
            <a:r>
              <a:rPr lang="en-US" dirty="0" err="1">
                <a:solidFill>
                  <a:srgbClr val="7030A0"/>
                </a:solidFill>
                <a:latin typeface="Bahnschrift" panose="020B0502040204020203" pitchFamily="34" charset="0"/>
              </a:rPr>
              <a:t>iné</a:t>
            </a:r>
            <a:r>
              <a:rPr lang="en-US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Bahnschrift" panose="020B0502040204020203" pitchFamily="34" charset="0"/>
              </a:rPr>
              <a:t>vzdelávacie</a:t>
            </a:r>
            <a:r>
              <a:rPr lang="en-US" dirty="0">
                <a:solidFill>
                  <a:srgbClr val="7030A0"/>
                </a:solidFill>
                <a:latin typeface="Bahnschrift" panose="020B0502040204020203" pitchFamily="34" charset="0"/>
              </a:rPr>
              <a:t> platformy</a:t>
            </a:r>
          </a:p>
        </p:txBody>
      </p:sp>
    </p:spTree>
    <p:extLst>
      <p:ext uri="{BB962C8B-B14F-4D97-AF65-F5344CB8AC3E}">
        <p14:creationId xmlns:p14="http://schemas.microsoft.com/office/powerpoint/2010/main" val="10397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2B67-14E4-597F-D528-B4AF163B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D33878D-0E07-965B-5F7A-9D4CC39908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9920B-5A96-FC11-344E-9B8C7874371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39872AE2-6E18-6D6E-32A8-E9446FBFADBA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3924AD4-9CAA-A3D5-8F5C-A23DB3979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EC56455D-EB67-C0DC-CAFE-584A08D94293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33151CD-B2D1-3830-E6B1-D2D02C26EE06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ADA19B-38E8-DC3E-6F93-8FC9E1429ECF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DD4B7-4A22-1794-BCC8-1742A4082201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</a:t>
            </a:r>
            <a:r>
              <a:rPr lang="ru-RU" sz="32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79698-4517-46B4-BFDD-218433AF6611}"/>
              </a:ext>
            </a:extLst>
          </p:cNvPr>
          <p:cNvSpPr txBox="1"/>
          <p:nvPr/>
        </p:nvSpPr>
        <p:spPr>
          <a:xfrm>
            <a:off x="512686" y="3385780"/>
            <a:ext cx="7427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Komunikačné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nástroje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a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kanály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637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D2E5-F033-D3F0-2B8B-C7E5AA7B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C37CDE-73B8-117A-9ACE-C7B0396E0D94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5F749-AECE-617A-38CB-D27EFFF3850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56470-C888-7027-4F85-7769F7386D6B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C42B11-18B1-B32E-7944-BA13B0B8D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2ABCADB-FAE3-4F48-E3AB-A3749BB72A93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D1769-9AD3-B559-7ED7-6E6326686F6C}"/>
              </a:ext>
            </a:extLst>
          </p:cNvPr>
          <p:cNvSpPr txBox="1"/>
          <p:nvPr/>
        </p:nvSpPr>
        <p:spPr>
          <a:xfrm>
            <a:off x="434049" y="346843"/>
            <a:ext cx="48461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Komunikačné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nástroje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kanály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Прямокутник: округлені кути 12">
            <a:extLst>
              <a:ext uri="{FF2B5EF4-FFF2-40B4-BE49-F238E27FC236}">
                <a16:creationId xmlns:a16="http://schemas.microsoft.com/office/drawing/2014/main" id="{F10C7D50-5EF2-4365-B32E-BC31E01FD96F}"/>
              </a:ext>
            </a:extLst>
          </p:cNvPr>
          <p:cNvSpPr/>
          <p:nvPr/>
        </p:nvSpPr>
        <p:spPr>
          <a:xfrm rot="5400000">
            <a:off x="8399351" y="-328057"/>
            <a:ext cx="2086214" cy="4504542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18D4759-C502-4E00-938B-6F2918F28053}"/>
              </a:ext>
            </a:extLst>
          </p:cNvPr>
          <p:cNvGrpSpPr/>
          <p:nvPr/>
        </p:nvGrpSpPr>
        <p:grpSpPr>
          <a:xfrm>
            <a:off x="673227" y="2259927"/>
            <a:ext cx="6110068" cy="2930637"/>
            <a:chOff x="798732" y="1713080"/>
            <a:chExt cx="6110068" cy="2930637"/>
          </a:xfrm>
        </p:grpSpPr>
        <p:grpSp>
          <p:nvGrpSpPr>
            <p:cNvPr id="17" name="Групувати 25">
              <a:extLst>
                <a:ext uri="{FF2B5EF4-FFF2-40B4-BE49-F238E27FC236}">
                  <a16:creationId xmlns:a16="http://schemas.microsoft.com/office/drawing/2014/main" id="{01011F27-E099-428A-8734-654CEE0538A2}"/>
                </a:ext>
              </a:extLst>
            </p:cNvPr>
            <p:cNvGrpSpPr/>
            <p:nvPr/>
          </p:nvGrpSpPr>
          <p:grpSpPr>
            <a:xfrm>
              <a:off x="798732" y="1713080"/>
              <a:ext cx="6110068" cy="2930637"/>
              <a:chOff x="798732" y="1496135"/>
              <a:chExt cx="6110068" cy="3624506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BD8D20-1B9C-444B-9010-912EA2C0098A}"/>
                  </a:ext>
                </a:extLst>
              </p:cNvPr>
              <p:cNvSpPr txBox="1"/>
              <p:nvPr/>
            </p:nvSpPr>
            <p:spPr>
              <a:xfrm>
                <a:off x="888861" y="1631813"/>
                <a:ext cx="601993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endParaRPr>
              </a:p>
            </p:txBody>
          </p:sp>
          <p:sp>
            <p:nvSpPr>
              <p:cNvPr id="19" name="Прямокутник: округлені кути 21">
                <a:extLst>
                  <a:ext uri="{FF2B5EF4-FFF2-40B4-BE49-F238E27FC236}">
                    <a16:creationId xmlns:a16="http://schemas.microsoft.com/office/drawing/2014/main" id="{8E533233-CE8A-40AD-AA61-B1341479BB1B}"/>
                  </a:ext>
                </a:extLst>
              </p:cNvPr>
              <p:cNvSpPr/>
              <p:nvPr/>
            </p:nvSpPr>
            <p:spPr>
              <a:xfrm rot="5400000">
                <a:off x="1965315" y="329552"/>
                <a:ext cx="3624506" cy="5957671"/>
              </a:xfrm>
              <a:prstGeom prst="roundRect">
                <a:avLst>
                  <a:gd name="adj" fmla="val 3097"/>
                </a:avLst>
              </a:pr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85F780-505F-46DD-BCE9-733A8D98072C}"/>
                </a:ext>
              </a:extLst>
            </p:cNvPr>
            <p:cNvSpPr txBox="1"/>
            <p:nvPr/>
          </p:nvSpPr>
          <p:spPr>
            <a:xfrm>
              <a:off x="878686" y="1824853"/>
              <a:ext cx="5755196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V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projekte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Slovak Quiz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používame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na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internú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komunikáciu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hlavne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Microsoft Teams,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kde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máme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spoločný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chat,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videomeetingy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a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zdieľané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súbory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ďalej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e-mail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na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formálnejšie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správy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skupinu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na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WhatsAppe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na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rýchle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operatívne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dohodnutia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a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nástroj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Kanban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na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plánovanie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úloh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a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sledovanie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progresu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celého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en-US" sz="20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tímu</a:t>
              </a:r>
              <a:r>
                <a:rPr lang="en-US" sz="20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.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1F68418-1DB7-467A-A934-C31886BEFA74}"/>
              </a:ext>
            </a:extLst>
          </p:cNvPr>
          <p:cNvSpPr txBox="1"/>
          <p:nvPr/>
        </p:nvSpPr>
        <p:spPr>
          <a:xfrm>
            <a:off x="7253410" y="970938"/>
            <a:ext cx="45045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Na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externú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komunikáciu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využívame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samotný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web Slovak Quiz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ako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hlavný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kanál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pre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používateľov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online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dotazníky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formuláre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zbieranie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spätnej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väzby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od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zahraničných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študentov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sociálne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siete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ako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Instagram a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študentské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Facebook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skupiny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propagáciu</a:t>
            </a:r>
            <a:r>
              <a:rPr lang="en-US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projektu</a:t>
            </a:r>
            <a:endParaRPr lang="en-US" sz="16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949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2B67-14E4-597F-D528-B4AF163B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D33878D-0E07-965B-5F7A-9D4CC39908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9920B-5A96-FC11-344E-9B8C7874371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39872AE2-6E18-6D6E-32A8-E9446FBFADBA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3924AD4-9CAA-A3D5-8F5C-A23DB3979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EC56455D-EB67-C0DC-CAFE-584A08D94293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33151CD-B2D1-3830-E6B1-D2D02C26EE06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ADA19B-38E8-DC3E-6F93-8FC9E1429ECF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DD4B7-4A22-1794-BCC8-1742A4082201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</a:t>
            </a:r>
            <a:r>
              <a:rPr lang="ru-RU" sz="3200" dirty="0">
                <a:solidFill>
                  <a:schemeClr val="bg1"/>
                </a:solidFill>
                <a:latin typeface="Bahnschrift" panose="020B0502040204020203" pitchFamily="34" charset="0"/>
              </a:rPr>
              <a:t>3</a:t>
            </a:r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79698-4517-46B4-BFDD-218433AF6611}"/>
              </a:ext>
            </a:extLst>
          </p:cNvPr>
          <p:cNvSpPr txBox="1"/>
          <p:nvPr/>
        </p:nvSpPr>
        <p:spPr>
          <a:xfrm>
            <a:off x="512687" y="3385780"/>
            <a:ext cx="6038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Komunikačná</a:t>
            </a:r>
            <a:r>
              <a:rPr lang="en-US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matica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77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D2E5-F033-D3F0-2B8B-C7E5AA7B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C37CDE-73B8-117A-9ACE-C7B0396E0D94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5F749-AECE-617A-38CB-D27EFFF38501}"/>
              </a:ext>
            </a:extLst>
          </p:cNvPr>
          <p:cNvSpPr txBox="1"/>
          <p:nvPr/>
        </p:nvSpPr>
        <p:spPr>
          <a:xfrm rot="16200000">
            <a:off x="-244594" y="404276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Dec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56470-C888-7027-4F85-7769F7386D6B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C42B11-18B1-B32E-7944-BA13B0B8D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2ABCADB-FAE3-4F48-E3AB-A3749BB72A93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D1769-9AD3-B559-7ED7-6E6326686F6C}"/>
              </a:ext>
            </a:extLst>
          </p:cNvPr>
          <p:cNvSpPr txBox="1"/>
          <p:nvPr/>
        </p:nvSpPr>
        <p:spPr>
          <a:xfrm>
            <a:off x="434049" y="346843"/>
            <a:ext cx="41105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K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omunikačná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matica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aphicFrame>
        <p:nvGraphicFramePr>
          <p:cNvPr id="3" name="Таблица 9">
            <a:extLst>
              <a:ext uri="{FF2B5EF4-FFF2-40B4-BE49-F238E27FC236}">
                <a16:creationId xmlns:a16="http://schemas.microsoft.com/office/drawing/2014/main" id="{45F8FBDE-3212-4520-873B-3BA05869A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090266"/>
              </p:ext>
            </p:extLst>
          </p:nvPr>
        </p:nvGraphicFramePr>
        <p:xfrm>
          <a:off x="673249" y="970938"/>
          <a:ext cx="11106570" cy="560380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76892">
                  <a:extLst>
                    <a:ext uri="{9D8B030D-6E8A-4147-A177-3AD203B41FA5}">
                      <a16:colId xmlns:a16="http://schemas.microsoft.com/office/drawing/2014/main" val="198616637"/>
                    </a:ext>
                  </a:extLst>
                </a:gridCol>
                <a:gridCol w="2125298">
                  <a:extLst>
                    <a:ext uri="{9D8B030D-6E8A-4147-A177-3AD203B41FA5}">
                      <a16:colId xmlns:a16="http://schemas.microsoft.com/office/drawing/2014/main" val="1112338955"/>
                    </a:ext>
                  </a:extLst>
                </a:gridCol>
                <a:gridCol w="1851095">
                  <a:extLst>
                    <a:ext uri="{9D8B030D-6E8A-4147-A177-3AD203B41FA5}">
                      <a16:colId xmlns:a16="http://schemas.microsoft.com/office/drawing/2014/main" val="2068992553"/>
                    </a:ext>
                  </a:extLst>
                </a:gridCol>
                <a:gridCol w="1851095">
                  <a:extLst>
                    <a:ext uri="{9D8B030D-6E8A-4147-A177-3AD203B41FA5}">
                      <a16:colId xmlns:a16="http://schemas.microsoft.com/office/drawing/2014/main" val="3176501699"/>
                    </a:ext>
                  </a:extLst>
                </a:gridCol>
                <a:gridCol w="1577359">
                  <a:extLst>
                    <a:ext uri="{9D8B030D-6E8A-4147-A177-3AD203B41FA5}">
                      <a16:colId xmlns:a16="http://schemas.microsoft.com/office/drawing/2014/main" val="2710783087"/>
                    </a:ext>
                  </a:extLst>
                </a:gridCol>
                <a:gridCol w="2124831">
                  <a:extLst>
                    <a:ext uri="{9D8B030D-6E8A-4147-A177-3AD203B41FA5}">
                      <a16:colId xmlns:a16="http://schemas.microsoft.com/office/drawing/2014/main" val="2683965221"/>
                    </a:ext>
                  </a:extLst>
                </a:gridCol>
              </a:tblGrid>
              <a:tr h="7396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Stakeholders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Predmet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komunikácie</a:t>
                      </a:r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Forma / </a:t>
                      </a:r>
                      <a:r>
                        <a:rPr lang="en-US" dirty="0" err="1"/>
                        <a:t>nástroj</a:t>
                      </a:r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Frekvencia</a:t>
                      </a:r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Zodpovedná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osoba</a:t>
                      </a:r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Účel</a:t>
                      </a:r>
                      <a:r>
                        <a:rPr lang="en-US" dirty="0"/>
                        <a:t> / </a:t>
                      </a:r>
                      <a:r>
                        <a:rPr lang="en-US" dirty="0" err="1"/>
                        <a:t>cieľ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komunikácie</a:t>
                      </a:r>
                      <a:endParaRPr 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239716"/>
                  </a:ext>
                </a:extLst>
              </a:tr>
              <a:tr h="1036622">
                <a:tc>
                  <a:txBody>
                    <a:bodyPr/>
                    <a:lstStyle/>
                    <a:p>
                      <a:pPr algn="ctr"/>
                      <a:r>
                        <a:rPr lang="pl-PL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Projektový tím a realizátori projektu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Interná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koordinácia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rozdelenie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úloh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stav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úloh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MS Teams (chat,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videomeeting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),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osobná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porada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Krátka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porada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1×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týždenne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chat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podľa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potreby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Team Lead /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koordinátor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projektu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Zabezpečiť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prehľad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o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úlohách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riešiť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problémy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v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tíme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dodržať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termíny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434934"/>
                  </a:ext>
                </a:extLst>
              </a:tr>
              <a:tr h="1275843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Grantové agentúry, fondy a sponzori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Žiadosť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o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podporu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prezentácia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cieľov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projektu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, report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výsledkov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E-mail, online meeting (MS Teams),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krátka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prezentácia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Pri podaní žiadosti, potom </a:t>
                      </a:r>
                      <a:r>
                        <a:rPr lang="uk-UA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2</a:t>
                      </a:r>
                      <a:r>
                        <a:rPr lang="pl-PL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× za semester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Team Lead /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člen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tímu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pre fundraising</a:t>
                      </a: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Získať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alebo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udržať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finančnú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a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materiálnu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podporu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ukázať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prínosy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projektu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079610"/>
                  </a:ext>
                </a:extLst>
              </a:tr>
              <a:tr h="127584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Používatelia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–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zahraniční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študenti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Testovanie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prototypu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spätná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väzba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k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dizajnu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obsahu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a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použiteľnosti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Online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dotazník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feedback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formulár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na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webe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V pilotnej fáze, potom po väčších úpravách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Člen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tímu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pre UX /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výskum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používateľov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Overiť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či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je Slovak Quiz pre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študentov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zrozumiteľný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užitočný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a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ľahko</a:t>
                      </a:r>
                      <a:r>
                        <a:rPr lang="en-US" sz="1400" dirty="0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7030A0"/>
                          </a:solidFill>
                          <a:latin typeface="Bahnschrift" panose="020B0502040204020203" pitchFamily="34" charset="0"/>
                        </a:rPr>
                        <a:t>použiteľný</a:t>
                      </a:r>
                      <a:endParaRPr lang="en-US" sz="1400" dirty="0">
                        <a:solidFill>
                          <a:srgbClr val="7030A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E8D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226196"/>
                  </a:ext>
                </a:extLst>
              </a:tr>
              <a:tr h="127584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Konkurencia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–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iné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vzdelávacie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platformy</a:t>
                      </a: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Monitoring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funkcií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konkurencie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analýza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silných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a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slabých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stránok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Online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prieskum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analýza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webov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aplikácií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interný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dokument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Približne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1× za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mesiac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alebo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väčších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zmenách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trhu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Člen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tímu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pre marketing /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analýzu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trhu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Inšpirovať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dobrými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riešeniami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nájsť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jedinečné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prvky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Slovak Quiz a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lepšie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sa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odlíšiť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 od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konkurencie</a:t>
                      </a:r>
                      <a:endParaRPr lang="en-US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B97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1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688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414</Words>
  <Application>Microsoft Office PowerPoint</Application>
  <PresentationFormat>Širokouhlá</PresentationFormat>
  <Paragraphs>73</Paragraphs>
  <Slides>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Bahnschrift</vt:lpstr>
      <vt:lpstr>Calibri</vt:lpstr>
      <vt:lpstr>Calibri Light</vt:lpstr>
      <vt:lpstr>Тема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Maksis S</dc:creator>
  <cp:lastModifiedBy>Dmytro Sydorenko</cp:lastModifiedBy>
  <cp:revision>41</cp:revision>
  <dcterms:created xsi:type="dcterms:W3CDTF">2025-11-23T19:03:23Z</dcterms:created>
  <dcterms:modified xsi:type="dcterms:W3CDTF">2025-12-01T09:21:34Z</dcterms:modified>
</cp:coreProperties>
</file>