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3C587-E8FE-2E17-536A-73E49582B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397BE98-7E65-FB57-87FE-621C8998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9C1EEBC-9CC7-07A8-DA88-73197237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8431F5E-235E-9F1D-2257-8291CD81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F5A61EC-C86F-F17A-F777-9E75FD6C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412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0F378-DFAC-4D0D-3CA3-1A40DAC5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F551A67-402A-8A1B-F68F-44162DE4A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A8AEB7-5C0D-2BE2-849F-0610CA0B3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370879-F59D-3EF0-820B-79B4A0CE2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5D0CC2B-91FC-5E22-5D7C-42251E71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29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EDC07-CDB2-6DD9-476B-4E8D62DC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4084F20-D75E-449A-5D07-D93CAA789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49E816-B419-0F96-9780-62C858BA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FFCCD6B-47C8-D08E-61BF-43CD0C51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136BCB-E243-22B7-A29B-FE346CE3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4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B94C3-AD2F-6DF6-5596-CEE3B974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A1231C0-DF51-8762-6776-24FFFC4F9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E0A1F26-2298-7C36-753B-832F62C1E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256706F-2088-11A3-73AC-EF9BD00E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511097-8603-9CEB-1D39-8BAA391B7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B53DB2A-C6AD-96EE-705A-76BD641C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710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1C5E81-304F-41D2-E9B2-9B62664CD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0A7BB22-D4D8-0EEB-F52D-7B8A569DE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E56536A-4ABA-2D2C-77C9-79FEE5C31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CE965CE-3479-B4AA-20F0-C1C89C01A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B7D72F2-33B8-F4B0-83FF-D27BBC856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F220E9B-B53A-93EB-425F-2037D9EE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8F951D5-D19A-16EC-942F-C1C72E59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AE124DF-32A2-FCD0-12E6-38481DBC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563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03F3A-6BAA-0970-052B-7D28E1D1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CEAA0CB-F8C3-3C44-3B37-CA240B9EB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ABF43DE-E3FE-901C-C3DF-0878AE9BA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63124C0-511D-1717-EFEC-742661F7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6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C6AEE43-6AA8-10D2-A92C-0AE4656D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B613482-D48C-C30D-463B-720DC101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7FEDA5C-265B-82EF-F64C-D8013F24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446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73C0C-3996-3D7D-AF59-2389B560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ABD23B-8E05-2DD2-E9A1-0D56254A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427D0D6-B3B3-C4B3-A76F-6683FA250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26CDC4E-5755-5E9D-3158-2AC95470F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7C767E6-22CA-A866-B2CB-1BA30EF55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9D9E059-CD6E-B38E-E3F2-0072237E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4666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BC26C-26C6-1460-C7E9-8A1A9E932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B44426-98B4-7697-F105-B53049010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065F712-6F8A-759C-A221-F14164E70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7FEE9A1-0E27-3284-564C-BBE3305D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6C39560-EC0D-B390-D231-F5124AF9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6072BC4-0475-C924-41E8-FFD57AA6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355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A47AC-7F9F-8F5E-FC97-67C9B489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8893FB1-10DE-27C2-4DE2-968BEA4A1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0F21E3-F1C1-C9B2-B3FD-4490E6C94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4C4AD2-72D8-0C45-280D-897D1B1F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4D78FFF-5A43-859F-AA4E-46A8E6F2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692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A9B1DB3-015D-6FC4-BAA1-0D2CCC32B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C1DDD1D-6620-7758-E0CF-A7C9A1582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7A3C5D-67AC-3207-6A25-D8FAF93B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A8FF03-AED1-CA34-25D5-FD008060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5915B51-1055-8101-4143-265C8E2E6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355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2BC59BB-5DB4-4727-862E-B8B57E32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BE57289-0323-52D4-F8CA-B553BCA1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19671A7-D216-859F-F4B5-AFE4F077B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DF65-9213-4579-9FD8-DC9485BEA346}" type="datetimeFigureOut">
              <a:rPr lang="uk-UA" smtClean="0"/>
              <a:t>24.11.2025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82EE515-E675-5C8B-41B6-73E365E66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4A315CC-ED66-1159-7946-541CEE6E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A4477-AC1A-4878-8C4E-18279492CCD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018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C79EF05C-AE15-E519-580A-57482284B85E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3979203B-824F-BBD1-09B1-B45650F1D93E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13FB0A-168F-6777-D131-05D7DA2D9AA1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0BDFBA-81F2-85EB-01B5-6AC151EA9E23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67B741E-847F-040D-2CCE-3C0BDC68D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C9865634-7ED6-BC6E-2EBC-0137634AA7FF}"/>
              </a:ext>
            </a:extLst>
          </p:cNvPr>
          <p:cNvSpPr txBox="1">
            <a:spLocks/>
          </p:cNvSpPr>
          <p:nvPr/>
        </p:nvSpPr>
        <p:spPr>
          <a:xfrm>
            <a:off x="595303" y="22271"/>
            <a:ext cx="4572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Projekt </a:t>
            </a:r>
            <a:r>
              <a:rPr lang="en-GB" sz="6000" b="1" dirty="0" err="1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tímu</a:t>
            </a: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b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en-GB" sz="6000" b="1" dirty="0">
                <a:solidFill>
                  <a:srgbClr val="7030A0"/>
                </a:solidFill>
                <a:latin typeface="Bahnschrift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DMDEV</a:t>
            </a:r>
            <a:endParaRPr lang="uk-UA" sz="6000" b="1" dirty="0">
              <a:solidFill>
                <a:srgbClr val="7030A0"/>
              </a:solidFill>
              <a:latin typeface="Bahnschrift" panose="020B0502040204020203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6" name="Пряма сполучна лінія 25">
            <a:extLst>
              <a:ext uri="{FF2B5EF4-FFF2-40B4-BE49-F238E27FC236}">
                <a16:creationId xmlns:a16="http://schemas.microsoft.com/office/drawing/2014/main" id="{A6E99209-EAE4-B393-E5C7-3708B7CD5E1F}"/>
              </a:ext>
            </a:extLst>
          </p:cNvPr>
          <p:cNvCxnSpPr>
            <a:cxnSpLocks/>
          </p:cNvCxnSpPr>
          <p:nvPr/>
        </p:nvCxnSpPr>
        <p:spPr>
          <a:xfrm>
            <a:off x="715267" y="2409871"/>
            <a:ext cx="419003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0916DC-50EA-856D-3F2D-6E09724078B7}"/>
              </a:ext>
            </a:extLst>
          </p:cNvPr>
          <p:cNvSpPr txBox="1"/>
          <p:nvPr/>
        </p:nvSpPr>
        <p:spPr>
          <a:xfrm>
            <a:off x="595303" y="2520630"/>
            <a:ext cx="4410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02465553-DF70-C942-FEAA-0B460FD7A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78" y="342674"/>
            <a:ext cx="4190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Marketingová</a:t>
            </a:r>
            <a:r>
              <a:rPr lang="en-GB" alt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alt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stratégia</a:t>
            </a: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97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1ED4-AE8D-1714-BE80-8E3794F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68641D6-E0E7-E41C-72D7-7E55F6FD127F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40BAF027-82B1-B62B-EEC4-7E28A8921116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A1B67-9C60-F831-8B23-453641C91D6A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334A7-6EBA-3FF3-C692-06D57C52F0A5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BA25DE-CCD2-82D3-0036-8CFE7725F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561F5-A27C-DC30-CDE2-2CABA8BECD54}"/>
              </a:ext>
            </a:extLst>
          </p:cNvPr>
          <p:cNvSpPr txBox="1"/>
          <p:nvPr/>
        </p:nvSpPr>
        <p:spPr>
          <a:xfrm>
            <a:off x="5350075" y="588621"/>
            <a:ext cx="14918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Bahnschrift" panose="020B0502040204020203" pitchFamily="34" charset="0"/>
              </a:rPr>
              <a:t>P</a:t>
            </a:r>
            <a:r>
              <a:rPr lang="uk-UA" sz="4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lán</a:t>
            </a:r>
            <a:endParaRPr lang="uk-UA" sz="4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572EF2BC-4757-4CF9-DBF2-9413988814FD}"/>
              </a:ext>
            </a:extLst>
          </p:cNvPr>
          <p:cNvSpPr/>
          <p:nvPr/>
        </p:nvSpPr>
        <p:spPr>
          <a:xfrm>
            <a:off x="1659118" y="1637191"/>
            <a:ext cx="2564090" cy="4069447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9DACF0A9-D5F0-80E0-17ED-F38BFBF475F0}"/>
              </a:ext>
            </a:extLst>
          </p:cNvPr>
          <p:cNvSpPr/>
          <p:nvPr/>
        </p:nvSpPr>
        <p:spPr>
          <a:xfrm>
            <a:off x="1659118" y="3199682"/>
            <a:ext cx="2564090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DF1C6-01E1-21BE-7404-9A136C6C4428}"/>
              </a:ext>
            </a:extLst>
          </p:cNvPr>
          <p:cNvSpPr txBox="1"/>
          <p:nvPr/>
        </p:nvSpPr>
        <p:spPr>
          <a:xfrm>
            <a:off x="2335869" y="1799046"/>
            <a:ext cx="12105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solidFill>
                  <a:srgbClr val="7030A0"/>
                </a:solidFill>
                <a:latin typeface="Bahnschrift" panose="020B0502040204020203" pitchFamily="34" charset="0"/>
              </a:rPr>
              <a:t>01.</a:t>
            </a:r>
            <a:endParaRPr lang="uk-UA" sz="7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7" name="Групувати 16">
            <a:extLst>
              <a:ext uri="{FF2B5EF4-FFF2-40B4-BE49-F238E27FC236}">
                <a16:creationId xmlns:a16="http://schemas.microsoft.com/office/drawing/2014/main" id="{F7DCB1D4-5CB6-1B28-E3F4-E6F1C375B35D}"/>
              </a:ext>
            </a:extLst>
          </p:cNvPr>
          <p:cNvGrpSpPr/>
          <p:nvPr/>
        </p:nvGrpSpPr>
        <p:grpSpPr>
          <a:xfrm>
            <a:off x="4821425" y="1637191"/>
            <a:ext cx="2564090" cy="4069447"/>
            <a:chOff x="5270792" y="1866507"/>
            <a:chExt cx="2564090" cy="4069447"/>
          </a:xfrm>
        </p:grpSpPr>
        <p:sp>
          <p:nvSpPr>
            <p:cNvPr id="7" name="Прямокутник: округлені кути 6">
              <a:extLst>
                <a:ext uri="{FF2B5EF4-FFF2-40B4-BE49-F238E27FC236}">
                  <a16:creationId xmlns:a16="http://schemas.microsoft.com/office/drawing/2014/main" id="{B4B3C1AA-5DE4-FC06-5CC3-4DB792BD8FCE}"/>
                </a:ext>
              </a:extLst>
            </p:cNvPr>
            <p:cNvSpPr/>
            <p:nvPr/>
          </p:nvSpPr>
          <p:spPr>
            <a:xfrm>
              <a:off x="5270792" y="1866507"/>
              <a:ext cx="2564090" cy="4069447"/>
            </a:xfrm>
            <a:prstGeom prst="roundRect">
              <a:avLst>
                <a:gd name="adj" fmla="val 6741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8" name="Прямокутник 7">
              <a:extLst>
                <a:ext uri="{FF2B5EF4-FFF2-40B4-BE49-F238E27FC236}">
                  <a16:creationId xmlns:a16="http://schemas.microsoft.com/office/drawing/2014/main" id="{FB7084A9-F37C-78A3-E9A9-3595F16F6FB4}"/>
                </a:ext>
              </a:extLst>
            </p:cNvPr>
            <p:cNvSpPr/>
            <p:nvPr/>
          </p:nvSpPr>
          <p:spPr>
            <a:xfrm>
              <a:off x="5270792" y="3428998"/>
              <a:ext cx="2564090" cy="45719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4258AA-CBFC-52A8-5624-A0C353DD7A1A}"/>
                </a:ext>
              </a:extLst>
            </p:cNvPr>
            <p:cNvSpPr txBox="1"/>
            <p:nvPr/>
          </p:nvSpPr>
          <p:spPr>
            <a:xfrm>
              <a:off x="5947543" y="2028362"/>
              <a:ext cx="138211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2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02.</a:t>
              </a:r>
              <a:endParaRPr lang="uk-UA" sz="72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</p:txBody>
        </p:sp>
      </p:grpSp>
      <p:grpSp>
        <p:nvGrpSpPr>
          <p:cNvPr id="19" name="Групувати 18">
            <a:extLst>
              <a:ext uri="{FF2B5EF4-FFF2-40B4-BE49-F238E27FC236}">
                <a16:creationId xmlns:a16="http://schemas.microsoft.com/office/drawing/2014/main" id="{0D317E0A-F569-6D66-C9F0-B0CA2E47C559}"/>
              </a:ext>
            </a:extLst>
          </p:cNvPr>
          <p:cNvGrpSpPr/>
          <p:nvPr/>
        </p:nvGrpSpPr>
        <p:grpSpPr>
          <a:xfrm>
            <a:off x="7983732" y="1637191"/>
            <a:ext cx="2564090" cy="4069447"/>
            <a:chOff x="8511633" y="1866507"/>
            <a:chExt cx="2564090" cy="4069447"/>
          </a:xfrm>
        </p:grpSpPr>
        <p:sp>
          <p:nvSpPr>
            <p:cNvPr id="10" name="Прямокутник: округлені кути 9">
              <a:extLst>
                <a:ext uri="{FF2B5EF4-FFF2-40B4-BE49-F238E27FC236}">
                  <a16:creationId xmlns:a16="http://schemas.microsoft.com/office/drawing/2014/main" id="{EE1F4494-62D0-0494-AD88-5C397B05324D}"/>
                </a:ext>
              </a:extLst>
            </p:cNvPr>
            <p:cNvSpPr/>
            <p:nvPr/>
          </p:nvSpPr>
          <p:spPr>
            <a:xfrm>
              <a:off x="8511633" y="1866507"/>
              <a:ext cx="2564090" cy="4069447"/>
            </a:xfrm>
            <a:prstGeom prst="roundRect">
              <a:avLst>
                <a:gd name="adj" fmla="val 6741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4" name="Прямокутник 13">
              <a:extLst>
                <a:ext uri="{FF2B5EF4-FFF2-40B4-BE49-F238E27FC236}">
                  <a16:creationId xmlns:a16="http://schemas.microsoft.com/office/drawing/2014/main" id="{3D6409C5-8B75-1E58-420B-D4BD7D1B0C05}"/>
                </a:ext>
              </a:extLst>
            </p:cNvPr>
            <p:cNvSpPr/>
            <p:nvPr/>
          </p:nvSpPr>
          <p:spPr>
            <a:xfrm>
              <a:off x="8511633" y="3428998"/>
              <a:ext cx="2564090" cy="45719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B847AC-1FBE-5EE1-1C56-8AE575EBCDD0}"/>
                </a:ext>
              </a:extLst>
            </p:cNvPr>
            <p:cNvSpPr txBox="1"/>
            <p:nvPr/>
          </p:nvSpPr>
          <p:spPr>
            <a:xfrm>
              <a:off x="9188384" y="2028362"/>
              <a:ext cx="138852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2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03.</a:t>
              </a:r>
              <a:endParaRPr lang="uk-UA" sz="72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154B03C-C319-B495-B692-430C311E4EC7}"/>
              </a:ext>
            </a:extLst>
          </p:cNvPr>
          <p:cNvSpPr txBox="1"/>
          <p:nvPr/>
        </p:nvSpPr>
        <p:spPr>
          <a:xfrm>
            <a:off x="1659118" y="3555889"/>
            <a:ext cx="2564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Charakteristika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cieľového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endParaRPr lang="en-GB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zákazníka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B1920-796D-DB6C-0BE0-F71D70AB105C}"/>
              </a:ext>
            </a:extLst>
          </p:cNvPr>
          <p:cNvSpPr txBox="1"/>
          <p:nvPr/>
        </p:nvSpPr>
        <p:spPr>
          <a:xfrm>
            <a:off x="4342614" y="3467142"/>
            <a:ext cx="35067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Konkrétna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marketingová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endParaRPr lang="en-GB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stratégia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E7782C-FDFB-A1A6-6926-4424FA438795}"/>
              </a:ext>
            </a:extLst>
          </p:cNvPr>
          <p:cNvSpPr txBox="1"/>
          <p:nvPr/>
        </p:nvSpPr>
        <p:spPr>
          <a:xfrm>
            <a:off x="7968791" y="3615180"/>
            <a:ext cx="26583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Vizuálny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promo</a:t>
            </a:r>
            <a:r>
              <a:rPr lang="uk-UA" sz="24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endParaRPr lang="en-GB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algn="ctr"/>
            <a:r>
              <a:rPr lang="uk-UA" sz="24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endParaRPr lang="uk-UA" sz="24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50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8F17B17-F560-E3BA-026C-5BDE3CF7F3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17308-51E3-AF63-ECF3-B93A7A693EA3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50F43307-B02F-93B2-742E-274D595376B0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4BFB9ED2-1ED9-1E48-7E05-C48F1D6D5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51FDC2D8-323D-0DA2-FECC-5353862559D6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B67A014-CFD0-EA43-2FE8-3F13AD0CC53D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4640B39-BDB7-E815-4A25-2487B6C8B14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BC81A5-ABEA-BC4E-740B-3EA04C3F5E50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Charakteristika</a:t>
            </a:r>
            <a:r>
              <a:rPr lang="uk-UA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cieľového</a:t>
            </a:r>
            <a:r>
              <a:rPr lang="uk-UA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endParaRPr lang="en-GB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zákazníka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EB83D-EB61-A831-40AD-60255836DAA3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01.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79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9F79A0DB-6436-B8BE-0C0D-41C387E2375D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FB886-46B2-B2BB-5981-CF3A3F6791CC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97CC2-68A2-EE5B-9DE3-7CD0A1B02AE1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F4640F-EF79-1C5D-E02E-89C5D4BF9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1D0F8A-699F-6E03-A62A-4645334C4635}"/>
              </a:ext>
            </a:extLst>
          </p:cNvPr>
          <p:cNvSpPr txBox="1"/>
          <p:nvPr/>
        </p:nvSpPr>
        <p:spPr>
          <a:xfrm>
            <a:off x="434048" y="346843"/>
            <a:ext cx="63172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Charakteristika</a:t>
            </a:r>
            <a:r>
              <a:rPr lang="uk-UA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cieľového</a:t>
            </a:r>
            <a:r>
              <a:rPr lang="uk-UA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zákazníka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974AE72B-B75D-15A1-B9A1-95D69C6DDC10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076AAD-AE16-6BED-6FB7-17E0E692EB4B}"/>
              </a:ext>
            </a:extLst>
          </p:cNvPr>
          <p:cNvSpPr txBox="1"/>
          <p:nvPr/>
        </p:nvSpPr>
        <p:spPr>
          <a:xfrm>
            <a:off x="7830438" y="966873"/>
            <a:ext cx="37033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Cieľová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skupina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webu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Slovak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Quiz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sú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Ukrajinci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rôzneho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veku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ktorí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potrebujú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učiť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slovenský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jazyk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účely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štúdia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práce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presťahovania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každodennej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uk-UA" dirty="0" err="1">
                <a:solidFill>
                  <a:srgbClr val="7030A0"/>
                </a:solidFill>
                <a:latin typeface="Bahnschrift" panose="020B0502040204020203" pitchFamily="34" charset="0"/>
              </a:rPr>
              <a:t>komunikácie</a:t>
            </a:r>
            <a:r>
              <a:rPr lang="uk-UA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DE16CE6B-F108-0C26-FD7C-F075C9802847}"/>
              </a:ext>
            </a:extLst>
          </p:cNvPr>
          <p:cNvSpPr/>
          <p:nvPr/>
        </p:nvSpPr>
        <p:spPr>
          <a:xfrm rot="5400000">
            <a:off x="8632931" y="-180647"/>
            <a:ext cx="2039890" cy="4011000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26" name="Групувати 25">
            <a:extLst>
              <a:ext uri="{FF2B5EF4-FFF2-40B4-BE49-F238E27FC236}">
                <a16:creationId xmlns:a16="http://schemas.microsoft.com/office/drawing/2014/main" id="{5B168DAC-4B82-61EF-C073-839AC89946C4}"/>
              </a:ext>
            </a:extLst>
          </p:cNvPr>
          <p:cNvGrpSpPr/>
          <p:nvPr/>
        </p:nvGrpSpPr>
        <p:grpSpPr>
          <a:xfrm>
            <a:off x="798732" y="1739975"/>
            <a:ext cx="6110068" cy="3624506"/>
            <a:chOff x="798732" y="1496135"/>
            <a:chExt cx="6110068" cy="36245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973AA1-06EB-3C2F-5D1C-1113CBD73556}"/>
                </a:ext>
              </a:extLst>
            </p:cNvPr>
            <p:cNvSpPr txBox="1"/>
            <p:nvPr/>
          </p:nvSpPr>
          <p:spPr>
            <a:xfrm>
              <a:off x="888861" y="1631813"/>
              <a:ext cx="6019939" cy="33547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Detailný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profil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používateľa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Vek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 16–60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rokov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(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študenti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mladí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ľudia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mladí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odborníci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</a:t>
              </a:r>
            </a:p>
            <a:p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dospelí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plánujúci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presťahovanie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alebo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prácu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Slovensku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Úroveň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znalosti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jazyka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od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začiatočníka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stredne</a:t>
              </a:r>
              <a:endParaRPr lang="uk-UA" sz="16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  <a:p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pokročilého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Ciele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zvýšiť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úroveň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znalosti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slovenského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jazyka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pre</a:t>
              </a:r>
              <a:endParaRPr lang="uk-UA" sz="16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  <a:p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vstup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univerzitu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získanie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práce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komunikáciu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v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bežnom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živote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Online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správanie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aktívni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používatelia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sociálnych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sietí</a:t>
              </a:r>
              <a:endParaRPr lang="uk-UA" sz="16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  <a:p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(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Facebook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Instagram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TikTok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),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často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hľadajú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vzdelávacie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materiály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na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YouTube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používajú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messenger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(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Telegram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Viber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uk-UA" sz="1600" b="1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Motivácia</a:t>
              </a:r>
              <a:r>
                <a:rPr lang="uk-UA" sz="1600" b="1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: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rýchlo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a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efektívne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sa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učiť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slovenčinu</a:t>
              </a:r>
              <a:endParaRPr lang="uk-UA" sz="1600" dirty="0">
                <a:solidFill>
                  <a:srgbClr val="7030A0"/>
                </a:solidFill>
                <a:latin typeface="Bahnschrift" panose="020B0502040204020203" pitchFamily="34" charset="0"/>
              </a:endParaRPr>
            </a:p>
            <a:p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pomocou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interaktívnych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metód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 (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testy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kvízy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, </a:t>
              </a:r>
              <a:r>
                <a:rPr lang="uk-UA" sz="1600" dirty="0" err="1">
                  <a:solidFill>
                    <a:srgbClr val="7030A0"/>
                  </a:solidFill>
                  <a:latin typeface="Bahnschrift" panose="020B0502040204020203" pitchFamily="34" charset="0"/>
                </a:rPr>
                <a:t>hry</a:t>
              </a:r>
              <a:r>
                <a:rPr lang="uk-UA" sz="1600" dirty="0">
                  <a:solidFill>
                    <a:srgbClr val="7030A0"/>
                  </a:solidFill>
                  <a:latin typeface="Bahnschrift" panose="020B0502040204020203" pitchFamily="34" charset="0"/>
                </a:rPr>
                <a:t>).</a:t>
              </a:r>
            </a:p>
          </p:txBody>
        </p:sp>
        <p:sp>
          <p:nvSpPr>
            <p:cNvPr id="22" name="Прямокутник: округлені кути 21">
              <a:extLst>
                <a:ext uri="{FF2B5EF4-FFF2-40B4-BE49-F238E27FC236}">
                  <a16:creationId xmlns:a16="http://schemas.microsoft.com/office/drawing/2014/main" id="{7E413AB5-4070-F1A5-61C6-2626012196C7}"/>
                </a:ext>
              </a:extLst>
            </p:cNvPr>
            <p:cNvSpPr/>
            <p:nvPr/>
          </p:nvSpPr>
          <p:spPr>
            <a:xfrm rot="5400000">
              <a:off x="1965315" y="329552"/>
              <a:ext cx="3624506" cy="5957671"/>
            </a:xfrm>
            <a:prstGeom prst="roundRect">
              <a:avLst>
                <a:gd name="adj" fmla="val 3097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</p:spTree>
    <p:extLst>
      <p:ext uri="{BB962C8B-B14F-4D97-AF65-F5344CB8AC3E}">
        <p14:creationId xmlns:p14="http://schemas.microsoft.com/office/powerpoint/2010/main" val="10397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680F-393B-A5E5-F593-C82DEF30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E673D117-E77A-E8EF-7D10-3F49E327F8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2E1E7D-3483-1EC9-FD7A-90D84AD8247A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6C96CB73-DF4C-6A11-1896-9EA616E4979C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03AE4D3E-4355-8DDC-8C63-69E013132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C15B29ED-6BC9-A3F3-FF43-42692D6150BB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5E4D6AC-7753-A0C2-F869-EC5C4A74FCAD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DE1C731-218B-E553-CFE3-142F210CF08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A2A2F-D7F3-BA9C-89AA-32221E265A7D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Konkrétna</a:t>
            </a:r>
            <a:r>
              <a:rPr lang="uk-UA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marketingová</a:t>
            </a:r>
            <a:r>
              <a:rPr lang="uk-UA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endParaRPr lang="en-GB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uk-UA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stratégia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4379F-68C6-82CC-FEFF-590667994EB7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02.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23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9161368F-57DF-102C-AD07-5F2C58DAF538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95F61-EB63-C25E-7532-D0918A35D572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66BC2-5641-70FA-989A-121311380F03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04376C6-A65C-3207-419F-57C84675E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5F3ACC6-BEF4-FDA8-3A99-44EAA5638AF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580A6-167F-E5F5-F7C3-03E96E6AA67E}"/>
              </a:ext>
            </a:extLst>
          </p:cNvPr>
          <p:cNvSpPr txBox="1"/>
          <p:nvPr/>
        </p:nvSpPr>
        <p:spPr>
          <a:xfrm>
            <a:off x="434048" y="346843"/>
            <a:ext cx="63172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Konkrétna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marketingová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stratégia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E7223-0B31-1740-02F8-F87AA6CB3BD0}"/>
              </a:ext>
            </a:extLst>
          </p:cNvPr>
          <p:cNvSpPr txBox="1"/>
          <p:nvPr/>
        </p:nvSpPr>
        <p:spPr>
          <a:xfrm>
            <a:off x="7830438" y="966873"/>
            <a:ext cx="37033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Prečo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je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táto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metóda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efektívna</a:t>
            </a:r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1.Mladí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ľudia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dospelí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aktívne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reagujú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krátky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videoobsah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príspevky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GB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2.Možnosť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rýchlo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zapojiť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používateľov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prostredníctvom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mini-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kvízov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GB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3.Video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hravý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lepšie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pamätá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buduje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dôveru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k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platforme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D1D19FC2-979E-1A2D-92A7-CD5C54003E80}"/>
              </a:ext>
            </a:extLst>
          </p:cNvPr>
          <p:cNvSpPr/>
          <p:nvPr/>
        </p:nvSpPr>
        <p:spPr>
          <a:xfrm rot="5400000">
            <a:off x="7657095" y="795190"/>
            <a:ext cx="3726455" cy="3745893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630EB-A7D0-CD9B-B7B7-DD1007E23CB4}"/>
              </a:ext>
            </a:extLst>
          </p:cNvPr>
          <p:cNvSpPr txBox="1"/>
          <p:nvPr/>
        </p:nvSpPr>
        <p:spPr>
          <a:xfrm>
            <a:off x="891917" y="1897963"/>
            <a:ext cx="622408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Hlavný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kanál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sociálne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siete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(Instagram, TikTok, Facebook) +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YouTube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Metóda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vytváranie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krátkych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interaktívnych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vzdelávacích</a:t>
            </a:r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videí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príspevkov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s mini-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kvízmi</a:t>
            </a:r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Popis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kampane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1.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Každý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týždeň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zverejňovať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sériu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krátkych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videí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(30–60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sekúnd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) s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veselými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hravými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cvičeniami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slovníkovými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2.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Využívať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funkcie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sociálnych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sietí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ankety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“choose the correct answer”, stories s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úlohami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3.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Na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konci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videa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–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výzva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registráciu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webe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aby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mohli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absolvovať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plné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testy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získať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prístup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k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prémiovému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4.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Propagácia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cez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cielenú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reklamu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zameranie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Ukrajincov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veku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16–60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rokov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zaujímajúcich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o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štúdium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jazyky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presťahovanie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Slovensko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Прямокутник: округлені кути 15">
            <a:extLst>
              <a:ext uri="{FF2B5EF4-FFF2-40B4-BE49-F238E27FC236}">
                <a16:creationId xmlns:a16="http://schemas.microsoft.com/office/drawing/2014/main" id="{39C6BC49-D182-6B68-326F-630DD7ED1374}"/>
              </a:ext>
            </a:extLst>
          </p:cNvPr>
          <p:cNvSpPr/>
          <p:nvPr/>
        </p:nvSpPr>
        <p:spPr>
          <a:xfrm rot="5400000">
            <a:off x="1624775" y="931638"/>
            <a:ext cx="4571998" cy="6224086"/>
          </a:xfrm>
          <a:prstGeom prst="roundRect">
            <a:avLst>
              <a:gd name="adj" fmla="val 3097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7989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2B67-14E4-597F-D528-B4AF163B2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33878D-0E07-965B-5F7A-9D4CC39908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9920B-5A96-FC11-344E-9B8C78743711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39872AE2-6E18-6D6E-32A8-E9446FBFADBA}"/>
              </a:ext>
            </a:extLst>
          </p:cNvPr>
          <p:cNvGrpSpPr/>
          <p:nvPr/>
        </p:nvGrpSpPr>
        <p:grpSpPr>
          <a:xfrm>
            <a:off x="-127396" y="5680446"/>
            <a:ext cx="602264" cy="525282"/>
            <a:chOff x="1869731" y="4034526"/>
            <a:chExt cx="602264" cy="525282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B3924AD4-9CAA-A3D5-8F5C-A23DB3979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9732" y="4034526"/>
              <a:ext cx="602263" cy="511011"/>
            </a:xfrm>
            <a:prstGeom prst="rect">
              <a:avLst/>
            </a:prstGeom>
          </p:spPr>
        </p:pic>
        <p:sp>
          <p:nvSpPr>
            <p:cNvPr id="10" name="Прямокутник 9">
              <a:extLst>
                <a:ext uri="{FF2B5EF4-FFF2-40B4-BE49-F238E27FC236}">
                  <a16:creationId xmlns:a16="http://schemas.microsoft.com/office/drawing/2014/main" id="{EC56455D-EB67-C0DC-CAFE-584A08D94293}"/>
                </a:ext>
              </a:extLst>
            </p:cNvPr>
            <p:cNvSpPr/>
            <p:nvPr/>
          </p:nvSpPr>
          <p:spPr>
            <a:xfrm>
              <a:off x="1869731" y="4320512"/>
              <a:ext cx="572403" cy="239296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33151CD-B2D1-3830-E6B1-D2D02C26EE06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chemeClr val="bg1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ADA19B-38E8-DC3E-6F93-8FC9E1429ECF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C0515-642C-397B-AA69-7A29F0C2785C}"/>
              </a:ext>
            </a:extLst>
          </p:cNvPr>
          <p:cNvSpPr txBox="1"/>
          <p:nvPr/>
        </p:nvSpPr>
        <p:spPr>
          <a:xfrm>
            <a:off x="512686" y="3385780"/>
            <a:ext cx="7427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Vizuálny</a:t>
            </a:r>
            <a:r>
              <a:rPr lang="en-GB" sz="4800" b="1" dirty="0">
                <a:solidFill>
                  <a:schemeClr val="bg1"/>
                </a:solidFill>
                <a:latin typeface="Bahnschrift" panose="020B0502040204020203" pitchFamily="34" charset="0"/>
              </a:rPr>
              <a:t> promo </a:t>
            </a:r>
          </a:p>
          <a:p>
            <a:r>
              <a:rPr lang="en-GB" sz="4800" b="1" dirty="0" err="1">
                <a:solidFill>
                  <a:schemeClr val="bg1"/>
                </a:solidFill>
                <a:latin typeface="Bahnschrift" panose="020B0502040204020203" pitchFamily="34" charset="0"/>
              </a:rPr>
              <a:t>obsah</a:t>
            </a:r>
            <a:endParaRPr lang="uk-UA" sz="4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DD4B7-4A22-1794-BCC8-1742A4082201}"/>
              </a:ext>
            </a:extLst>
          </p:cNvPr>
          <p:cNvSpPr txBox="1"/>
          <p:nvPr/>
        </p:nvSpPr>
        <p:spPr>
          <a:xfrm>
            <a:off x="512686" y="2801005"/>
            <a:ext cx="88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Bahnschrift" panose="020B0502040204020203" pitchFamily="34" charset="0"/>
              </a:rPr>
              <a:t>03.</a:t>
            </a:r>
            <a:endParaRPr lang="uk-UA" sz="3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637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D2E5-F033-D3F0-2B8B-C7E5AA7B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5C37CDE-73B8-117A-9ACE-C7B0396E0D94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5F749-AECE-617A-38CB-D27EFFF38501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56470-C888-7027-4F85-7769F7386D6B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C42B11-18B1-B32E-7944-BA13B0B8D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62ABCADB-FAE3-4F48-E3AB-A3749BB72A93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D1769-9AD3-B559-7ED7-6E6326686F6C}"/>
              </a:ext>
            </a:extLst>
          </p:cNvPr>
          <p:cNvSpPr txBox="1"/>
          <p:nvPr/>
        </p:nvSpPr>
        <p:spPr>
          <a:xfrm>
            <a:off x="434048" y="346843"/>
            <a:ext cx="63172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Vizuálny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promo </a:t>
            </a:r>
          </a:p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948D5A-F5FD-9F60-BE2F-5EC1B3030687}"/>
              </a:ext>
            </a:extLst>
          </p:cNvPr>
          <p:cNvSpPr txBox="1"/>
          <p:nvPr/>
        </p:nvSpPr>
        <p:spPr>
          <a:xfrm>
            <a:off x="7830438" y="966873"/>
            <a:ext cx="3703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Bahnschrift" panose="020B0502040204020203" pitchFamily="34" charset="0"/>
              </a:rPr>
              <a:t>Idea: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interaktívny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banner a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krátke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video pre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sociálne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dirty="0" err="1">
                <a:solidFill>
                  <a:srgbClr val="7030A0"/>
                </a:solidFill>
                <a:latin typeface="Bahnschrift" panose="020B0502040204020203" pitchFamily="34" charset="0"/>
              </a:rPr>
              <a:t>siete</a:t>
            </a:r>
            <a:r>
              <a:rPr lang="en-GB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  <a:endParaRPr lang="uk-UA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17335A43-6AAC-28B2-7B73-CE21F5C1F7C0}"/>
              </a:ext>
            </a:extLst>
          </p:cNvPr>
          <p:cNvSpPr/>
          <p:nvPr/>
        </p:nvSpPr>
        <p:spPr>
          <a:xfrm rot="5400000">
            <a:off x="9114181" y="-661896"/>
            <a:ext cx="952772" cy="3886383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25328D-0EA3-2D3A-EF6D-1B4F077CD862}"/>
              </a:ext>
            </a:extLst>
          </p:cNvPr>
          <p:cNvSpPr txBox="1"/>
          <p:nvPr/>
        </p:nvSpPr>
        <p:spPr>
          <a:xfrm>
            <a:off x="904289" y="1613204"/>
            <a:ext cx="622408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Koncept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20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videa</a:t>
            </a:r>
            <a:r>
              <a:rPr lang="en-GB" sz="20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Pozadie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jasný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moderný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dizajn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s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ikonami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obrázkami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ktoré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asociujú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so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Slovenskom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Scenár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 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1.Krátke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privítanie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“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Chceš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rýchlo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naučiť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slovenčinu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?”  2.Zobrazenie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jedného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interaktívneho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mini-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testu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obrazovke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  3.Veselé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animácie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správnej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odpovedi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  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4.Výzva: “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Absolvuj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plné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testy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na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Slovak Quiz –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zaregistruj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získaj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prémiový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obsah!Hudba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veselá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dynamická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motivujúca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Formáty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vertikálne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video (pre TikTok a Instagram Reels),</a:t>
            </a:r>
          </a:p>
          <a:p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štvorcové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alebo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horizontálne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– pre Facebook a YouTube.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Koncept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banneru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/</a:t>
            </a:r>
            <a:r>
              <a:rPr lang="en-GB" sz="16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príspevku</a:t>
            </a:r>
            <a:r>
              <a:rPr lang="en-GB" sz="1600" b="1" dirty="0">
                <a:solidFill>
                  <a:srgbClr val="7030A0"/>
                </a:solidFill>
                <a:latin typeface="Bahnschrift" panose="020B0502040204020203" pitchFamily="34" charset="0"/>
              </a:rPr>
              <a:t>: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1.Nadpis: “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Uč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slovenčinu</a:t>
            </a:r>
            <a:endParaRPr lang="en-GB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  <a:p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zábavne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rýchlo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!”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2.Krátky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opis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“Testy,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hry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a video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lekcie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pre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Ukrajincov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.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Začni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teraz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!”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3.Tlačidlo: “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Registrácia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/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Vyskúšať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zadarmo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”</a:t>
            </a:r>
          </a:p>
          <a:p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4.Vizuálne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prvky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: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jasné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ikony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slovenská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vlajka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animované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prvky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,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ktoré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upútajú</a:t>
            </a:r>
            <a:r>
              <a:rPr lang="en-GB" sz="1600" dirty="0">
                <a:solidFill>
                  <a:srgbClr val="7030A0"/>
                </a:solidFill>
                <a:latin typeface="Bahnschrift" panose="020B0502040204020203" pitchFamily="34" charset="0"/>
              </a:rPr>
              <a:t> </a:t>
            </a:r>
            <a:r>
              <a:rPr lang="en-GB" sz="1600" dirty="0" err="1">
                <a:solidFill>
                  <a:srgbClr val="7030A0"/>
                </a:solidFill>
                <a:latin typeface="Bahnschrift" panose="020B0502040204020203" pitchFamily="34" charset="0"/>
              </a:rPr>
              <a:t>pozornosť</a:t>
            </a:r>
            <a:endParaRPr lang="uk-UA" sz="16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Прямокутник: округлені кути 15">
            <a:extLst>
              <a:ext uri="{FF2B5EF4-FFF2-40B4-BE49-F238E27FC236}">
                <a16:creationId xmlns:a16="http://schemas.microsoft.com/office/drawing/2014/main" id="{D9E40C6A-08B0-5D4E-F6BD-1FA3530ED1AE}"/>
              </a:ext>
            </a:extLst>
          </p:cNvPr>
          <p:cNvSpPr/>
          <p:nvPr/>
        </p:nvSpPr>
        <p:spPr>
          <a:xfrm rot="5400000">
            <a:off x="1434766" y="923109"/>
            <a:ext cx="4952015" cy="6224086"/>
          </a:xfrm>
          <a:prstGeom prst="roundRect">
            <a:avLst>
              <a:gd name="adj" fmla="val 3097"/>
            </a:avLst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3949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09F3-00D1-8F5E-1485-D1C7A9A6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CD3DDF9D-4103-E2AF-0B62-7A03C4DF8E10}"/>
              </a:ext>
            </a:extLst>
          </p:cNvPr>
          <p:cNvSpPr/>
          <p:nvPr/>
        </p:nvSpPr>
        <p:spPr>
          <a:xfrm rot="5400000" flipV="1">
            <a:off x="-3066568" y="3406139"/>
            <a:ext cx="6857999" cy="4571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C587B-BADA-E0FA-D6E6-40F59156B613}"/>
              </a:ext>
            </a:extLst>
          </p:cNvPr>
          <p:cNvSpPr txBox="1"/>
          <p:nvPr/>
        </p:nvSpPr>
        <p:spPr>
          <a:xfrm rot="16200000">
            <a:off x="-246998" y="404276"/>
            <a:ext cx="861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Bahnschrift" panose="020B0502040204020203" pitchFamily="34" charset="0"/>
              </a:rPr>
              <a:t>Nov 2025 </a:t>
            </a:r>
            <a:endParaRPr lang="uk-UA" sz="1200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110BC-1314-D9EF-19D4-A235C59A2684}"/>
              </a:ext>
            </a:extLst>
          </p:cNvPr>
          <p:cNvSpPr txBox="1"/>
          <p:nvPr/>
        </p:nvSpPr>
        <p:spPr>
          <a:xfrm rot="16200000">
            <a:off x="-231182" y="6202373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7030A0"/>
                </a:solidFill>
                <a:latin typeface="Arial Black" panose="020B0A04020102020204" pitchFamily="34" charset="0"/>
                <a:ea typeface="Artifakt Element Black" panose="020B0A03050000020004" pitchFamily="34" charset="-52"/>
              </a:rPr>
              <a:t>DmDEV</a:t>
            </a:r>
            <a:endParaRPr lang="uk-UA" sz="1200" dirty="0">
              <a:solidFill>
                <a:srgbClr val="7030A0"/>
              </a:solidFill>
              <a:latin typeface="Arial Black" panose="020B0A04020102020204" pitchFamily="34" charset="0"/>
              <a:ea typeface="Artifakt Element Black" panose="020B0A03050000020004" pitchFamily="34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7902F1-5BE7-85D5-8E75-3F0CE24DD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" y="5706638"/>
            <a:ext cx="240949" cy="268644"/>
          </a:xfrm>
          <a:prstGeom prst="rect">
            <a:avLst/>
          </a:prstGeom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F9D27AEA-F083-7B66-ED4B-BE9428D7223B}"/>
              </a:ext>
            </a:extLst>
          </p:cNvPr>
          <p:cNvSpPr/>
          <p:nvPr/>
        </p:nvSpPr>
        <p:spPr>
          <a:xfrm>
            <a:off x="362431" y="112209"/>
            <a:ext cx="12192000" cy="15335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E906-535C-2B38-0EBE-633D5F862274}"/>
              </a:ext>
            </a:extLst>
          </p:cNvPr>
          <p:cNvSpPr txBox="1"/>
          <p:nvPr/>
        </p:nvSpPr>
        <p:spPr>
          <a:xfrm>
            <a:off x="434048" y="346843"/>
            <a:ext cx="63172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Vizuálny</a:t>
            </a:r>
            <a:r>
              <a:rPr lang="en-GB" sz="3200" b="1" dirty="0">
                <a:solidFill>
                  <a:srgbClr val="7030A0"/>
                </a:solidFill>
                <a:latin typeface="Bahnschrift" panose="020B0502040204020203" pitchFamily="34" charset="0"/>
              </a:rPr>
              <a:t> promo </a:t>
            </a:r>
          </a:p>
          <a:p>
            <a:r>
              <a:rPr lang="en-GB" sz="3200" b="1" dirty="0" err="1">
                <a:solidFill>
                  <a:srgbClr val="7030A0"/>
                </a:solidFill>
                <a:latin typeface="Bahnschrift" panose="020B0502040204020203" pitchFamily="34" charset="0"/>
              </a:rPr>
              <a:t>obsah</a:t>
            </a:r>
            <a:endParaRPr lang="uk-UA" sz="3200" b="1" dirty="0">
              <a:solidFill>
                <a:srgbClr val="7030A0"/>
              </a:solidFill>
              <a:latin typeface="Bahnschrift" panose="020B0502040204020203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6923024-17B8-D075-3F33-6C6455985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17" y="1591072"/>
            <a:ext cx="3127107" cy="46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7ED5D3A9-0E25-F2D1-F757-CBD8A7F7FC57}"/>
              </a:ext>
            </a:extLst>
          </p:cNvPr>
          <p:cNvSpPr/>
          <p:nvPr/>
        </p:nvSpPr>
        <p:spPr>
          <a:xfrm rot="10800000">
            <a:off x="1153157" y="1534799"/>
            <a:ext cx="3127105" cy="4886320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4" name="Прямокутник: округлені кути 13">
            <a:extLst>
              <a:ext uri="{FF2B5EF4-FFF2-40B4-BE49-F238E27FC236}">
                <a16:creationId xmlns:a16="http://schemas.microsoft.com/office/drawing/2014/main" id="{59DE630F-22A4-1DF2-AD3D-E1C0CAEA45A6}"/>
              </a:ext>
            </a:extLst>
          </p:cNvPr>
          <p:cNvSpPr/>
          <p:nvPr/>
        </p:nvSpPr>
        <p:spPr>
          <a:xfrm rot="10800000">
            <a:off x="4810395" y="1454552"/>
            <a:ext cx="3127105" cy="4886320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17" name="Прямокутник: округлені кути 16">
            <a:extLst>
              <a:ext uri="{FF2B5EF4-FFF2-40B4-BE49-F238E27FC236}">
                <a16:creationId xmlns:a16="http://schemas.microsoft.com/office/drawing/2014/main" id="{B220E412-BD8B-619E-D231-0CEF13587E31}"/>
              </a:ext>
            </a:extLst>
          </p:cNvPr>
          <p:cNvSpPr/>
          <p:nvPr/>
        </p:nvSpPr>
        <p:spPr>
          <a:xfrm rot="10800000">
            <a:off x="8467633" y="1494676"/>
            <a:ext cx="3127105" cy="4886320"/>
          </a:xfrm>
          <a:prstGeom prst="roundRect">
            <a:avLst>
              <a:gd name="adj" fmla="val 6741"/>
            </a:avLst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F4C8F611-4108-C55F-7093-926B19494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5956" y="1689713"/>
            <a:ext cx="2982865" cy="4477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2976522-5413-ADC8-6B1C-7DCAEC3BBF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4237" y="1689713"/>
            <a:ext cx="2933895" cy="440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577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547</Words>
  <Application>Microsoft Office PowerPoint</Application>
  <PresentationFormat>Širokouhlá</PresentationFormat>
  <Paragraphs>91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</vt:lpstr>
      <vt:lpstr>Calibri</vt:lpstr>
      <vt:lpstr>Calibri Light</vt:lpstr>
      <vt:lpstr>Тема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Maksis S</dc:creator>
  <cp:lastModifiedBy>Dmytro Sydorenko</cp:lastModifiedBy>
  <cp:revision>30</cp:revision>
  <dcterms:created xsi:type="dcterms:W3CDTF">2025-11-23T19:03:23Z</dcterms:created>
  <dcterms:modified xsi:type="dcterms:W3CDTF">2025-11-24T08:50:30Z</dcterms:modified>
</cp:coreProperties>
</file>