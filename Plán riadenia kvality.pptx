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D4C0E2"/>
    <a:srgbClr val="FFFFFF"/>
    <a:srgbClr val="E3D6EC"/>
    <a:srgbClr val="9954CC"/>
    <a:srgbClr val="A278C1"/>
    <a:srgbClr val="A983C6"/>
    <a:srgbClr val="996FB8"/>
    <a:srgbClr val="E6E6E6"/>
    <a:srgbClr val="773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із теми 1 –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Стиль із теми 1 –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Без стилю та сі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3426" autoAdjust="0"/>
  </p:normalViewPr>
  <p:slideViewPr>
    <p:cSldViewPr snapToGrid="0">
      <p:cViewPr varScale="1">
        <p:scale>
          <a:sx n="79" d="100"/>
          <a:sy n="79" d="100"/>
        </p:scale>
        <p:origin x="7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DDD40-5591-418D-B585-D97777CB3AE0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93F9D-464C-49BF-9196-2F8E2F1C4B9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3546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4881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FCF5-9621-D8EC-6BC2-E6869F66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2D45F46A-E5B7-5F74-0743-75E7AFB07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F40C9136-440B-9BE0-FB18-E5F29D008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1614399-B5DC-81DE-2B9F-B4A7F3669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4920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993BC-CB8A-C6F7-70E7-C1F4D8B73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5CC34A1F-DC2D-1647-FBBD-101B41F72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47F12860-FDF6-30C9-332E-2F257FE70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8694129-BE22-AEE8-7F99-2C61F83C5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8511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0B0E-D73F-9666-198B-E7790810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8A31F87B-7A0D-1C8C-5EE2-D32B680E6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ABC4E298-99F5-93B6-E5D8-96586887F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57814B2-442F-CAAC-3494-C96BF9705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3897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449F-027E-A3AA-2AAC-E86A2FFCA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21DF0530-4912-F727-918A-EFA063E8F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A5CAD5E7-80AF-2DAD-D1A4-7814B34EB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239E352-0997-A4F2-91FF-44C4E844A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902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9DDFE-BE13-83D1-B38E-C4B638D3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E5FC4C7E-0B70-635B-5CDE-2964D44C1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711BA7AD-8E16-898C-6AFF-399CF439C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40AA8A3F-7611-AC68-C81D-FE9C312B7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9777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697-F621-4E19-DE2E-6289E4A24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>
            <a:extLst>
              <a:ext uri="{FF2B5EF4-FFF2-40B4-BE49-F238E27FC236}">
                <a16:creationId xmlns:a16="http://schemas.microsoft.com/office/drawing/2014/main" id="{E0DE350C-B2F4-15E0-6010-EB81C3C71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>
            <a:extLst>
              <a:ext uri="{FF2B5EF4-FFF2-40B4-BE49-F238E27FC236}">
                <a16:creationId xmlns:a16="http://schemas.microsoft.com/office/drawing/2014/main" id="{5AA6D4BD-7029-3C42-4487-E06ACBF3C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5114825-AD36-D3EA-DC78-84AAA43D5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93F9D-464C-49BF-9196-2F8E2F1C4B93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3522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EE33F-1A5F-F066-D4F9-5B2F0B5FA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252C91F-D589-D796-C842-9008FDF50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01312CF-0A0E-C49E-4CFF-A743B859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954B744-2648-D502-2F00-7A531CB2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3E8F48E-A3CB-6B41-FF8E-DF2CABD0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966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3C7E5-0B15-B356-ADAE-EDADCEAD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A8D4B0-7B6F-464D-24ED-141CD1D70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DCABDAA-151C-E27B-F605-6C984F8E2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40B6B56-7A76-B041-FE76-4AEDC5A9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4F45BB-7AB1-39FE-60C7-62C78C13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179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14D7C-CD12-8AEB-6E57-303FED91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9631258-4D0D-19F3-BA80-3892F468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FD8DC6E-44FD-77F7-13F9-1D554D23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0868B43-B5D2-8BE0-F246-248A2D87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83DECE6-42A7-B3F8-D111-13667C4E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067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993E3-C9E8-A8BA-FBD1-EEA9F6FA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7D271B-3DE9-C27D-B42B-3F0EA6A54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99BF747-9F15-7E7C-9ADC-30C3317E7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D6C952D-1A8D-3E0B-621B-2F707971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BA80FE2-F5F9-EE1C-56B2-DE9DE6A0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00A7AEB-EB01-5284-D52D-D947514A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000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401C4-50C4-9507-B42A-2A415D860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ADC1ECD-0ED9-0109-4DF2-857E8F57D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69FD2C3-986C-33AA-0177-64E85DE53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4CCD935-23AB-5FC8-A0C6-AFEC69291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0ABD146-A505-4EBC-AB03-C0D478DDB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273ABCF-F36D-447D-C1E7-5BDEDE0E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9AD0699-20BE-A2C6-25F2-A032E2F6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EF31D92-03EF-5040-613A-4102FE76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389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82C02-20EB-D3DF-26E9-5B0C92CB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D6556EB-65E4-F675-095E-17E74BEB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059280C8-246A-EB1D-D673-8B1B2D42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1734F18-0500-B833-5378-CDD2E5A7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746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B6D63A5-BEAA-9347-81C6-9117CD98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982E7E4-DA81-CEAC-C0BF-739CB575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04BD942-E071-3B0C-AA1D-700057CC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052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BF6D3-797A-AAD9-28F7-7EB3487D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152700-1297-7E1F-140A-1B895B7F7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9B4D952-6D79-E627-E6D0-E81B01072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C8CE863-183B-965B-BE86-D79DFA769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4C3D2D5-E90D-2227-05CA-30AE5C7A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60197DE-D2F8-66C7-7B92-E88F16FA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743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9F215-075E-6091-304C-4C1DE542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C80241E-8589-58AD-C024-6D8DE9865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787C17B-7CCE-B4BA-2544-656F3F591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E702358-6E78-E688-C381-70C642E1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160ADB-779A-0E64-E5FF-389F2D04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EB2B316-913A-998F-CC90-1EACAA0B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6941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AA4FC-F116-9A0A-A58C-CA2F04CC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58687D8-91F8-89D8-DBB3-0D419E993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38C18B5-DAF1-147E-4E38-81143083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3506CEA-7019-8952-0847-5F741C0B0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16051B6-9642-BC23-11D4-DF457D01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034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34A6DC4-6D34-8C62-649D-21326177F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BF68B88-62B9-5C09-D236-347422FE5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EA7610D-DB84-2FF2-1353-B4E5435DA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EDF82FC-FC6F-B694-3E61-01B748D6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3065032-5370-51EF-2313-24B19F4C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860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7738AE3-AE55-748F-3229-B660B019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4CC41C6-5A81-3116-5293-7613D33D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B6FE618-8C69-4C4B-D2A6-D6157A077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4C55-D749-4BEA-A36D-910077BF0DA2}" type="datetimeFigureOut">
              <a:rPr lang="uk-UA" smtClean="0"/>
              <a:t>09.11.2025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B2808D4-22F8-EE27-362D-8FDF5DCD9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C451922-3A50-5B6E-DC87-41BCD89D6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8FF78-4DF0-4F1D-96CB-7C22CCD0EE21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822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0BCAAFFF-BDA1-53D9-5946-C43BBCA169F9}"/>
              </a:ext>
            </a:extLst>
          </p:cNvPr>
          <p:cNvSpPr/>
          <p:nvPr/>
        </p:nvSpPr>
        <p:spPr>
          <a:xfrm>
            <a:off x="0" y="0"/>
            <a:ext cx="12192000" cy="6584764"/>
          </a:xfrm>
          <a:prstGeom prst="rect">
            <a:avLst/>
          </a:prstGeom>
          <a:solidFill>
            <a:srgbClr val="E3D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7D4D7302-5BCE-41A1-0267-5BD5F27902F1}"/>
              </a:ext>
            </a:extLst>
          </p:cNvPr>
          <p:cNvSpPr/>
          <p:nvPr/>
        </p:nvSpPr>
        <p:spPr>
          <a:xfrm>
            <a:off x="0" y="104174"/>
            <a:ext cx="12192000" cy="6196532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Прямокутник: округлені кути 9">
            <a:extLst>
              <a:ext uri="{FF2B5EF4-FFF2-40B4-BE49-F238E27FC236}">
                <a16:creationId xmlns:a16="http://schemas.microsoft.com/office/drawing/2014/main" id="{27EE531A-2C84-B9F2-63F9-1FB3AB694781}"/>
              </a:ext>
            </a:extLst>
          </p:cNvPr>
          <p:cNvSpPr/>
          <p:nvPr/>
        </p:nvSpPr>
        <p:spPr>
          <a:xfrm>
            <a:off x="11213877" y="6158168"/>
            <a:ext cx="686556" cy="598549"/>
          </a:xfrm>
          <a:prstGeom prst="roundRect">
            <a:avLst/>
          </a:prstGeom>
          <a:solidFill>
            <a:srgbClr val="E3D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4FBF590-4A90-2E7B-0546-A850BBD07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995" y="6201936"/>
            <a:ext cx="602263" cy="511011"/>
          </a:xfrm>
          <a:prstGeom prst="rect">
            <a:avLst/>
          </a:prstGeom>
        </p:spPr>
      </p:pic>
      <p:sp>
        <p:nvSpPr>
          <p:cNvPr id="9" name="Прямокутник: округлені кути 8">
            <a:extLst>
              <a:ext uri="{FF2B5EF4-FFF2-40B4-BE49-F238E27FC236}">
                <a16:creationId xmlns:a16="http://schemas.microsoft.com/office/drawing/2014/main" id="{7456FF9D-7A02-29C4-D107-5E27A9B3BD6E}"/>
              </a:ext>
            </a:extLst>
          </p:cNvPr>
          <p:cNvSpPr/>
          <p:nvPr/>
        </p:nvSpPr>
        <p:spPr>
          <a:xfrm>
            <a:off x="11214919" y="5910482"/>
            <a:ext cx="685514" cy="598549"/>
          </a:xfrm>
          <a:prstGeom prst="roundRect">
            <a:avLst/>
          </a:prstGeom>
          <a:solidFill>
            <a:srgbClr val="A983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8D4499D-B161-F34E-E502-D033635332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642" y="5953138"/>
            <a:ext cx="577025" cy="489597"/>
          </a:xfrm>
          <a:prstGeom prst="rect">
            <a:avLst/>
          </a:prstGeom>
        </p:spPr>
      </p:pic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6D86552C-8888-B119-19FA-BDF3119AA0E0}"/>
              </a:ext>
            </a:extLst>
          </p:cNvPr>
          <p:cNvGrpSpPr/>
          <p:nvPr/>
        </p:nvGrpSpPr>
        <p:grpSpPr>
          <a:xfrm>
            <a:off x="0" y="0"/>
            <a:ext cx="12192000" cy="6255862"/>
            <a:chOff x="0" y="0"/>
            <a:chExt cx="12192000" cy="6255862"/>
          </a:xfrm>
        </p:grpSpPr>
        <p:grpSp>
          <p:nvGrpSpPr>
            <p:cNvPr id="21" name="Групувати 20">
              <a:extLst>
                <a:ext uri="{FF2B5EF4-FFF2-40B4-BE49-F238E27FC236}">
                  <a16:creationId xmlns:a16="http://schemas.microsoft.com/office/drawing/2014/main" id="{2A3735AD-CBAB-00FF-B50C-F7454E3142AE}"/>
                </a:ext>
              </a:extLst>
            </p:cNvPr>
            <p:cNvGrpSpPr/>
            <p:nvPr/>
          </p:nvGrpSpPr>
          <p:grpSpPr>
            <a:xfrm>
              <a:off x="0" y="0"/>
              <a:ext cx="12192000" cy="6255862"/>
              <a:chOff x="0" y="0"/>
              <a:chExt cx="12192000" cy="6255862"/>
            </a:xfrm>
          </p:grpSpPr>
          <p:sp>
            <p:nvSpPr>
              <p:cNvPr id="12" name="Прямокутник 11">
                <a:extLst>
                  <a:ext uri="{FF2B5EF4-FFF2-40B4-BE49-F238E27FC236}">
                    <a16:creationId xmlns:a16="http://schemas.microsoft.com/office/drawing/2014/main" id="{2849A26A-937D-3FF5-C8F4-F2D04837F1C4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033532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endParaRPr lang="uk-UA" dirty="0">
                  <a:solidFill>
                    <a:srgbClr val="FFFFFF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5" name="Прямокутник: округлені кути 4">
                <a:extLst>
                  <a:ext uri="{FF2B5EF4-FFF2-40B4-BE49-F238E27FC236}">
                    <a16:creationId xmlns:a16="http://schemas.microsoft.com/office/drawing/2014/main" id="{480CD05D-C4EC-F04F-0BDE-32D6D4C4CB24}"/>
                  </a:ext>
                </a:extLst>
              </p:cNvPr>
              <p:cNvSpPr/>
              <p:nvPr/>
            </p:nvSpPr>
            <p:spPr>
              <a:xfrm>
                <a:off x="11214919" y="5657313"/>
                <a:ext cx="686555" cy="598549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3C959448-48C2-CD2C-9B80-F5BE4DE6F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5376" y="5657313"/>
              <a:ext cx="603557" cy="512109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9783C-1B25-6A9A-3531-BAE538F99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437" y="0"/>
            <a:ext cx="4572000" cy="2387600"/>
          </a:xfrm>
        </p:spPr>
        <p:txBody>
          <a:bodyPr/>
          <a:lstStyle/>
          <a:p>
            <a:pPr algn="l"/>
            <a:r>
              <a:rPr lang="en-GB" b="1" dirty="0">
                <a:solidFill>
                  <a:srgbClr val="A278C1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b="1" dirty="0" err="1">
                <a:solidFill>
                  <a:srgbClr val="A278C1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b="1" dirty="0">
                <a:solidFill>
                  <a:srgbClr val="A278C1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b="1" dirty="0">
                <a:solidFill>
                  <a:srgbClr val="A278C1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b="1" dirty="0">
                <a:solidFill>
                  <a:srgbClr val="A278C1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b="1" dirty="0">
              <a:solidFill>
                <a:srgbClr val="A278C1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0" name="Пряма сполучна лінія 39">
            <a:extLst>
              <a:ext uri="{FF2B5EF4-FFF2-40B4-BE49-F238E27FC236}">
                <a16:creationId xmlns:a16="http://schemas.microsoft.com/office/drawing/2014/main" id="{6122F059-F09B-5736-3B94-E07348DBDB77}"/>
              </a:ext>
            </a:extLst>
          </p:cNvPr>
          <p:cNvCxnSpPr>
            <a:cxnSpLocks/>
          </p:cNvCxnSpPr>
          <p:nvPr/>
        </p:nvCxnSpPr>
        <p:spPr>
          <a:xfrm>
            <a:off x="367401" y="2387600"/>
            <a:ext cx="4190036" cy="0"/>
          </a:xfrm>
          <a:prstGeom prst="line">
            <a:avLst/>
          </a:prstGeom>
          <a:ln w="38100">
            <a:solidFill>
              <a:srgbClr val="A278C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4D9CF5-793E-E213-745C-27F7ED8CA8BE}"/>
              </a:ext>
            </a:extLst>
          </p:cNvPr>
          <p:cNvSpPr txBox="1"/>
          <p:nvPr/>
        </p:nvSpPr>
        <p:spPr>
          <a:xfrm>
            <a:off x="247437" y="2498359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A278C1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A278C1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A278C1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A278C1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A278C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93122F-38F3-D171-6B6A-B0AC8AAE6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312" y="320403"/>
            <a:ext cx="4190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uk-UA" dirty="0" err="1">
                <a:solidFill>
                  <a:srgbClr val="A278C1"/>
                </a:solidFill>
                <a:latin typeface="Bahnschrift" panose="020B0502040204020203" pitchFamily="34" charset="0"/>
              </a:rPr>
              <a:t>Metariky</a:t>
            </a:r>
            <a:r>
              <a:rPr lang="en-GB" altLang="uk-UA" dirty="0">
                <a:solidFill>
                  <a:srgbClr val="A278C1"/>
                </a:solidFill>
                <a:latin typeface="Bahnschrift" panose="020B0502040204020203" pitchFamily="34" charset="0"/>
              </a:rPr>
              <a:t> </a:t>
            </a:r>
            <a:r>
              <a:rPr lang="en-GB" altLang="uk-UA" dirty="0" err="1">
                <a:solidFill>
                  <a:srgbClr val="A278C1"/>
                </a:solidFill>
                <a:latin typeface="Bahnschrift" panose="020B0502040204020203" pitchFamily="34" charset="0"/>
              </a:rPr>
              <a:t>kvality</a:t>
            </a:r>
            <a:r>
              <a:rPr lang="en-GB" altLang="uk-UA" dirty="0">
                <a:solidFill>
                  <a:srgbClr val="A278C1"/>
                </a:solidFill>
                <a:latin typeface="Bahnschrift" panose="020B0502040204020203" pitchFamily="34" charset="0"/>
              </a:rPr>
              <a:t> / </a:t>
            </a:r>
            <a:r>
              <a:rPr lang="en-GB" altLang="uk-UA" dirty="0" err="1">
                <a:solidFill>
                  <a:srgbClr val="A278C1"/>
                </a:solidFill>
                <a:latin typeface="Bahnschrift" panose="020B0502040204020203" pitchFamily="34" charset="0"/>
              </a:rPr>
              <a:t>Testovacie</a:t>
            </a:r>
            <a:r>
              <a:rPr lang="en-GB" altLang="uk-UA" dirty="0">
                <a:solidFill>
                  <a:srgbClr val="A278C1"/>
                </a:solidFill>
                <a:latin typeface="Bahnschrift" panose="020B0502040204020203" pitchFamily="34" charset="0"/>
              </a:rPr>
              <a:t> </a:t>
            </a:r>
            <a:r>
              <a:rPr lang="en-GB" altLang="uk-UA" dirty="0" err="1">
                <a:solidFill>
                  <a:srgbClr val="A278C1"/>
                </a:solidFill>
                <a:latin typeface="Bahnschrift" panose="020B0502040204020203" pitchFamily="34" charset="0"/>
              </a:rPr>
              <a:t>scenáre</a:t>
            </a:r>
            <a:r>
              <a:rPr lang="en-GB" altLang="uk-UA" dirty="0">
                <a:solidFill>
                  <a:srgbClr val="A278C1"/>
                </a:solidFill>
                <a:latin typeface="Bahnschrift" panose="020B0502040204020203" pitchFamily="34" charset="0"/>
              </a:rPr>
              <a:t> </a:t>
            </a:r>
            <a:endParaRPr lang="uk-UA" altLang="uk-UA" dirty="0">
              <a:solidFill>
                <a:srgbClr val="A278C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85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2FE4-A959-B558-85F6-A95DCA82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кутник 28">
            <a:extLst>
              <a:ext uri="{FF2B5EF4-FFF2-40B4-BE49-F238E27FC236}">
                <a16:creationId xmlns:a16="http://schemas.microsoft.com/office/drawing/2014/main" id="{757A132D-7F78-A752-3CF8-5FEC37496992}"/>
              </a:ext>
            </a:extLst>
          </p:cNvPr>
          <p:cNvSpPr/>
          <p:nvPr/>
        </p:nvSpPr>
        <p:spPr>
          <a:xfrm>
            <a:off x="0" y="0"/>
            <a:ext cx="12192000" cy="6584764"/>
          </a:xfrm>
          <a:prstGeom prst="rect">
            <a:avLst/>
          </a:prstGeom>
          <a:solidFill>
            <a:srgbClr val="E3D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0" name="Прямокутник 29">
            <a:extLst>
              <a:ext uri="{FF2B5EF4-FFF2-40B4-BE49-F238E27FC236}">
                <a16:creationId xmlns:a16="http://schemas.microsoft.com/office/drawing/2014/main" id="{0902EC6A-7B02-BD66-8C10-A6F50DAD85F1}"/>
              </a:ext>
            </a:extLst>
          </p:cNvPr>
          <p:cNvSpPr/>
          <p:nvPr/>
        </p:nvSpPr>
        <p:spPr>
          <a:xfrm>
            <a:off x="0" y="0"/>
            <a:ext cx="12192000" cy="6300706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1" name="Прямокутник: округлені кути 30">
            <a:extLst>
              <a:ext uri="{FF2B5EF4-FFF2-40B4-BE49-F238E27FC236}">
                <a16:creationId xmlns:a16="http://schemas.microsoft.com/office/drawing/2014/main" id="{33B1EB13-5A36-5002-A39A-97F4D9BE8F4F}"/>
              </a:ext>
            </a:extLst>
          </p:cNvPr>
          <p:cNvSpPr/>
          <p:nvPr/>
        </p:nvSpPr>
        <p:spPr>
          <a:xfrm>
            <a:off x="11213877" y="6158168"/>
            <a:ext cx="686556" cy="598549"/>
          </a:xfrm>
          <a:prstGeom prst="roundRect">
            <a:avLst/>
          </a:prstGeom>
          <a:solidFill>
            <a:srgbClr val="E3D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8A55BE8B-9EB1-051D-4054-F1C64FE71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995" y="6201936"/>
            <a:ext cx="602263" cy="511011"/>
          </a:xfrm>
          <a:prstGeom prst="rect">
            <a:avLst/>
          </a:prstGeom>
        </p:spPr>
      </p:pic>
      <p:sp>
        <p:nvSpPr>
          <p:cNvPr id="32" name="Прямокутник: округлені кути 31">
            <a:extLst>
              <a:ext uri="{FF2B5EF4-FFF2-40B4-BE49-F238E27FC236}">
                <a16:creationId xmlns:a16="http://schemas.microsoft.com/office/drawing/2014/main" id="{D0D3D194-C28B-487E-CDDC-8F883EF1569F}"/>
              </a:ext>
            </a:extLst>
          </p:cNvPr>
          <p:cNvSpPr/>
          <p:nvPr/>
        </p:nvSpPr>
        <p:spPr>
          <a:xfrm>
            <a:off x="11214919" y="5910482"/>
            <a:ext cx="685514" cy="598549"/>
          </a:xfrm>
          <a:prstGeom prst="roundRect">
            <a:avLst/>
          </a:prstGeom>
          <a:solidFill>
            <a:srgbClr val="A983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57" name="Групувати 56">
            <a:extLst>
              <a:ext uri="{FF2B5EF4-FFF2-40B4-BE49-F238E27FC236}">
                <a16:creationId xmlns:a16="http://schemas.microsoft.com/office/drawing/2014/main" id="{F532346C-5BF8-2BD2-DD57-5CAA16663373}"/>
              </a:ext>
            </a:extLst>
          </p:cNvPr>
          <p:cNvGrpSpPr/>
          <p:nvPr/>
        </p:nvGrpSpPr>
        <p:grpSpPr>
          <a:xfrm>
            <a:off x="0" y="-5571243"/>
            <a:ext cx="12192000" cy="6255862"/>
            <a:chOff x="0" y="0"/>
            <a:chExt cx="12192000" cy="6255862"/>
          </a:xfrm>
        </p:grpSpPr>
        <p:grpSp>
          <p:nvGrpSpPr>
            <p:cNvPr id="58" name="Групувати 57">
              <a:extLst>
                <a:ext uri="{FF2B5EF4-FFF2-40B4-BE49-F238E27FC236}">
                  <a16:creationId xmlns:a16="http://schemas.microsoft.com/office/drawing/2014/main" id="{98983375-8043-7801-0C03-170B75BDB8ED}"/>
                </a:ext>
              </a:extLst>
            </p:cNvPr>
            <p:cNvGrpSpPr/>
            <p:nvPr/>
          </p:nvGrpSpPr>
          <p:grpSpPr>
            <a:xfrm>
              <a:off x="0" y="0"/>
              <a:ext cx="12192000" cy="6255862"/>
              <a:chOff x="0" y="0"/>
              <a:chExt cx="12192000" cy="6255862"/>
            </a:xfrm>
          </p:grpSpPr>
          <p:sp>
            <p:nvSpPr>
              <p:cNvPr id="60" name="Прямокутник 59">
                <a:extLst>
                  <a:ext uri="{FF2B5EF4-FFF2-40B4-BE49-F238E27FC236}">
                    <a16:creationId xmlns:a16="http://schemas.microsoft.com/office/drawing/2014/main" id="{1E60159E-D695-B2E1-A360-7C2563A00942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033532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endParaRPr lang="uk-UA" dirty="0">
                  <a:solidFill>
                    <a:srgbClr val="FFFFFF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61" name="Прямокутник: округлені кути 60">
                <a:extLst>
                  <a:ext uri="{FF2B5EF4-FFF2-40B4-BE49-F238E27FC236}">
                    <a16:creationId xmlns:a16="http://schemas.microsoft.com/office/drawing/2014/main" id="{1564FD78-358E-ADEF-3A4C-193F21E0A39A}"/>
                  </a:ext>
                </a:extLst>
              </p:cNvPr>
              <p:cNvSpPr/>
              <p:nvPr/>
            </p:nvSpPr>
            <p:spPr>
              <a:xfrm>
                <a:off x="11214919" y="5657313"/>
                <a:ext cx="686555" cy="598549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pic>
          <p:nvPicPr>
            <p:cNvPr id="59" name="Рисунок 58">
              <a:extLst>
                <a:ext uri="{FF2B5EF4-FFF2-40B4-BE49-F238E27FC236}">
                  <a16:creationId xmlns:a16="http://schemas.microsoft.com/office/drawing/2014/main" id="{54ADE09C-F50D-BE50-D071-464FD4644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5376" y="5657313"/>
              <a:ext cx="603557" cy="512109"/>
            </a:xfrm>
            <a:prstGeom prst="rect">
              <a:avLst/>
            </a:prstGeom>
          </p:spPr>
        </p:pic>
      </p:grpSp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F4937D1B-4ABB-2F5F-DF37-C504E7411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642" y="5953138"/>
            <a:ext cx="577025" cy="48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181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69927-D53D-4523-0853-B49C7ECE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Групувати 24">
            <a:extLst>
              <a:ext uri="{FF2B5EF4-FFF2-40B4-BE49-F238E27FC236}">
                <a16:creationId xmlns:a16="http://schemas.microsoft.com/office/drawing/2014/main" id="{3BF5F851-766A-77BB-040A-399FB9FB7869}"/>
              </a:ext>
            </a:extLst>
          </p:cNvPr>
          <p:cNvGrpSpPr/>
          <p:nvPr/>
        </p:nvGrpSpPr>
        <p:grpSpPr>
          <a:xfrm>
            <a:off x="0" y="0"/>
            <a:ext cx="12192000" cy="6756717"/>
            <a:chOff x="0" y="0"/>
            <a:chExt cx="12192000" cy="6756717"/>
          </a:xfrm>
        </p:grpSpPr>
        <p:sp>
          <p:nvSpPr>
            <p:cNvPr id="29" name="Прямокутник 28">
              <a:extLst>
                <a:ext uri="{FF2B5EF4-FFF2-40B4-BE49-F238E27FC236}">
                  <a16:creationId xmlns:a16="http://schemas.microsoft.com/office/drawing/2014/main" id="{A224D070-265D-703D-F894-B105037CCEB5}"/>
                </a:ext>
              </a:extLst>
            </p:cNvPr>
            <p:cNvSpPr/>
            <p:nvPr/>
          </p:nvSpPr>
          <p:spPr>
            <a:xfrm>
              <a:off x="0" y="0"/>
              <a:ext cx="12192000" cy="6584764"/>
            </a:xfrm>
            <a:prstGeom prst="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31" name="Прямокутник: округлені кути 30">
              <a:extLst>
                <a:ext uri="{FF2B5EF4-FFF2-40B4-BE49-F238E27FC236}">
                  <a16:creationId xmlns:a16="http://schemas.microsoft.com/office/drawing/2014/main" id="{7D3C5C33-39BE-58A4-CCC2-E3DE670818C7}"/>
                </a:ext>
              </a:extLst>
            </p:cNvPr>
            <p:cNvSpPr/>
            <p:nvPr/>
          </p:nvSpPr>
          <p:spPr>
            <a:xfrm>
              <a:off x="11213877" y="6158168"/>
              <a:ext cx="686556" cy="598549"/>
            </a:xfrm>
            <a:prstGeom prst="round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F4A6AAAE-C97F-C068-F287-7D889FF50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7995" y="6201936"/>
              <a:ext cx="602263" cy="511011"/>
            </a:xfrm>
            <a:prstGeom prst="rect">
              <a:avLst/>
            </a:prstGeom>
          </p:spPr>
        </p:pic>
      </p:grpSp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6A8D9F6A-753E-F914-71A3-E4BF8404D7DD}"/>
              </a:ext>
            </a:extLst>
          </p:cNvPr>
          <p:cNvGrpSpPr/>
          <p:nvPr/>
        </p:nvGrpSpPr>
        <p:grpSpPr>
          <a:xfrm>
            <a:off x="0" y="0"/>
            <a:ext cx="12192000" cy="6509031"/>
            <a:chOff x="0" y="0"/>
            <a:chExt cx="12192000" cy="6509031"/>
          </a:xfrm>
        </p:grpSpPr>
        <p:sp>
          <p:nvSpPr>
            <p:cNvPr id="30" name="Прямокутник 29">
              <a:extLst>
                <a:ext uri="{FF2B5EF4-FFF2-40B4-BE49-F238E27FC236}">
                  <a16:creationId xmlns:a16="http://schemas.microsoft.com/office/drawing/2014/main" id="{5AA341A5-59B8-53CA-46CF-7E8C8836F8C4}"/>
                </a:ext>
              </a:extLst>
            </p:cNvPr>
            <p:cNvSpPr/>
            <p:nvPr/>
          </p:nvSpPr>
          <p:spPr>
            <a:xfrm>
              <a:off x="0" y="0"/>
              <a:ext cx="12192000" cy="6300706"/>
            </a:xfrm>
            <a:prstGeom prst="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2" name="Прямокутник: округлені кути 31">
              <a:extLst>
                <a:ext uri="{FF2B5EF4-FFF2-40B4-BE49-F238E27FC236}">
                  <a16:creationId xmlns:a16="http://schemas.microsoft.com/office/drawing/2014/main" id="{75FE77D3-B0DD-5DCF-D857-EC5E82D16931}"/>
                </a:ext>
              </a:extLst>
            </p:cNvPr>
            <p:cNvSpPr/>
            <p:nvPr/>
          </p:nvSpPr>
          <p:spPr>
            <a:xfrm>
              <a:off x="11214919" y="5910482"/>
              <a:ext cx="685514" cy="598549"/>
            </a:xfrm>
            <a:prstGeom prst="round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E29FA24-A1A0-FB8B-EF3E-8A89255E5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8642" y="5953138"/>
              <a:ext cx="577025" cy="489597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7600E99-058B-8B6A-C2DB-7FA22B5B5ED1}"/>
              </a:ext>
            </a:extLst>
          </p:cNvPr>
          <p:cNvSpPr txBox="1"/>
          <p:nvPr/>
        </p:nvSpPr>
        <p:spPr>
          <a:xfrm>
            <a:off x="3862085" y="979283"/>
            <a:ext cx="4467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600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Dostupnosť</a:t>
            </a:r>
            <a:r>
              <a:rPr lang="uk-UA" sz="3600" b="1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systému</a:t>
            </a:r>
            <a:endParaRPr lang="uk-UA" sz="3600" b="1" dirty="0">
              <a:solidFill>
                <a:srgbClr val="E3D6EC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8" name="Групувати 17">
            <a:extLst>
              <a:ext uri="{FF2B5EF4-FFF2-40B4-BE49-F238E27FC236}">
                <a16:creationId xmlns:a16="http://schemas.microsoft.com/office/drawing/2014/main" id="{52100020-6FD7-86D8-27B9-02ADD203D6A2}"/>
              </a:ext>
            </a:extLst>
          </p:cNvPr>
          <p:cNvGrpSpPr/>
          <p:nvPr/>
        </p:nvGrpSpPr>
        <p:grpSpPr>
          <a:xfrm>
            <a:off x="0" y="-5571243"/>
            <a:ext cx="12192000" cy="6255862"/>
            <a:chOff x="0" y="0"/>
            <a:chExt cx="12192000" cy="6255862"/>
          </a:xfrm>
        </p:grpSpPr>
        <p:grpSp>
          <p:nvGrpSpPr>
            <p:cNvPr id="19" name="Групувати 18">
              <a:extLst>
                <a:ext uri="{FF2B5EF4-FFF2-40B4-BE49-F238E27FC236}">
                  <a16:creationId xmlns:a16="http://schemas.microsoft.com/office/drawing/2014/main" id="{532C5564-34F6-F36F-6D12-2B2EFF65E676}"/>
                </a:ext>
              </a:extLst>
            </p:cNvPr>
            <p:cNvGrpSpPr/>
            <p:nvPr/>
          </p:nvGrpSpPr>
          <p:grpSpPr>
            <a:xfrm>
              <a:off x="0" y="0"/>
              <a:ext cx="12192000" cy="6255862"/>
              <a:chOff x="0" y="0"/>
              <a:chExt cx="12192000" cy="6255862"/>
            </a:xfrm>
          </p:grpSpPr>
          <p:sp>
            <p:nvSpPr>
              <p:cNvPr id="21" name="Прямокутник 20">
                <a:extLst>
                  <a:ext uri="{FF2B5EF4-FFF2-40B4-BE49-F238E27FC236}">
                    <a16:creationId xmlns:a16="http://schemas.microsoft.com/office/drawing/2014/main" id="{D00E43C7-57EB-EECB-00B7-C354C1DBBBD5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033532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endParaRPr lang="uk-UA" dirty="0">
                  <a:solidFill>
                    <a:srgbClr val="FFFFFF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22" name="Прямокутник: округлені кути 21">
                <a:extLst>
                  <a:ext uri="{FF2B5EF4-FFF2-40B4-BE49-F238E27FC236}">
                    <a16:creationId xmlns:a16="http://schemas.microsoft.com/office/drawing/2014/main" id="{61DDD3BD-20AE-39CD-1824-EB2BFC4392AA}"/>
                  </a:ext>
                </a:extLst>
              </p:cNvPr>
              <p:cNvSpPr/>
              <p:nvPr/>
            </p:nvSpPr>
            <p:spPr>
              <a:xfrm>
                <a:off x="11214919" y="5657313"/>
                <a:ext cx="686555" cy="598549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C4E047D9-621F-D7DE-D245-4ED307EA0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5376" y="5657313"/>
              <a:ext cx="603557" cy="512109"/>
            </a:xfrm>
            <a:prstGeom prst="rect">
              <a:avLst/>
            </a:prstGeom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3599294-D669-4AC8-4947-C36113676C7E}"/>
              </a:ext>
            </a:extLst>
          </p:cNvPr>
          <p:cNvSpPr txBox="1"/>
          <p:nvPr/>
        </p:nvSpPr>
        <p:spPr>
          <a:xfrm>
            <a:off x="2889578" y="3469383"/>
            <a:ext cx="6930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600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Priemerný</a:t>
            </a:r>
            <a:r>
              <a:rPr lang="uk-UA" sz="3600" b="1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čas</a:t>
            </a:r>
            <a:r>
              <a:rPr lang="uk-UA" sz="3600" b="1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načítania</a:t>
            </a:r>
            <a:r>
              <a:rPr lang="uk-UA" sz="3600" b="1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stránky</a:t>
            </a:r>
            <a:endParaRPr lang="uk-UA" sz="3600" b="1" dirty="0">
              <a:solidFill>
                <a:srgbClr val="E3D6EC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3" name="Групувати 2">
            <a:extLst>
              <a:ext uri="{FF2B5EF4-FFF2-40B4-BE49-F238E27FC236}">
                <a16:creationId xmlns:a16="http://schemas.microsoft.com/office/drawing/2014/main" id="{8B9F43CA-97BD-767F-80EA-86ACEA16AD69}"/>
              </a:ext>
            </a:extLst>
          </p:cNvPr>
          <p:cNvGrpSpPr/>
          <p:nvPr/>
        </p:nvGrpSpPr>
        <p:grpSpPr>
          <a:xfrm>
            <a:off x="-378068" y="533271"/>
            <a:ext cx="2342723" cy="369332"/>
            <a:chOff x="-378068" y="533271"/>
            <a:chExt cx="2342723" cy="369332"/>
          </a:xfrm>
        </p:grpSpPr>
        <p:sp>
          <p:nvSpPr>
            <p:cNvPr id="51" name="Прямокутник: округлені кути 50">
              <a:extLst>
                <a:ext uri="{FF2B5EF4-FFF2-40B4-BE49-F238E27FC236}">
                  <a16:creationId xmlns:a16="http://schemas.microsoft.com/office/drawing/2014/main" id="{B374607C-8A1C-AD1B-B9E0-E164880C1D66}"/>
                </a:ext>
              </a:extLst>
            </p:cNvPr>
            <p:cNvSpPr/>
            <p:nvPr/>
          </p:nvSpPr>
          <p:spPr>
            <a:xfrm>
              <a:off x="-378068" y="541815"/>
              <a:ext cx="2199190" cy="353006"/>
            </a:xfrm>
            <a:prstGeom prst="round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9A644BB-BCE1-7ECA-21B2-105F1B240737}"/>
                </a:ext>
              </a:extLst>
            </p:cNvPr>
            <p:cNvSpPr txBox="1"/>
            <p:nvPr/>
          </p:nvSpPr>
          <p:spPr>
            <a:xfrm>
              <a:off x="38669" y="533271"/>
              <a:ext cx="19259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Meatriky</a:t>
              </a:r>
              <a:r>
                <a:rPr lang="en-GB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GB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kvality</a:t>
              </a:r>
              <a:r>
                <a:rPr lang="en-GB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endParaRPr lang="uk-UA" b="1" dirty="0">
                <a:solidFill>
                  <a:srgbClr val="7030A0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E014DF5-258B-8C92-0D03-0908B610184E}"/>
              </a:ext>
            </a:extLst>
          </p:cNvPr>
          <p:cNvSpPr txBox="1"/>
          <p:nvPr/>
        </p:nvSpPr>
        <p:spPr>
          <a:xfrm>
            <a:off x="761034" y="1668270"/>
            <a:ext cx="106699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E3D6E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Popis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: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Percentuálny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podiel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času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počas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ktorého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je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webová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platforma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dostupná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a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funkčná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pre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používateľov</a:t>
            </a:r>
            <a:r>
              <a:rPr lang="en-GB" dirty="0">
                <a:solidFill>
                  <a:srgbClr val="E3D6E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E3D6E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Cieľová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hodnota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: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Minimálne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99,5 %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dostupnosti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za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mesiac</a:t>
            </a:r>
            <a:r>
              <a:rPr lang="en-GB" dirty="0">
                <a:solidFill>
                  <a:srgbClr val="E3D6E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E3D6E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Zdôvodnenie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: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Platforma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na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učenie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jazyka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musí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byť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spoľahlivá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aby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používatelia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mohli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študovať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kedykoľvek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bez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technických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vý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padkov</a:t>
            </a:r>
            <a:endParaRPr lang="uk-UA" dirty="0">
              <a:solidFill>
                <a:srgbClr val="E3D6EC"/>
              </a:solidFill>
              <a:latin typeface="Bahnschrift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AF117B-7536-C274-7876-72A49A31E628}"/>
              </a:ext>
            </a:extLst>
          </p:cNvPr>
          <p:cNvSpPr txBox="1"/>
          <p:nvPr/>
        </p:nvSpPr>
        <p:spPr>
          <a:xfrm>
            <a:off x="702071" y="4155485"/>
            <a:ext cx="10728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E3D6E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Popis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: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Priemerný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čas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ktorý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trvá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načítanie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hlavných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stránok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(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napr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.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domovská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stránka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lekcie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testy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)</a:t>
            </a:r>
            <a:r>
              <a:rPr lang="en-GB" dirty="0">
                <a:solidFill>
                  <a:srgbClr val="E3D6EC"/>
                </a:solidFill>
                <a:latin typeface="Bahnschrift" panose="020B0502040204020203" pitchFamily="34" charset="0"/>
              </a:rPr>
              <a:t>;</a:t>
            </a:r>
          </a:p>
          <a:p>
            <a:r>
              <a:rPr lang="en-GB" b="1" dirty="0">
                <a:solidFill>
                  <a:srgbClr val="E3D6E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Cieľová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hodnota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: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Menej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ako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2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sekundy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pre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95 %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požiadaviek</a:t>
            </a:r>
            <a:r>
              <a:rPr lang="en-GB" dirty="0">
                <a:solidFill>
                  <a:srgbClr val="E3D6EC"/>
                </a:solidFill>
                <a:latin typeface="Bahnschrift" panose="020B0502040204020203" pitchFamily="34" charset="0"/>
              </a:rPr>
              <a:t>;</a:t>
            </a:r>
          </a:p>
          <a:p>
            <a:r>
              <a:rPr lang="en-GB" b="1" dirty="0">
                <a:solidFill>
                  <a:srgbClr val="E3D6E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E3D6EC"/>
                </a:solidFill>
                <a:latin typeface="Bahnschrift" panose="020B0502040204020203" pitchFamily="34" charset="0"/>
              </a:rPr>
              <a:t>Zdôvodnenie</a:t>
            </a:r>
            <a:r>
              <a:rPr lang="uk-UA" b="1" dirty="0">
                <a:solidFill>
                  <a:srgbClr val="E3D6EC"/>
                </a:solidFill>
                <a:latin typeface="Bahnschrift" panose="020B0502040204020203" pitchFamily="34" charset="0"/>
              </a:rPr>
              <a:t>: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Rýchle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načítanie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zvyšuje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používateľskú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spokojnosť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a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motiváciu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pokračovať</a:t>
            </a:r>
            <a:r>
              <a:rPr lang="uk-UA" dirty="0">
                <a:solidFill>
                  <a:srgbClr val="E3D6EC"/>
                </a:solidFill>
                <a:latin typeface="Bahnschrift" panose="020B0502040204020203" pitchFamily="34" charset="0"/>
              </a:rPr>
              <a:t> v </a:t>
            </a:r>
            <a:r>
              <a:rPr lang="uk-UA" dirty="0" err="1">
                <a:solidFill>
                  <a:srgbClr val="E3D6EC"/>
                </a:solidFill>
                <a:latin typeface="Bahnschrift" panose="020B0502040204020203" pitchFamily="34" charset="0"/>
              </a:rPr>
              <a:t>učení</a:t>
            </a:r>
            <a:r>
              <a:rPr lang="en-GB" dirty="0">
                <a:solidFill>
                  <a:srgbClr val="E3D6EC"/>
                </a:solidFill>
                <a:latin typeface="Bahnschrift" panose="020B0502040204020203" pitchFamily="34" charset="0"/>
              </a:rPr>
              <a:t>;</a:t>
            </a:r>
            <a:endParaRPr lang="uk-UA" dirty="0">
              <a:solidFill>
                <a:srgbClr val="E3D6EC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2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89662-63A6-D3FC-7114-253F2ED2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Групувати 36">
            <a:extLst>
              <a:ext uri="{FF2B5EF4-FFF2-40B4-BE49-F238E27FC236}">
                <a16:creationId xmlns:a16="http://schemas.microsoft.com/office/drawing/2014/main" id="{ABC307C1-2702-9DFB-2997-E8DA970331E8}"/>
              </a:ext>
            </a:extLst>
          </p:cNvPr>
          <p:cNvGrpSpPr/>
          <p:nvPr/>
        </p:nvGrpSpPr>
        <p:grpSpPr>
          <a:xfrm>
            <a:off x="0" y="0"/>
            <a:ext cx="12192000" cy="6756717"/>
            <a:chOff x="0" y="0"/>
            <a:chExt cx="12192000" cy="6756717"/>
          </a:xfrm>
        </p:grpSpPr>
        <p:sp>
          <p:nvSpPr>
            <p:cNvPr id="38" name="Прямокутник 37">
              <a:extLst>
                <a:ext uri="{FF2B5EF4-FFF2-40B4-BE49-F238E27FC236}">
                  <a16:creationId xmlns:a16="http://schemas.microsoft.com/office/drawing/2014/main" id="{3A006AF3-3881-DA12-1F12-01E73B826AE0}"/>
                </a:ext>
              </a:extLst>
            </p:cNvPr>
            <p:cNvSpPr/>
            <p:nvPr/>
          </p:nvSpPr>
          <p:spPr>
            <a:xfrm>
              <a:off x="0" y="0"/>
              <a:ext cx="12192000" cy="6584764"/>
            </a:xfrm>
            <a:prstGeom prst="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39" name="Прямокутник: округлені кути 38">
              <a:extLst>
                <a:ext uri="{FF2B5EF4-FFF2-40B4-BE49-F238E27FC236}">
                  <a16:creationId xmlns:a16="http://schemas.microsoft.com/office/drawing/2014/main" id="{831CCD49-F00E-F484-03EA-5C07D9C6580C}"/>
                </a:ext>
              </a:extLst>
            </p:cNvPr>
            <p:cNvSpPr/>
            <p:nvPr/>
          </p:nvSpPr>
          <p:spPr>
            <a:xfrm>
              <a:off x="11213877" y="6158168"/>
              <a:ext cx="686556" cy="598549"/>
            </a:xfrm>
            <a:prstGeom prst="round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5C8E3824-800E-96D4-190F-3D2728DE9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7995" y="6201936"/>
              <a:ext cx="602263" cy="511011"/>
            </a:xfrm>
            <a:prstGeom prst="rect">
              <a:avLst/>
            </a:prstGeom>
          </p:spPr>
        </p:pic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979D21E5-A318-C5EF-173F-698097C24951}"/>
              </a:ext>
            </a:extLst>
          </p:cNvPr>
          <p:cNvGrpSpPr/>
          <p:nvPr/>
        </p:nvGrpSpPr>
        <p:grpSpPr>
          <a:xfrm>
            <a:off x="0" y="-5629118"/>
            <a:ext cx="12192000" cy="6509031"/>
            <a:chOff x="0" y="0"/>
            <a:chExt cx="12192000" cy="6509031"/>
          </a:xfrm>
        </p:grpSpPr>
        <p:sp>
          <p:nvSpPr>
            <p:cNvPr id="34" name="Прямокутник 33">
              <a:extLst>
                <a:ext uri="{FF2B5EF4-FFF2-40B4-BE49-F238E27FC236}">
                  <a16:creationId xmlns:a16="http://schemas.microsoft.com/office/drawing/2014/main" id="{BF6726D9-5981-6A84-D56B-036DA806C844}"/>
                </a:ext>
              </a:extLst>
            </p:cNvPr>
            <p:cNvSpPr/>
            <p:nvPr/>
          </p:nvSpPr>
          <p:spPr>
            <a:xfrm>
              <a:off x="0" y="0"/>
              <a:ext cx="12192000" cy="6300706"/>
            </a:xfrm>
            <a:prstGeom prst="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5" name="Прямокутник: округлені кути 34">
              <a:extLst>
                <a:ext uri="{FF2B5EF4-FFF2-40B4-BE49-F238E27FC236}">
                  <a16:creationId xmlns:a16="http://schemas.microsoft.com/office/drawing/2014/main" id="{224027BC-6867-2B7F-35DF-48DE400691E1}"/>
                </a:ext>
              </a:extLst>
            </p:cNvPr>
            <p:cNvSpPr/>
            <p:nvPr/>
          </p:nvSpPr>
          <p:spPr>
            <a:xfrm>
              <a:off x="11214919" y="5910482"/>
              <a:ext cx="685514" cy="598549"/>
            </a:xfrm>
            <a:prstGeom prst="round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30CAB5DF-6A15-CB61-D7A5-BCFFFF81D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8642" y="5953138"/>
              <a:ext cx="577025" cy="489597"/>
            </a:xfrm>
            <a:prstGeom prst="rect">
              <a:avLst/>
            </a:prstGeom>
          </p:spPr>
        </p:pic>
      </p:grpSp>
      <p:grpSp>
        <p:nvGrpSpPr>
          <p:cNvPr id="18" name="Групувати 17">
            <a:extLst>
              <a:ext uri="{FF2B5EF4-FFF2-40B4-BE49-F238E27FC236}">
                <a16:creationId xmlns:a16="http://schemas.microsoft.com/office/drawing/2014/main" id="{25D8CE16-2812-974A-EAF3-B000333EFA57}"/>
              </a:ext>
            </a:extLst>
          </p:cNvPr>
          <p:cNvGrpSpPr/>
          <p:nvPr/>
        </p:nvGrpSpPr>
        <p:grpSpPr>
          <a:xfrm>
            <a:off x="0" y="-5571243"/>
            <a:ext cx="12192000" cy="6255862"/>
            <a:chOff x="0" y="0"/>
            <a:chExt cx="12192000" cy="6255862"/>
          </a:xfrm>
        </p:grpSpPr>
        <p:grpSp>
          <p:nvGrpSpPr>
            <p:cNvPr id="19" name="Групувати 18">
              <a:extLst>
                <a:ext uri="{FF2B5EF4-FFF2-40B4-BE49-F238E27FC236}">
                  <a16:creationId xmlns:a16="http://schemas.microsoft.com/office/drawing/2014/main" id="{8BBE6E5E-E72E-F5BD-49F4-997295D07EBB}"/>
                </a:ext>
              </a:extLst>
            </p:cNvPr>
            <p:cNvGrpSpPr/>
            <p:nvPr/>
          </p:nvGrpSpPr>
          <p:grpSpPr>
            <a:xfrm>
              <a:off x="0" y="0"/>
              <a:ext cx="12192000" cy="6255862"/>
              <a:chOff x="0" y="0"/>
              <a:chExt cx="12192000" cy="6255862"/>
            </a:xfrm>
          </p:grpSpPr>
          <p:sp>
            <p:nvSpPr>
              <p:cNvPr id="21" name="Прямокутник 20">
                <a:extLst>
                  <a:ext uri="{FF2B5EF4-FFF2-40B4-BE49-F238E27FC236}">
                    <a16:creationId xmlns:a16="http://schemas.microsoft.com/office/drawing/2014/main" id="{B238A5E0-B644-B99B-4724-6AD83277393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033532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endParaRPr lang="uk-UA" dirty="0">
                  <a:solidFill>
                    <a:srgbClr val="FFFFFF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22" name="Прямокутник: округлені кути 21">
                <a:extLst>
                  <a:ext uri="{FF2B5EF4-FFF2-40B4-BE49-F238E27FC236}">
                    <a16:creationId xmlns:a16="http://schemas.microsoft.com/office/drawing/2014/main" id="{0A21E534-E754-BE65-BF08-C19A998DFD43}"/>
                  </a:ext>
                </a:extLst>
              </p:cNvPr>
              <p:cNvSpPr/>
              <p:nvPr/>
            </p:nvSpPr>
            <p:spPr>
              <a:xfrm>
                <a:off x="11214919" y="5657313"/>
                <a:ext cx="686555" cy="598549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3032EF10-DE77-A7FF-D49F-56D40CC1F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5376" y="5657313"/>
              <a:ext cx="603557" cy="512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9322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A617-DA47-84AF-0C2A-C0903E6D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увати 22">
            <a:extLst>
              <a:ext uri="{FF2B5EF4-FFF2-40B4-BE49-F238E27FC236}">
                <a16:creationId xmlns:a16="http://schemas.microsoft.com/office/drawing/2014/main" id="{A293D5AA-20A5-5950-0E24-5CDC19C1B9D2}"/>
              </a:ext>
            </a:extLst>
          </p:cNvPr>
          <p:cNvGrpSpPr/>
          <p:nvPr/>
        </p:nvGrpSpPr>
        <p:grpSpPr>
          <a:xfrm>
            <a:off x="0" y="0"/>
            <a:ext cx="12192000" cy="6756717"/>
            <a:chOff x="0" y="0"/>
            <a:chExt cx="12192000" cy="6756717"/>
          </a:xfrm>
        </p:grpSpPr>
        <p:sp>
          <p:nvSpPr>
            <p:cNvPr id="24" name="Прямокутник 23">
              <a:extLst>
                <a:ext uri="{FF2B5EF4-FFF2-40B4-BE49-F238E27FC236}">
                  <a16:creationId xmlns:a16="http://schemas.microsoft.com/office/drawing/2014/main" id="{7013DE22-80D6-B5A2-0388-DA9DEC629D37}"/>
                </a:ext>
              </a:extLst>
            </p:cNvPr>
            <p:cNvSpPr/>
            <p:nvPr/>
          </p:nvSpPr>
          <p:spPr>
            <a:xfrm>
              <a:off x="0" y="0"/>
              <a:ext cx="12192000" cy="6584764"/>
            </a:xfrm>
            <a:prstGeom prst="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25" name="Прямокутник: округлені кути 24">
              <a:extLst>
                <a:ext uri="{FF2B5EF4-FFF2-40B4-BE49-F238E27FC236}">
                  <a16:creationId xmlns:a16="http://schemas.microsoft.com/office/drawing/2014/main" id="{F5B9F961-57A6-7305-D315-62F082FB5FDC}"/>
                </a:ext>
              </a:extLst>
            </p:cNvPr>
            <p:cNvSpPr/>
            <p:nvPr/>
          </p:nvSpPr>
          <p:spPr>
            <a:xfrm>
              <a:off x="11213877" y="6158168"/>
              <a:ext cx="686556" cy="598549"/>
            </a:xfrm>
            <a:prstGeom prst="round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A7C26C3F-F099-2818-09C0-F7216B705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7995" y="6201936"/>
              <a:ext cx="602263" cy="511011"/>
            </a:xfrm>
            <a:prstGeom prst="rect">
              <a:avLst/>
            </a:prstGeom>
          </p:spPr>
        </p:pic>
      </p:grpSp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id="{087A8877-63E2-9E7A-3238-88EC68D7E769}"/>
              </a:ext>
            </a:extLst>
          </p:cNvPr>
          <p:cNvGrpSpPr/>
          <p:nvPr/>
        </p:nvGrpSpPr>
        <p:grpSpPr>
          <a:xfrm>
            <a:off x="0" y="-5629118"/>
            <a:ext cx="12192000" cy="6509031"/>
            <a:chOff x="0" y="0"/>
            <a:chExt cx="12192000" cy="6509031"/>
          </a:xfrm>
        </p:grpSpPr>
        <p:sp>
          <p:nvSpPr>
            <p:cNvPr id="28" name="Прямокутник 27">
              <a:extLst>
                <a:ext uri="{FF2B5EF4-FFF2-40B4-BE49-F238E27FC236}">
                  <a16:creationId xmlns:a16="http://schemas.microsoft.com/office/drawing/2014/main" id="{B1CDEC36-45D9-6844-AA87-EF8BF6D3AE6D}"/>
                </a:ext>
              </a:extLst>
            </p:cNvPr>
            <p:cNvSpPr/>
            <p:nvPr/>
          </p:nvSpPr>
          <p:spPr>
            <a:xfrm>
              <a:off x="0" y="0"/>
              <a:ext cx="12192000" cy="6300706"/>
            </a:xfrm>
            <a:prstGeom prst="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3" name="Прямокутник: округлені кути 32">
              <a:extLst>
                <a:ext uri="{FF2B5EF4-FFF2-40B4-BE49-F238E27FC236}">
                  <a16:creationId xmlns:a16="http://schemas.microsoft.com/office/drawing/2014/main" id="{094AA2A1-F829-277C-E7E1-3E823EA680F3}"/>
                </a:ext>
              </a:extLst>
            </p:cNvPr>
            <p:cNvSpPr/>
            <p:nvPr/>
          </p:nvSpPr>
          <p:spPr>
            <a:xfrm>
              <a:off x="11214919" y="5910482"/>
              <a:ext cx="685514" cy="598549"/>
            </a:xfrm>
            <a:prstGeom prst="round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037CE90F-CD8C-BDDB-F2B1-27880AFA1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8642" y="5953138"/>
              <a:ext cx="577025" cy="489597"/>
            </a:xfrm>
            <a:prstGeom prst="rect">
              <a:avLst/>
            </a:prstGeom>
          </p:spPr>
        </p:pic>
      </p:grpSp>
      <p:grpSp>
        <p:nvGrpSpPr>
          <p:cNvPr id="18" name="Групувати 17">
            <a:extLst>
              <a:ext uri="{FF2B5EF4-FFF2-40B4-BE49-F238E27FC236}">
                <a16:creationId xmlns:a16="http://schemas.microsoft.com/office/drawing/2014/main" id="{AE03F826-D020-39D8-4973-5D698F7D955E}"/>
              </a:ext>
            </a:extLst>
          </p:cNvPr>
          <p:cNvGrpSpPr/>
          <p:nvPr/>
        </p:nvGrpSpPr>
        <p:grpSpPr>
          <a:xfrm>
            <a:off x="0" y="-5571243"/>
            <a:ext cx="12192000" cy="6255862"/>
            <a:chOff x="0" y="0"/>
            <a:chExt cx="12192000" cy="6255862"/>
          </a:xfrm>
        </p:grpSpPr>
        <p:grpSp>
          <p:nvGrpSpPr>
            <p:cNvPr id="19" name="Групувати 18">
              <a:extLst>
                <a:ext uri="{FF2B5EF4-FFF2-40B4-BE49-F238E27FC236}">
                  <a16:creationId xmlns:a16="http://schemas.microsoft.com/office/drawing/2014/main" id="{E2974F1E-26C7-68BD-62F3-C9087673F7A1}"/>
                </a:ext>
              </a:extLst>
            </p:cNvPr>
            <p:cNvGrpSpPr/>
            <p:nvPr/>
          </p:nvGrpSpPr>
          <p:grpSpPr>
            <a:xfrm>
              <a:off x="0" y="0"/>
              <a:ext cx="12192000" cy="6255862"/>
              <a:chOff x="0" y="0"/>
              <a:chExt cx="12192000" cy="6255862"/>
            </a:xfrm>
          </p:grpSpPr>
          <p:sp>
            <p:nvSpPr>
              <p:cNvPr id="21" name="Прямокутник 20">
                <a:extLst>
                  <a:ext uri="{FF2B5EF4-FFF2-40B4-BE49-F238E27FC236}">
                    <a16:creationId xmlns:a16="http://schemas.microsoft.com/office/drawing/2014/main" id="{AEEEC3F0-3800-EB78-29D0-F3C1EC801011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033532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endParaRPr lang="uk-UA" dirty="0">
                  <a:solidFill>
                    <a:srgbClr val="FFFFFF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22" name="Прямокутник: округлені кути 21">
                <a:extLst>
                  <a:ext uri="{FF2B5EF4-FFF2-40B4-BE49-F238E27FC236}">
                    <a16:creationId xmlns:a16="http://schemas.microsoft.com/office/drawing/2014/main" id="{9CA17001-66D0-F004-3AA9-CC8C0C45C396}"/>
                  </a:ext>
                </a:extLst>
              </p:cNvPr>
              <p:cNvSpPr/>
              <p:nvPr/>
            </p:nvSpPr>
            <p:spPr>
              <a:xfrm>
                <a:off x="11214919" y="5657313"/>
                <a:ext cx="686555" cy="598549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F1F90EAD-0E71-6BDC-E40A-DEA46D777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5376" y="5657313"/>
              <a:ext cx="603557" cy="512109"/>
            </a:xfrm>
            <a:prstGeom prst="rect">
              <a:avLst/>
            </a:prstGeom>
          </p:spPr>
        </p:pic>
      </p:grpSp>
      <p:grpSp>
        <p:nvGrpSpPr>
          <p:cNvPr id="48" name="Групувати 47">
            <a:extLst>
              <a:ext uri="{FF2B5EF4-FFF2-40B4-BE49-F238E27FC236}">
                <a16:creationId xmlns:a16="http://schemas.microsoft.com/office/drawing/2014/main" id="{F5F4BA7F-C12F-A9E1-7EB4-A3E8F59CC0C8}"/>
              </a:ext>
            </a:extLst>
          </p:cNvPr>
          <p:cNvGrpSpPr/>
          <p:nvPr/>
        </p:nvGrpSpPr>
        <p:grpSpPr>
          <a:xfrm>
            <a:off x="-397524" y="808866"/>
            <a:ext cx="2631439" cy="374083"/>
            <a:chOff x="-397524" y="808866"/>
            <a:chExt cx="2631439" cy="374083"/>
          </a:xfrm>
        </p:grpSpPr>
        <p:sp>
          <p:nvSpPr>
            <p:cNvPr id="35" name="Прямокутник: округлені кути 34">
              <a:extLst>
                <a:ext uri="{FF2B5EF4-FFF2-40B4-BE49-F238E27FC236}">
                  <a16:creationId xmlns:a16="http://schemas.microsoft.com/office/drawing/2014/main" id="{781BA9E2-32E2-7604-64F9-E7F67BDA6FA7}"/>
                </a:ext>
              </a:extLst>
            </p:cNvPr>
            <p:cNvSpPr/>
            <p:nvPr/>
          </p:nvSpPr>
          <p:spPr>
            <a:xfrm>
              <a:off x="-397524" y="813617"/>
              <a:ext cx="2596714" cy="369332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297865-1DC0-12AA-C8D4-10F71D65D0F3}"/>
                </a:ext>
              </a:extLst>
            </p:cNvPr>
            <p:cNvSpPr txBox="1"/>
            <p:nvPr/>
          </p:nvSpPr>
          <p:spPr>
            <a:xfrm>
              <a:off x="34725" y="808866"/>
              <a:ext cx="21991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b="1" dirty="0" err="1">
                  <a:solidFill>
                    <a:srgbClr val="9954CC"/>
                  </a:solidFill>
                  <a:latin typeface="Bahnschrift" panose="020B0502040204020203" pitchFamily="34" charset="0"/>
                </a:rPr>
                <a:t>Testovacie</a:t>
              </a:r>
              <a:r>
                <a:rPr lang="uk-UA" b="1" dirty="0">
                  <a:solidFill>
                    <a:srgbClr val="9954CC"/>
                  </a:solidFill>
                  <a:latin typeface="Bahnschrift" panose="020B0502040204020203" pitchFamily="34" charset="0"/>
                </a:rPr>
                <a:t> </a:t>
              </a:r>
              <a:r>
                <a:rPr lang="uk-UA" b="1" dirty="0" err="1">
                  <a:solidFill>
                    <a:srgbClr val="9954CC"/>
                  </a:solidFill>
                  <a:latin typeface="Bahnschrift" panose="020B0502040204020203" pitchFamily="34" charset="0"/>
                </a:rPr>
                <a:t>scenáre</a:t>
              </a:r>
              <a:r>
                <a:rPr lang="uk-UA" b="1" dirty="0">
                  <a:solidFill>
                    <a:srgbClr val="9954CC"/>
                  </a:solidFill>
                  <a:latin typeface="Bahnschrift" panose="020B0502040204020203" pitchFamily="34" charset="0"/>
                </a:rPr>
                <a:t> 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57C8F41-C96F-34C9-C398-CF9BBA6A0C94}"/>
              </a:ext>
            </a:extLst>
          </p:cNvPr>
          <p:cNvSpPr txBox="1"/>
          <p:nvPr/>
        </p:nvSpPr>
        <p:spPr>
          <a:xfrm>
            <a:off x="3008948" y="835050"/>
            <a:ext cx="6290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Test</a:t>
            </a:r>
            <a:r>
              <a:rPr lang="uk-UA" sz="3600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prihlásenia</a:t>
            </a:r>
            <a:r>
              <a:rPr lang="uk-UA" sz="3600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používateľa</a:t>
            </a:r>
            <a:endParaRPr lang="uk-UA" sz="3600" b="1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998013-76ED-2750-A3F6-0C51DE964829}"/>
              </a:ext>
            </a:extLst>
          </p:cNvPr>
          <p:cNvSpPr txBox="1"/>
          <p:nvPr/>
        </p:nvSpPr>
        <p:spPr>
          <a:xfrm>
            <a:off x="579230" y="1517771"/>
            <a:ext cx="104635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Vstup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/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Kroky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zadá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správne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email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heslo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Očakávaný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výsledok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je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úspešne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prihlásený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presmerovaný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na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hlavnú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stránku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profil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e;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Dôvod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Overenie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základnej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funkčnosti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autentifikácie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prístupu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k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obsahu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platformy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  <a:endParaRPr lang="uk-UA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991A1D-3FE7-A6E9-267E-4F90817B5922}"/>
              </a:ext>
            </a:extLst>
          </p:cNvPr>
          <p:cNvSpPr txBox="1"/>
          <p:nvPr/>
        </p:nvSpPr>
        <p:spPr>
          <a:xfrm>
            <a:off x="3008948" y="2531776"/>
            <a:ext cx="6290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Test</a:t>
            </a:r>
            <a:r>
              <a:rPr lang="uk-UA" sz="3600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nesprávneho</a:t>
            </a:r>
            <a:r>
              <a:rPr lang="uk-UA" sz="3600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prihlásenia</a:t>
            </a:r>
            <a:endParaRPr lang="uk-UA" sz="3600" b="1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F7576B-9A0E-5F5D-035F-E54AAF9A28A2}"/>
              </a:ext>
            </a:extLst>
          </p:cNvPr>
          <p:cNvSpPr txBox="1"/>
          <p:nvPr/>
        </p:nvSpPr>
        <p:spPr>
          <a:xfrm>
            <a:off x="579230" y="3153934"/>
            <a:ext cx="10975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Vstup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/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Kroky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zadá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nesprávne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heslo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alebo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email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Očakávaný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výsledok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Zobrazí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sa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chybové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hlásenie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„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Nesprávne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prihlasovacie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údaje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“ a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prihlásenie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sa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neuskutoční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Dôvod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Kontrola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správneho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ošetrenia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chýb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bezpečnostných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9954CC"/>
                </a:solidFill>
                <a:latin typeface="Bahnschrift" panose="020B0502040204020203" pitchFamily="34" charset="0"/>
              </a:rPr>
              <a:t>mechanizmov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  <a:endParaRPr lang="uk-UA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C0A841-FDC7-F1D4-CDE1-F3B5B09F48DB}"/>
              </a:ext>
            </a:extLst>
          </p:cNvPr>
          <p:cNvSpPr txBox="1"/>
          <p:nvPr/>
        </p:nvSpPr>
        <p:spPr>
          <a:xfrm>
            <a:off x="3983633" y="4411095"/>
            <a:ext cx="4341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9954CC"/>
                </a:solidFill>
                <a:latin typeface="Bahnschrift" panose="020B0502040204020203" pitchFamily="34" charset="0"/>
              </a:rPr>
              <a:t>Test </a:t>
            </a:r>
            <a:r>
              <a:rPr lang="en-GB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načítania</a:t>
            </a:r>
            <a:r>
              <a:rPr lang="en-GB" sz="3600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sz="3600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lekcie</a:t>
            </a:r>
            <a:endParaRPr lang="uk-UA" sz="3600" b="1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D0D2B7-7217-78F3-21DE-9358577D6DEE}"/>
              </a:ext>
            </a:extLst>
          </p:cNvPr>
          <p:cNvSpPr txBox="1"/>
          <p:nvPr/>
        </p:nvSpPr>
        <p:spPr>
          <a:xfrm>
            <a:off x="579230" y="5006032"/>
            <a:ext cx="10975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Vstup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/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Kroky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otvorí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vybranú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lekciu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Očakávaný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výsledok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Lekcia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načíta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do 2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sekúnd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všetky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texty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obrázky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zvukové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súbory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sú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viditeľné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funkčné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Dôvod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Overenie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výkonu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správneho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zobrazovania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obsahu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  <a:endParaRPr lang="uk-UA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7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E7E2-BDAE-0D24-639C-983A5B9B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2A25C567-C0F5-2170-A665-5C3F33389EA9}"/>
              </a:ext>
            </a:extLst>
          </p:cNvPr>
          <p:cNvGrpSpPr/>
          <p:nvPr/>
        </p:nvGrpSpPr>
        <p:grpSpPr>
          <a:xfrm>
            <a:off x="0" y="-5661770"/>
            <a:ext cx="12192000" cy="6756717"/>
            <a:chOff x="0" y="0"/>
            <a:chExt cx="12192000" cy="6756717"/>
          </a:xfrm>
        </p:grpSpPr>
        <p:sp>
          <p:nvSpPr>
            <p:cNvPr id="7" name="Прямокутник 6">
              <a:extLst>
                <a:ext uri="{FF2B5EF4-FFF2-40B4-BE49-F238E27FC236}">
                  <a16:creationId xmlns:a16="http://schemas.microsoft.com/office/drawing/2014/main" id="{10831E32-3CFC-6F71-3C4C-289824321BD0}"/>
                </a:ext>
              </a:extLst>
            </p:cNvPr>
            <p:cNvSpPr/>
            <p:nvPr/>
          </p:nvSpPr>
          <p:spPr>
            <a:xfrm>
              <a:off x="0" y="0"/>
              <a:ext cx="12192000" cy="6584764"/>
            </a:xfrm>
            <a:prstGeom prst="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8" name="Прямокутник: округлені кути 7">
              <a:extLst>
                <a:ext uri="{FF2B5EF4-FFF2-40B4-BE49-F238E27FC236}">
                  <a16:creationId xmlns:a16="http://schemas.microsoft.com/office/drawing/2014/main" id="{BCD4E559-9A35-F1DF-E0A7-3D375A860BFE}"/>
                </a:ext>
              </a:extLst>
            </p:cNvPr>
            <p:cNvSpPr/>
            <p:nvPr/>
          </p:nvSpPr>
          <p:spPr>
            <a:xfrm>
              <a:off x="11213877" y="6158168"/>
              <a:ext cx="686556" cy="598549"/>
            </a:xfrm>
            <a:prstGeom prst="round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017F4AC7-DF72-02DB-71AD-08E7D332F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7995" y="6201936"/>
              <a:ext cx="602263" cy="511011"/>
            </a:xfrm>
            <a:prstGeom prst="rect">
              <a:avLst/>
            </a:prstGeom>
          </p:spPr>
        </p:pic>
      </p:grpSp>
      <p:grpSp>
        <p:nvGrpSpPr>
          <p:cNvPr id="2" name="Групувати 1">
            <a:extLst>
              <a:ext uri="{FF2B5EF4-FFF2-40B4-BE49-F238E27FC236}">
                <a16:creationId xmlns:a16="http://schemas.microsoft.com/office/drawing/2014/main" id="{53B3C717-99A4-B2C8-ADAD-EF56C0030F0A}"/>
              </a:ext>
            </a:extLst>
          </p:cNvPr>
          <p:cNvGrpSpPr/>
          <p:nvPr/>
        </p:nvGrpSpPr>
        <p:grpSpPr>
          <a:xfrm>
            <a:off x="0" y="-5603895"/>
            <a:ext cx="12192000" cy="6509031"/>
            <a:chOff x="0" y="0"/>
            <a:chExt cx="12192000" cy="6509031"/>
          </a:xfrm>
        </p:grpSpPr>
        <p:sp>
          <p:nvSpPr>
            <p:cNvPr id="3" name="Прямокутник 2">
              <a:extLst>
                <a:ext uri="{FF2B5EF4-FFF2-40B4-BE49-F238E27FC236}">
                  <a16:creationId xmlns:a16="http://schemas.microsoft.com/office/drawing/2014/main" id="{B0AD0F85-01D6-A30B-21F5-6CFBA980ABD0}"/>
                </a:ext>
              </a:extLst>
            </p:cNvPr>
            <p:cNvSpPr/>
            <p:nvPr/>
          </p:nvSpPr>
          <p:spPr>
            <a:xfrm>
              <a:off x="0" y="0"/>
              <a:ext cx="12192000" cy="6300706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4" name="Прямокутник: округлені кути 3">
              <a:extLst>
                <a:ext uri="{FF2B5EF4-FFF2-40B4-BE49-F238E27FC236}">
                  <a16:creationId xmlns:a16="http://schemas.microsoft.com/office/drawing/2014/main" id="{BE37DD3F-3EBC-017A-F3E5-F4D28F07F0B3}"/>
                </a:ext>
              </a:extLst>
            </p:cNvPr>
            <p:cNvSpPr/>
            <p:nvPr/>
          </p:nvSpPr>
          <p:spPr>
            <a:xfrm>
              <a:off x="11214919" y="5910482"/>
              <a:ext cx="685514" cy="598549"/>
            </a:xfrm>
            <a:prstGeom prst="round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7B78C105-2B98-5782-CC48-D6FCA0F96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8642" y="5953138"/>
              <a:ext cx="577025" cy="489597"/>
            </a:xfrm>
            <a:prstGeom prst="rect">
              <a:avLst/>
            </a:prstGeom>
          </p:spPr>
        </p:pic>
      </p:grpSp>
      <p:grpSp>
        <p:nvGrpSpPr>
          <p:cNvPr id="18" name="Групувати 17">
            <a:extLst>
              <a:ext uri="{FF2B5EF4-FFF2-40B4-BE49-F238E27FC236}">
                <a16:creationId xmlns:a16="http://schemas.microsoft.com/office/drawing/2014/main" id="{C5F17413-C9AC-387C-67DE-AB4FD6F53FD7}"/>
              </a:ext>
            </a:extLst>
          </p:cNvPr>
          <p:cNvGrpSpPr/>
          <p:nvPr/>
        </p:nvGrpSpPr>
        <p:grpSpPr>
          <a:xfrm>
            <a:off x="0" y="-5571243"/>
            <a:ext cx="12192000" cy="6255862"/>
            <a:chOff x="0" y="0"/>
            <a:chExt cx="12192000" cy="6255862"/>
          </a:xfrm>
        </p:grpSpPr>
        <p:grpSp>
          <p:nvGrpSpPr>
            <p:cNvPr id="19" name="Групувати 18">
              <a:extLst>
                <a:ext uri="{FF2B5EF4-FFF2-40B4-BE49-F238E27FC236}">
                  <a16:creationId xmlns:a16="http://schemas.microsoft.com/office/drawing/2014/main" id="{EE002715-52E5-B6DF-3174-EEE2B60C30E5}"/>
                </a:ext>
              </a:extLst>
            </p:cNvPr>
            <p:cNvGrpSpPr/>
            <p:nvPr/>
          </p:nvGrpSpPr>
          <p:grpSpPr>
            <a:xfrm>
              <a:off x="0" y="0"/>
              <a:ext cx="12192000" cy="6255862"/>
              <a:chOff x="0" y="0"/>
              <a:chExt cx="12192000" cy="6255862"/>
            </a:xfrm>
          </p:grpSpPr>
          <p:sp>
            <p:nvSpPr>
              <p:cNvPr id="21" name="Прямокутник 20">
                <a:extLst>
                  <a:ext uri="{FF2B5EF4-FFF2-40B4-BE49-F238E27FC236}">
                    <a16:creationId xmlns:a16="http://schemas.microsoft.com/office/drawing/2014/main" id="{1DB2757A-D909-E695-4EA3-FA1BA1734C21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033532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endParaRPr lang="uk-UA" dirty="0">
                  <a:solidFill>
                    <a:srgbClr val="FFFFFF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22" name="Прямокутник: округлені кути 21">
                <a:extLst>
                  <a:ext uri="{FF2B5EF4-FFF2-40B4-BE49-F238E27FC236}">
                    <a16:creationId xmlns:a16="http://schemas.microsoft.com/office/drawing/2014/main" id="{D6B1D0E4-83C0-87E0-D521-A58506A1B7DD}"/>
                  </a:ext>
                </a:extLst>
              </p:cNvPr>
              <p:cNvSpPr/>
              <p:nvPr/>
            </p:nvSpPr>
            <p:spPr>
              <a:xfrm>
                <a:off x="11214919" y="5657313"/>
                <a:ext cx="686555" cy="598549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D7B29DF3-EF75-CCF6-58CA-571610080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5376" y="5657313"/>
              <a:ext cx="603557" cy="512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2957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835B4-E75B-1A21-9444-FDD72286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53E77847-CFDE-15B9-7C83-328A6D240C26}"/>
              </a:ext>
            </a:extLst>
          </p:cNvPr>
          <p:cNvGrpSpPr/>
          <p:nvPr/>
        </p:nvGrpSpPr>
        <p:grpSpPr>
          <a:xfrm>
            <a:off x="0" y="-5661770"/>
            <a:ext cx="12192000" cy="6756717"/>
            <a:chOff x="0" y="0"/>
            <a:chExt cx="12192000" cy="6756717"/>
          </a:xfrm>
        </p:grpSpPr>
        <p:sp>
          <p:nvSpPr>
            <p:cNvPr id="7" name="Прямокутник 6">
              <a:extLst>
                <a:ext uri="{FF2B5EF4-FFF2-40B4-BE49-F238E27FC236}">
                  <a16:creationId xmlns:a16="http://schemas.microsoft.com/office/drawing/2014/main" id="{37B86CED-0277-1D41-4B55-1A10259EDE65}"/>
                </a:ext>
              </a:extLst>
            </p:cNvPr>
            <p:cNvSpPr/>
            <p:nvPr/>
          </p:nvSpPr>
          <p:spPr>
            <a:xfrm>
              <a:off x="0" y="0"/>
              <a:ext cx="12192000" cy="6584764"/>
            </a:xfrm>
            <a:prstGeom prst="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8" name="Прямокутник: округлені кути 7">
              <a:extLst>
                <a:ext uri="{FF2B5EF4-FFF2-40B4-BE49-F238E27FC236}">
                  <a16:creationId xmlns:a16="http://schemas.microsoft.com/office/drawing/2014/main" id="{6EDE9F76-F8A7-535A-3BE9-58DC131E7AB0}"/>
                </a:ext>
              </a:extLst>
            </p:cNvPr>
            <p:cNvSpPr/>
            <p:nvPr/>
          </p:nvSpPr>
          <p:spPr>
            <a:xfrm>
              <a:off x="11213877" y="6158168"/>
              <a:ext cx="686556" cy="598549"/>
            </a:xfrm>
            <a:prstGeom prst="roundRect">
              <a:avLst/>
            </a:prstGeom>
            <a:solidFill>
              <a:srgbClr val="E3D6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7F1467F1-9D18-B9B6-D077-E51E9AC2A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7995" y="6201936"/>
              <a:ext cx="602263" cy="511011"/>
            </a:xfrm>
            <a:prstGeom prst="rect">
              <a:avLst/>
            </a:prstGeom>
          </p:spPr>
        </p:pic>
      </p:grpSp>
      <p:grpSp>
        <p:nvGrpSpPr>
          <p:cNvPr id="2" name="Групувати 1">
            <a:extLst>
              <a:ext uri="{FF2B5EF4-FFF2-40B4-BE49-F238E27FC236}">
                <a16:creationId xmlns:a16="http://schemas.microsoft.com/office/drawing/2014/main" id="{E59AFAE9-5F4C-B293-140D-D6550AAB3788}"/>
              </a:ext>
            </a:extLst>
          </p:cNvPr>
          <p:cNvGrpSpPr/>
          <p:nvPr/>
        </p:nvGrpSpPr>
        <p:grpSpPr>
          <a:xfrm>
            <a:off x="0" y="-5603895"/>
            <a:ext cx="12192000" cy="6509031"/>
            <a:chOff x="0" y="0"/>
            <a:chExt cx="12192000" cy="6509031"/>
          </a:xfrm>
        </p:grpSpPr>
        <p:sp>
          <p:nvSpPr>
            <p:cNvPr id="3" name="Прямокутник 2">
              <a:extLst>
                <a:ext uri="{FF2B5EF4-FFF2-40B4-BE49-F238E27FC236}">
                  <a16:creationId xmlns:a16="http://schemas.microsoft.com/office/drawing/2014/main" id="{D281FC02-E6BB-7BFA-394B-1AFE1FD6DB30}"/>
                </a:ext>
              </a:extLst>
            </p:cNvPr>
            <p:cNvSpPr/>
            <p:nvPr/>
          </p:nvSpPr>
          <p:spPr>
            <a:xfrm>
              <a:off x="0" y="0"/>
              <a:ext cx="12192000" cy="6300706"/>
            </a:xfrm>
            <a:prstGeom prst="rect">
              <a:avLst/>
            </a:prstGeom>
            <a:solidFill>
              <a:srgbClr val="7030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4" name="Прямокутник: округлені кути 3">
              <a:extLst>
                <a:ext uri="{FF2B5EF4-FFF2-40B4-BE49-F238E27FC236}">
                  <a16:creationId xmlns:a16="http://schemas.microsoft.com/office/drawing/2014/main" id="{F1010268-9209-16C0-1D8C-9B15923B51CB}"/>
                </a:ext>
              </a:extLst>
            </p:cNvPr>
            <p:cNvSpPr/>
            <p:nvPr/>
          </p:nvSpPr>
          <p:spPr>
            <a:xfrm>
              <a:off x="11214919" y="5910482"/>
              <a:ext cx="685514" cy="598549"/>
            </a:xfrm>
            <a:prstGeom prst="roundRect">
              <a:avLst/>
            </a:prstGeom>
            <a:solidFill>
              <a:srgbClr val="A983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2082796A-E25C-7F37-D73A-DB431BA09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8642" y="5953138"/>
              <a:ext cx="577025" cy="489597"/>
            </a:xfrm>
            <a:prstGeom prst="rect">
              <a:avLst/>
            </a:prstGeom>
          </p:spPr>
        </p:pic>
      </p:grpSp>
      <p:grpSp>
        <p:nvGrpSpPr>
          <p:cNvPr id="18" name="Групувати 17">
            <a:extLst>
              <a:ext uri="{FF2B5EF4-FFF2-40B4-BE49-F238E27FC236}">
                <a16:creationId xmlns:a16="http://schemas.microsoft.com/office/drawing/2014/main" id="{4C604E10-8F07-0724-C657-039558E9F8CE}"/>
              </a:ext>
            </a:extLst>
          </p:cNvPr>
          <p:cNvGrpSpPr/>
          <p:nvPr/>
        </p:nvGrpSpPr>
        <p:grpSpPr>
          <a:xfrm>
            <a:off x="0" y="-5571243"/>
            <a:ext cx="12192000" cy="6255862"/>
            <a:chOff x="0" y="0"/>
            <a:chExt cx="12192000" cy="6255862"/>
          </a:xfrm>
        </p:grpSpPr>
        <p:grpSp>
          <p:nvGrpSpPr>
            <p:cNvPr id="19" name="Групувати 18">
              <a:extLst>
                <a:ext uri="{FF2B5EF4-FFF2-40B4-BE49-F238E27FC236}">
                  <a16:creationId xmlns:a16="http://schemas.microsoft.com/office/drawing/2014/main" id="{6E55B982-7728-13DE-A093-7257B4B7AAF4}"/>
                </a:ext>
              </a:extLst>
            </p:cNvPr>
            <p:cNvGrpSpPr/>
            <p:nvPr/>
          </p:nvGrpSpPr>
          <p:grpSpPr>
            <a:xfrm>
              <a:off x="0" y="0"/>
              <a:ext cx="12192000" cy="6255862"/>
              <a:chOff x="0" y="0"/>
              <a:chExt cx="12192000" cy="6255862"/>
            </a:xfrm>
          </p:grpSpPr>
          <p:sp>
            <p:nvSpPr>
              <p:cNvPr id="21" name="Прямокутник 20">
                <a:extLst>
                  <a:ext uri="{FF2B5EF4-FFF2-40B4-BE49-F238E27FC236}">
                    <a16:creationId xmlns:a16="http://schemas.microsoft.com/office/drawing/2014/main" id="{1072CE6E-E2FD-B08F-665F-62282AB343F5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033532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None/>
                </a:pPr>
                <a:endParaRPr lang="uk-UA" dirty="0">
                  <a:solidFill>
                    <a:srgbClr val="FFFFFF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22" name="Прямокутник: округлені кути 21">
                <a:extLst>
                  <a:ext uri="{FF2B5EF4-FFF2-40B4-BE49-F238E27FC236}">
                    <a16:creationId xmlns:a16="http://schemas.microsoft.com/office/drawing/2014/main" id="{9172F682-F2A7-EE11-C65B-13EB1F2E59B8}"/>
                  </a:ext>
                </a:extLst>
              </p:cNvPr>
              <p:cNvSpPr/>
              <p:nvPr/>
            </p:nvSpPr>
            <p:spPr>
              <a:xfrm>
                <a:off x="11214919" y="5657313"/>
                <a:ext cx="686555" cy="598549"/>
              </a:xfrm>
              <a:prstGeom prst="round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2397558C-E14E-44DD-46FD-05C3C467C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55376" y="5657313"/>
              <a:ext cx="603557" cy="512109"/>
            </a:xfrm>
            <a:prstGeom prst="rect">
              <a:avLst/>
            </a:prstGeom>
          </p:spPr>
        </p:pic>
      </p:grpSp>
      <p:grpSp>
        <p:nvGrpSpPr>
          <p:cNvPr id="10" name="Групувати 9">
            <a:extLst>
              <a:ext uri="{FF2B5EF4-FFF2-40B4-BE49-F238E27FC236}">
                <a16:creationId xmlns:a16="http://schemas.microsoft.com/office/drawing/2014/main" id="{30FD01F6-1F67-2829-CEF7-1DE94D5F17C7}"/>
              </a:ext>
            </a:extLst>
          </p:cNvPr>
          <p:cNvGrpSpPr/>
          <p:nvPr/>
        </p:nvGrpSpPr>
        <p:grpSpPr>
          <a:xfrm>
            <a:off x="-375753" y="1094947"/>
            <a:ext cx="2631439" cy="374083"/>
            <a:chOff x="-375753" y="1094947"/>
            <a:chExt cx="2631439" cy="374083"/>
          </a:xfrm>
        </p:grpSpPr>
        <p:sp>
          <p:nvSpPr>
            <p:cNvPr id="11" name="Прямокутник: округлені кути 10">
              <a:extLst>
                <a:ext uri="{FF2B5EF4-FFF2-40B4-BE49-F238E27FC236}">
                  <a16:creationId xmlns:a16="http://schemas.microsoft.com/office/drawing/2014/main" id="{D675F333-A3C0-EDE0-5CED-D954C03C4A8D}"/>
                </a:ext>
              </a:extLst>
            </p:cNvPr>
            <p:cNvSpPr/>
            <p:nvPr/>
          </p:nvSpPr>
          <p:spPr>
            <a:xfrm>
              <a:off x="-375753" y="1099698"/>
              <a:ext cx="2596714" cy="369332"/>
            </a:xfrm>
            <a:prstGeom prst="roundRect">
              <a:avLst/>
            </a:prstGeom>
            <a:solidFill>
              <a:srgbClr val="D4C0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A26ABC-5967-108F-2348-ABA586D8A7BA}"/>
                </a:ext>
              </a:extLst>
            </p:cNvPr>
            <p:cNvSpPr txBox="1"/>
            <p:nvPr/>
          </p:nvSpPr>
          <p:spPr>
            <a:xfrm>
              <a:off x="56496" y="1094947"/>
              <a:ext cx="21991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Testovacie</a:t>
              </a:r>
              <a:r>
                <a:rPr lang="uk-UA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scenáre</a:t>
              </a:r>
              <a:r>
                <a:rPr lang="uk-UA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17F0996-E80B-4453-7040-AC15B146A539}"/>
              </a:ext>
            </a:extLst>
          </p:cNvPr>
          <p:cNvSpPr txBox="1"/>
          <p:nvPr/>
        </p:nvSpPr>
        <p:spPr>
          <a:xfrm>
            <a:off x="3512798" y="1068512"/>
            <a:ext cx="5984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 Test </a:t>
            </a:r>
            <a:r>
              <a:rPr lang="en-GB" sz="3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interaktívneho</a:t>
            </a:r>
            <a:r>
              <a:rPr lang="en-GB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cvičenia</a:t>
            </a:r>
            <a:endParaRPr lang="uk-UA" sz="36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23BF83-9766-632C-3896-03137CB3171F}"/>
              </a:ext>
            </a:extLst>
          </p:cNvPr>
          <p:cNvSpPr txBox="1"/>
          <p:nvPr/>
        </p:nvSpPr>
        <p:spPr>
          <a:xfrm>
            <a:off x="579230" y="1751233"/>
            <a:ext cx="104635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Vstup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/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Kroky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vyplní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cvičenie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typu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„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dopĺňanie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slov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“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odošle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odpoveď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Očakávaný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výsledok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Systém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vyhodnotí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odpoveď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zobrazí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počet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správnych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odpovedí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prípadne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vysvetlenie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chýb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Dôvod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Overenie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funkčnosti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interaktívnych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prvkov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spätnej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väzby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  <a:endParaRPr lang="uk-UA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784650-DF9D-F75C-96F6-2F78C7227C47}"/>
              </a:ext>
            </a:extLst>
          </p:cNvPr>
          <p:cNvSpPr txBox="1"/>
          <p:nvPr/>
        </p:nvSpPr>
        <p:spPr>
          <a:xfrm>
            <a:off x="4013772" y="2998812"/>
            <a:ext cx="4982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Test </a:t>
            </a:r>
            <a:r>
              <a:rPr lang="en-GB" sz="3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ukladania</a:t>
            </a:r>
            <a:r>
              <a:rPr lang="en-GB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pokroku</a:t>
            </a:r>
            <a:endParaRPr lang="uk-UA" sz="36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6C2073-C671-140A-73BE-1335086ECE76}"/>
              </a:ext>
            </a:extLst>
          </p:cNvPr>
          <p:cNvSpPr txBox="1"/>
          <p:nvPr/>
        </p:nvSpPr>
        <p:spPr>
          <a:xfrm>
            <a:off x="579229" y="3645143"/>
            <a:ext cx="109756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Vstup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/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Kroky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absolvuje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lekciu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,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ukončí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ju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znovu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prihlási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Očakávaný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výsledok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Po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prihlásení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zobrazí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uložený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stav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(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napr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. „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Lekcia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2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dokončená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na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80 %“);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uk-UA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Dôvod</a:t>
            </a:r>
            <a:r>
              <a:rPr lang="uk-UA" b="1" dirty="0">
                <a:solidFill>
                  <a:srgbClr val="9954CC"/>
                </a:solidFill>
                <a:latin typeface="Bahnschrift" panose="020B0502040204020203" pitchFamily="34" charset="0"/>
              </a:rPr>
              <a:t>:</a:t>
            </a:r>
            <a:r>
              <a:rPr lang="uk-UA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Overenie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správneho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fungovania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databázy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používateľského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profilu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  <a:endParaRPr lang="uk-UA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DAD83B-ABA8-5CA2-2B1E-F365C2C3A965}"/>
              </a:ext>
            </a:extLst>
          </p:cNvPr>
          <p:cNvSpPr txBox="1"/>
          <p:nvPr/>
        </p:nvSpPr>
        <p:spPr>
          <a:xfrm>
            <a:off x="3627613" y="4804509"/>
            <a:ext cx="5754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Test </a:t>
            </a:r>
            <a:r>
              <a:rPr lang="en-GB" sz="3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responzívneho</a:t>
            </a:r>
            <a:r>
              <a:rPr lang="en-GB" sz="36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dizajnu</a:t>
            </a:r>
            <a:endParaRPr lang="uk-UA" sz="36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CAEB86-D22A-B204-3504-FA22CB515583}"/>
              </a:ext>
            </a:extLst>
          </p:cNvPr>
          <p:cNvSpPr txBox="1"/>
          <p:nvPr/>
        </p:nvSpPr>
        <p:spPr>
          <a:xfrm>
            <a:off x="608153" y="5418602"/>
            <a:ext cx="109756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Vstup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/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Kroky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pl-PL" dirty="0">
                <a:solidFill>
                  <a:srgbClr val="9954CC"/>
                </a:solidFill>
                <a:latin typeface="Bahnschrift" panose="020B0502040204020203" pitchFamily="34" charset="0"/>
              </a:rPr>
              <a:t>Otvoriť webovú stránku na rôznych zariadeniach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Očakávaný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výsledok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Stránka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prispôsobí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veľkosti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obrazovky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bez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narušenia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čitateľnosti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funkčnosti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</a:p>
          <a:p>
            <a:pPr algn="just"/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   </a:t>
            </a:r>
            <a:r>
              <a:rPr lang="en-GB" b="1" dirty="0" err="1">
                <a:solidFill>
                  <a:srgbClr val="9954CC"/>
                </a:solidFill>
                <a:latin typeface="Bahnschrift" panose="020B0502040204020203" pitchFamily="34" charset="0"/>
              </a:rPr>
              <a:t>Dôvod</a:t>
            </a:r>
            <a:r>
              <a:rPr lang="en-GB" b="1" dirty="0">
                <a:solidFill>
                  <a:srgbClr val="9954CC"/>
                </a:solidFill>
                <a:latin typeface="Bahnschrift" panose="020B0502040204020203" pitchFamily="34" charset="0"/>
              </a:rPr>
              <a:t>: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Overenie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použiteľnosti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na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rôznych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platformách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9954CC"/>
                </a:solidFill>
                <a:latin typeface="Bahnschrift" panose="020B0502040204020203" pitchFamily="34" charset="0"/>
              </a:rPr>
              <a:t>zariadeniach</a:t>
            </a:r>
            <a:r>
              <a:rPr lang="en-GB" dirty="0">
                <a:solidFill>
                  <a:srgbClr val="9954CC"/>
                </a:solidFill>
                <a:latin typeface="Bahnschrift" panose="020B0502040204020203" pitchFamily="34" charset="0"/>
              </a:rPr>
              <a:t>;</a:t>
            </a:r>
            <a:endParaRPr lang="uk-UA" dirty="0">
              <a:solidFill>
                <a:srgbClr val="9954CC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525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403</Words>
  <Application>Microsoft Office PowerPoint</Application>
  <PresentationFormat>Широкий екран</PresentationFormat>
  <Paragraphs>45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Bahnschrift</vt:lpstr>
      <vt:lpstr>Calibri</vt:lpstr>
      <vt:lpstr>Calibri Light</vt:lpstr>
      <vt:lpstr>Тема Office</vt:lpstr>
      <vt:lpstr>Projekt tímu  DMDEV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Maksis S</dc:creator>
  <cp:lastModifiedBy>Maksis S</cp:lastModifiedBy>
  <cp:revision>165</cp:revision>
  <dcterms:created xsi:type="dcterms:W3CDTF">2025-09-28T09:02:11Z</dcterms:created>
  <dcterms:modified xsi:type="dcterms:W3CDTF">2025-11-09T21:33:08Z</dcterms:modified>
</cp:coreProperties>
</file>