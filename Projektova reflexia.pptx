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2" r:id="rId7"/>
    <p:sldId id="263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E8D3F9"/>
    <a:srgbClr val="B97BF1"/>
    <a:srgbClr val="D6B2F4"/>
    <a:srgbClr val="E0D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3C587-E8FE-2E17-536A-73E49582B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397BE98-7E65-FB57-87FE-621C8998F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9C1EEBC-9CC7-07A8-DA88-73197237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8431F5E-235E-9F1D-2257-8291CD81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F5A61EC-C86F-F17A-F777-9E75FD6C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412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0F378-DFAC-4D0D-3CA3-1A40DAC5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F551A67-402A-8A1B-F68F-44162DE4A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8A8AEB7-5C0D-2BE2-849F-0610CA0B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370879-F59D-3EF0-820B-79B4A0CE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5D0CC2B-91FC-5E22-5D7C-42251E71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29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DEDC07-CDB2-6DD9-476B-4E8D62DC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4084F20-D75E-449A-5D07-D93CAA789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D49E816-B419-0F96-9780-62C858BA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FCCD6B-47C8-D08E-61BF-43CD0C51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5136BCB-E243-22B7-A29B-FE346CE3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4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B94C3-AD2F-6DF6-5596-CEE3B974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A1231C0-DF51-8762-6776-24FFFC4F9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E0A1F26-2298-7C36-753B-832F62C1E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256706F-2088-11A3-73AC-EF9BD00E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A511097-8603-9CEB-1D39-8BAA391B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B53DB2A-C6AD-96EE-705A-76BD641C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7104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C5E81-304F-41D2-E9B2-9B62664C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0A7BB22-D4D8-0EEB-F52D-7B8A569DE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E56536A-4ABA-2D2C-77C9-79FEE5C31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CE965CE-3479-B4AA-20F0-C1C89C01A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B7D72F2-33B8-F4B0-83FF-D27BBC856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F220E9B-B53A-93EB-425F-2037D9EE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8F951D5-D19A-16EC-942F-C1C72E59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AE124DF-32A2-FCD0-12E6-38481DBC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5632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03F3A-6BAA-0970-052B-7D28E1D1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CEAA0CB-F8C3-3C44-3B37-CA240B9E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ABF43DE-E3FE-901C-C3DF-0878AE9B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63124C0-511D-1717-EFEC-742661F7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266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C6AEE43-6AA8-10D2-A92C-0AE4656D6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B613482-D48C-C30D-463B-720DC1011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7FEDA5C-265B-82EF-F64C-D8013F24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446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73C0C-3996-3D7D-AF59-2389B560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DABD23B-8E05-2DD2-E9A1-0D56254AE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427D0D6-B3B3-C4B3-A76F-6683FA250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26CDC4E-5755-5E9D-3158-2AC95470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7C767E6-22CA-A866-B2CB-1BA30EF55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9D9E059-CD6E-B38E-E3F2-0072237E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4666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BC26C-26C6-1460-C7E9-8A1A9E93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8BB44426-98B4-7697-F105-B53049010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065F712-6F8A-759C-A221-F14164E70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7FEE9A1-0E27-3284-564C-BBE3305D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6C39560-EC0D-B390-D231-F5124AF9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6072BC4-0475-C924-41E8-FFD57AA6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355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A47AC-7F9F-8F5E-FC97-67C9B489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8893FB1-10DE-27C2-4DE2-968BEA4A1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0F21E3-F1C1-C9B2-B3FD-4490E6C94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C4C4AD2-72D8-0C45-280D-897D1B1F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4D78FFF-5A43-859F-AA4E-46A8E6F2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692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0A9B1DB3-015D-6FC4-BAA1-0D2CCC32B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C1DDD1D-6620-7758-E0CF-A7C9A1582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27A3C5D-67AC-3207-6A25-D8FAF93B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4A8FF03-AED1-CA34-25D5-FD008060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5915B51-1055-8101-4143-265C8E2E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355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2BC59BB-5DB4-4727-862E-B8B57E32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BE57289-0323-52D4-F8CA-B553BCA17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19671A7-D216-859F-F4B5-AFE4F077B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DF65-9213-4579-9FD8-DC9485BEA346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82EE515-E675-5C8B-41B6-73E365E66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4A315CC-ED66-1159-7946-541CEE6E1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A4477-AC1A-4878-8C4E-18279492CCD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018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C79EF05C-AE15-E519-580A-57482284B85E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3979203B-824F-BBD1-09B1-B45650F1D93E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13FB0A-168F-6777-D131-05D7DA2D9AA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0BDFBA-81F2-85EB-01B5-6AC151EA9E23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67B741E-847F-040D-2CCE-3C0BDC68D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C9865634-7ED6-BC6E-2EBC-0137634AA7FF}"/>
              </a:ext>
            </a:extLst>
          </p:cNvPr>
          <p:cNvSpPr txBox="1">
            <a:spLocks/>
          </p:cNvSpPr>
          <p:nvPr/>
        </p:nvSpPr>
        <p:spPr>
          <a:xfrm>
            <a:off x="595303" y="22271"/>
            <a:ext cx="457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6000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Projekt </a:t>
            </a:r>
            <a:r>
              <a:rPr lang="en-GB" sz="6000" b="1" dirty="0" err="1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tímu</a:t>
            </a:r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b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DMDEV</a:t>
            </a:r>
            <a:endParaRPr lang="uk-UA" sz="6000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6" name="Пряма сполучна лінія 25">
            <a:extLst>
              <a:ext uri="{FF2B5EF4-FFF2-40B4-BE49-F238E27FC236}">
                <a16:creationId xmlns:a16="http://schemas.microsoft.com/office/drawing/2014/main" id="{A6E99209-EAE4-B393-E5C7-3708B7CD5E1F}"/>
              </a:ext>
            </a:extLst>
          </p:cNvPr>
          <p:cNvCxnSpPr>
            <a:cxnSpLocks/>
          </p:cNvCxnSpPr>
          <p:nvPr/>
        </p:nvCxnSpPr>
        <p:spPr>
          <a:xfrm>
            <a:off x="715267" y="2409871"/>
            <a:ext cx="419003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0916DC-50EA-856D-3F2D-6E09724078B7}"/>
              </a:ext>
            </a:extLst>
          </p:cNvPr>
          <p:cNvSpPr txBox="1"/>
          <p:nvPr/>
        </p:nvSpPr>
        <p:spPr>
          <a:xfrm>
            <a:off x="595303" y="2520630"/>
            <a:ext cx="4410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Slovak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Quiz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02465553-DF70-C942-FEAA-0B460FD7A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78" y="327285"/>
            <a:ext cx="41900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uk-UA" sz="20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Projektova</a:t>
            </a:r>
            <a:r>
              <a:rPr kumimoji="0" lang="en-US" altLang="uk-UA" sz="2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uk-UA" sz="20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reflexia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97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1ED4-AE8D-1714-BE80-8E3794FD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168641D6-E0E7-E41C-72D7-7E55F6FD127F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40BAF027-82B1-B62B-EEC4-7E28A8921116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A1B67-9C60-F831-8B23-453641C91D6A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</a:t>
            </a:r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334A7-6EBA-3FF3-C692-06D57C52F0A5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BA25DE-CCD2-82D3-0036-8CFE7725F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8561F5-A27C-DC30-CDE2-2CABA8BECD54}"/>
              </a:ext>
            </a:extLst>
          </p:cNvPr>
          <p:cNvSpPr txBox="1"/>
          <p:nvPr/>
        </p:nvSpPr>
        <p:spPr>
          <a:xfrm>
            <a:off x="5350075" y="588621"/>
            <a:ext cx="14918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Bahnschrift" panose="020B0502040204020203" pitchFamily="34" charset="0"/>
              </a:rPr>
              <a:t>P</a:t>
            </a:r>
            <a:r>
              <a:rPr lang="uk-UA" sz="4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lán</a:t>
            </a:r>
            <a:endParaRPr lang="uk-UA" sz="4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B21157C9-B309-4245-8235-DCFEDF24B32A}"/>
              </a:ext>
            </a:extLst>
          </p:cNvPr>
          <p:cNvGrpSpPr/>
          <p:nvPr/>
        </p:nvGrpSpPr>
        <p:grpSpPr>
          <a:xfrm>
            <a:off x="1188265" y="1864945"/>
            <a:ext cx="2299205" cy="3569687"/>
            <a:chOff x="919792" y="2022210"/>
            <a:chExt cx="2299205" cy="3569687"/>
          </a:xfrm>
        </p:grpSpPr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BADE1427-A763-48FE-ABBA-4B0DF29AEDEF}"/>
                </a:ext>
              </a:extLst>
            </p:cNvPr>
            <p:cNvGrpSpPr/>
            <p:nvPr/>
          </p:nvGrpSpPr>
          <p:grpSpPr>
            <a:xfrm>
              <a:off x="919792" y="2022210"/>
              <a:ext cx="2299205" cy="3569687"/>
              <a:chOff x="1659118" y="1637191"/>
              <a:chExt cx="2564090" cy="4069447"/>
            </a:xfrm>
          </p:grpSpPr>
          <p:sp>
            <p:nvSpPr>
              <p:cNvPr id="4" name="Прямокутник: округлені кути 3">
                <a:extLst>
                  <a:ext uri="{FF2B5EF4-FFF2-40B4-BE49-F238E27FC236}">
                    <a16:creationId xmlns:a16="http://schemas.microsoft.com/office/drawing/2014/main" id="{572EF2BC-4757-4CF9-DBF2-9413988814FD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5" name="Прямокутник 4">
                <a:extLst>
                  <a:ext uri="{FF2B5EF4-FFF2-40B4-BE49-F238E27FC236}">
                    <a16:creationId xmlns:a16="http://schemas.microsoft.com/office/drawing/2014/main" id="{9DACF0A9-D5F0-80E0-17ED-F38BFBF475F0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6DF1C6-01E1-21BE-7404-9A136C6C4428}"/>
                  </a:ext>
                </a:extLst>
              </p:cNvPr>
              <p:cNvSpPr txBox="1"/>
              <p:nvPr/>
            </p:nvSpPr>
            <p:spPr>
              <a:xfrm>
                <a:off x="2335869" y="1799046"/>
                <a:ext cx="121058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01.</a:t>
                </a:r>
                <a:endParaRPr lang="uk-UA" sz="72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993783-E106-4532-B218-F2A2AA7B61CB}"/>
                </a:ext>
              </a:extLst>
            </p:cNvPr>
            <p:cNvSpPr txBox="1"/>
            <p:nvPr/>
          </p:nvSpPr>
          <p:spPr>
            <a:xfrm>
              <a:off x="1174550" y="4036180"/>
              <a:ext cx="178968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“Stakeholderi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projektu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E5F4B7FA-FC0D-4079-981A-8ABE4D303880}"/>
              </a:ext>
            </a:extLst>
          </p:cNvPr>
          <p:cNvGrpSpPr/>
          <p:nvPr/>
        </p:nvGrpSpPr>
        <p:grpSpPr>
          <a:xfrm>
            <a:off x="3771153" y="1864945"/>
            <a:ext cx="2299205" cy="3569687"/>
            <a:chOff x="6458431" y="2034868"/>
            <a:chExt cx="2299205" cy="3569687"/>
          </a:xfrm>
        </p:grpSpPr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B9A2DC3F-6274-40C2-8E4B-867B97AAD8A3}"/>
                </a:ext>
              </a:extLst>
            </p:cNvPr>
            <p:cNvGrpSpPr/>
            <p:nvPr/>
          </p:nvGrpSpPr>
          <p:grpSpPr>
            <a:xfrm>
              <a:off x="6458431" y="2034868"/>
              <a:ext cx="2299205" cy="3569687"/>
              <a:chOff x="1659118" y="1637191"/>
              <a:chExt cx="2564090" cy="4069447"/>
            </a:xfrm>
          </p:grpSpPr>
          <p:sp>
            <p:nvSpPr>
              <p:cNvPr id="33" name="Прямокутник: округлені кути 3">
                <a:extLst>
                  <a:ext uri="{FF2B5EF4-FFF2-40B4-BE49-F238E27FC236}">
                    <a16:creationId xmlns:a16="http://schemas.microsoft.com/office/drawing/2014/main" id="{7EC2EFA7-6F59-4C1F-BA65-F5DCF1503720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4" name="Прямокутник 4">
                <a:extLst>
                  <a:ext uri="{FF2B5EF4-FFF2-40B4-BE49-F238E27FC236}">
                    <a16:creationId xmlns:a16="http://schemas.microsoft.com/office/drawing/2014/main" id="{116DD6EC-19F8-4FDD-9179-1E81BC509098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A143DE-24EF-470D-BB3F-7EC93F97617C}"/>
                  </a:ext>
                </a:extLst>
              </p:cNvPr>
              <p:cNvSpPr txBox="1"/>
              <p:nvPr/>
            </p:nvSpPr>
            <p:spPr>
              <a:xfrm>
                <a:off x="2335869" y="1799046"/>
                <a:ext cx="1541339" cy="1368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</a:t>
                </a:r>
                <a:r>
                  <a:rPr lang="ru-RU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2</a:t>
                </a:r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.</a:t>
                </a:r>
                <a:endParaRPr lang="uk-UA" sz="72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879A739-C953-4AD7-B2DE-22280622166B}"/>
                </a:ext>
              </a:extLst>
            </p:cNvPr>
            <p:cNvSpPr txBox="1"/>
            <p:nvPr/>
          </p:nvSpPr>
          <p:spPr>
            <a:xfrm>
              <a:off x="6518310" y="4036180"/>
              <a:ext cx="217944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Komunikačné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nástroje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a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kanály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F40C0FEA-13E7-498F-B4AE-363A94285342}"/>
              </a:ext>
            </a:extLst>
          </p:cNvPr>
          <p:cNvGrpSpPr/>
          <p:nvPr/>
        </p:nvGrpSpPr>
        <p:grpSpPr>
          <a:xfrm>
            <a:off x="6354041" y="1864945"/>
            <a:ext cx="2299205" cy="3569687"/>
            <a:chOff x="9364475" y="2034869"/>
            <a:chExt cx="2299205" cy="3569687"/>
          </a:xfrm>
        </p:grpSpPr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7BE466F5-621C-4F06-92C5-6E97B0356021}"/>
                </a:ext>
              </a:extLst>
            </p:cNvPr>
            <p:cNvGrpSpPr/>
            <p:nvPr/>
          </p:nvGrpSpPr>
          <p:grpSpPr>
            <a:xfrm>
              <a:off x="9364475" y="2034869"/>
              <a:ext cx="2299205" cy="3569687"/>
              <a:chOff x="1659118" y="1637191"/>
              <a:chExt cx="2564090" cy="4069447"/>
            </a:xfrm>
          </p:grpSpPr>
          <p:sp>
            <p:nvSpPr>
              <p:cNvPr id="37" name="Прямокутник: округлені кути 3">
                <a:extLst>
                  <a:ext uri="{FF2B5EF4-FFF2-40B4-BE49-F238E27FC236}">
                    <a16:creationId xmlns:a16="http://schemas.microsoft.com/office/drawing/2014/main" id="{535542D8-EE80-4715-BA8D-552EF677983F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8" name="Прямокутник 4">
                <a:extLst>
                  <a:ext uri="{FF2B5EF4-FFF2-40B4-BE49-F238E27FC236}">
                    <a16:creationId xmlns:a16="http://schemas.microsoft.com/office/drawing/2014/main" id="{49F65A1A-5E84-487B-A602-63A8991B3749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2D5763F-B831-444B-AF8E-C47BDB1FCC1A}"/>
                  </a:ext>
                </a:extLst>
              </p:cNvPr>
              <p:cNvSpPr txBox="1"/>
              <p:nvPr/>
            </p:nvSpPr>
            <p:spPr>
              <a:xfrm>
                <a:off x="2335869" y="1799046"/>
                <a:ext cx="1553852" cy="1368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</a:t>
                </a:r>
                <a:r>
                  <a:rPr lang="ru-RU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3</a:t>
                </a:r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.</a:t>
                </a:r>
                <a:endParaRPr lang="uk-UA" sz="72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5D75FA1-7091-40E3-A49A-DEF8C91355D7}"/>
                </a:ext>
              </a:extLst>
            </p:cNvPr>
            <p:cNvSpPr txBox="1"/>
            <p:nvPr/>
          </p:nvSpPr>
          <p:spPr>
            <a:xfrm>
              <a:off x="9424354" y="4036180"/>
              <a:ext cx="217944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Komunikačná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matica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  <p:grpSp>
        <p:nvGrpSpPr>
          <p:cNvPr id="7" name="Группа 48">
            <a:extLst>
              <a:ext uri="{FF2B5EF4-FFF2-40B4-BE49-F238E27FC236}">
                <a16:creationId xmlns:a16="http://schemas.microsoft.com/office/drawing/2014/main" id="{905043E1-E055-173E-DB7B-6E9F71DDB6E8}"/>
              </a:ext>
            </a:extLst>
          </p:cNvPr>
          <p:cNvGrpSpPr/>
          <p:nvPr/>
        </p:nvGrpSpPr>
        <p:grpSpPr>
          <a:xfrm>
            <a:off x="8936928" y="1864945"/>
            <a:ext cx="2299205" cy="3569687"/>
            <a:chOff x="9364475" y="2034869"/>
            <a:chExt cx="2299205" cy="3569687"/>
          </a:xfrm>
        </p:grpSpPr>
        <p:grpSp>
          <p:nvGrpSpPr>
            <p:cNvPr id="8" name="Группа 35">
              <a:extLst>
                <a:ext uri="{FF2B5EF4-FFF2-40B4-BE49-F238E27FC236}">
                  <a16:creationId xmlns:a16="http://schemas.microsoft.com/office/drawing/2014/main" id="{DA8F59F6-F118-EC8F-098A-19E08EF9FED9}"/>
                </a:ext>
              </a:extLst>
            </p:cNvPr>
            <p:cNvGrpSpPr/>
            <p:nvPr/>
          </p:nvGrpSpPr>
          <p:grpSpPr>
            <a:xfrm>
              <a:off x="9364475" y="2034869"/>
              <a:ext cx="2299205" cy="3569687"/>
              <a:chOff x="1659118" y="1637191"/>
              <a:chExt cx="2564090" cy="4069447"/>
            </a:xfrm>
          </p:grpSpPr>
          <p:sp>
            <p:nvSpPr>
              <p:cNvPr id="10" name="Прямокутник: округлені кути 3">
                <a:extLst>
                  <a:ext uri="{FF2B5EF4-FFF2-40B4-BE49-F238E27FC236}">
                    <a16:creationId xmlns:a16="http://schemas.microsoft.com/office/drawing/2014/main" id="{BCEBFA20-C68D-51EA-FFFD-9E5E41B2C157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14" name="Прямокутник 4">
                <a:extLst>
                  <a:ext uri="{FF2B5EF4-FFF2-40B4-BE49-F238E27FC236}">
                    <a16:creationId xmlns:a16="http://schemas.microsoft.com/office/drawing/2014/main" id="{93229A6E-E794-B60D-AEA8-C088D7CE81FD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7058C3-4BE5-3ECB-0767-1924BD337923}"/>
                  </a:ext>
                </a:extLst>
              </p:cNvPr>
              <p:cNvSpPr txBox="1"/>
              <p:nvPr/>
            </p:nvSpPr>
            <p:spPr>
              <a:xfrm>
                <a:off x="2335869" y="1799046"/>
                <a:ext cx="1594969" cy="1368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</a:t>
                </a:r>
                <a:r>
                  <a:rPr lang="ru-RU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4</a:t>
                </a:r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.</a:t>
                </a:r>
                <a:endParaRPr lang="uk-UA" sz="72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FD4BD8-7469-5477-54F6-E88329AB6B45}"/>
                </a:ext>
              </a:extLst>
            </p:cNvPr>
            <p:cNvSpPr txBox="1"/>
            <p:nvPr/>
          </p:nvSpPr>
          <p:spPr>
            <a:xfrm>
              <a:off x="9424354" y="4036180"/>
              <a:ext cx="217944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GB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Analýza</a:t>
              </a:r>
              <a:r>
                <a:rPr lang="en-GB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GB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slabých</a:t>
              </a:r>
              <a:r>
                <a:rPr lang="en-GB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GB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stránok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750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38F17B17-F560-E3BA-026C-5BDE3CF7F3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17308-51E3-AF63-ECF3-B93A7A693EA3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50F43307-B02F-93B2-742E-274D595376B0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4BFB9ED2-1ED9-1E48-7E05-C48F1D6D5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51FDC2D8-323D-0DA2-FECC-5353862559D6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67A014-CFD0-EA43-2FE8-3F13AD0CC53D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4640B39-BDB7-E815-4A25-2487B6C8B148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EB83D-EB61-A831-40AD-60255836DAA3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01.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16EAB4-FC8A-43CC-877E-83060E2D82B7}"/>
              </a:ext>
            </a:extLst>
          </p:cNvPr>
          <p:cNvSpPr txBox="1"/>
          <p:nvPr/>
        </p:nvSpPr>
        <p:spPr>
          <a:xfrm>
            <a:off x="512687" y="3385780"/>
            <a:ext cx="62735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Porovnanie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plánu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a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aktuálneho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stavu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7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9F79A0DB-6436-B8BE-0C0D-41C387E2375D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FB886-46B2-B2BB-5981-CF3A3F6791CC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97CC2-68A2-EE5B-9DE3-7CD0A1B02AE1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F4640F-EF79-1C5D-E02E-89C5D4BF9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1D0F8A-699F-6E03-A62A-4645334C4635}"/>
              </a:ext>
            </a:extLst>
          </p:cNvPr>
          <p:cNvSpPr txBox="1"/>
          <p:nvPr/>
        </p:nvSpPr>
        <p:spPr>
          <a:xfrm>
            <a:off x="434049" y="346843"/>
            <a:ext cx="44221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Porovnanie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plánu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aktuálneho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stavu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974AE72B-B75D-15A1-B9A1-95D69C6DDC10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8A2756E-CF24-8215-0426-320107EAC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094" y="2340878"/>
            <a:ext cx="6347936" cy="2854969"/>
          </a:xfrm>
          <a:prstGeom prst="rect">
            <a:avLst/>
          </a:prstGeom>
          <a:ln w="57150">
            <a:solidFill>
              <a:srgbClr val="7030A0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D4A2A97-F932-4D94-1F0F-22C335E80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256" y="663139"/>
            <a:ext cx="7223774" cy="1280163"/>
          </a:xfrm>
          <a:prstGeom prst="rect">
            <a:avLst/>
          </a:prstGeom>
          <a:ln w="57150">
            <a:solidFill>
              <a:srgbClr val="7030A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85AE4F-74F7-3785-4F34-0CB077D0F18D}"/>
              </a:ext>
            </a:extLst>
          </p:cNvPr>
          <p:cNvSpPr txBox="1"/>
          <p:nvPr/>
        </p:nvSpPr>
        <p:spPr>
          <a:xfrm>
            <a:off x="588420" y="2826125"/>
            <a:ext cx="4767420" cy="120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  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Projekt je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hotový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72,41 %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Všetky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etapy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–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plánovanie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návrh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tvorba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MVP,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prezentácie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aj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testovanie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–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sme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splnili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načas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podľa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pôvodného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plánu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7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BCEBE-5431-FD12-CAE5-89BF8CA6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E6639EB6-32BE-0852-AE20-DC1070F8FA1A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FEEA5-2FA4-7B45-BDE6-1C9E8DF05CBD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C17CF-A858-EB98-6443-C0285683C442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C2A70E-FEF8-836C-0EA9-692E8AB7F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7932D4-148A-56FC-CBE3-AA355DB3FE0F}"/>
              </a:ext>
            </a:extLst>
          </p:cNvPr>
          <p:cNvSpPr txBox="1"/>
          <p:nvPr/>
        </p:nvSpPr>
        <p:spPr>
          <a:xfrm>
            <a:off x="434049" y="346843"/>
            <a:ext cx="44221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Porovnanie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plánu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aktuálneho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stavu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C1254A3B-4DD1-2B2E-B8F8-20A8FC860DAA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4C5CD-F914-6ED1-5BCB-6F4899D1F2F2}"/>
              </a:ext>
            </a:extLst>
          </p:cNvPr>
          <p:cNvSpPr txBox="1"/>
          <p:nvPr/>
        </p:nvSpPr>
        <p:spPr>
          <a:xfrm>
            <a:off x="868649" y="1715121"/>
            <a:ext cx="96799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da-DK" b="1" dirty="0">
                <a:solidFill>
                  <a:srgbClr val="7030A0"/>
                </a:solidFill>
                <a:latin typeface="Bahnschrift" panose="020B0502040204020203" pitchFamily="34" charset="0"/>
              </a:rPr>
              <a:t>Sme tam, kde sme plánovali byť?</a:t>
            </a:r>
            <a:endParaRPr lang="uk-UA" b="1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just"/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Áno,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všetky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fázy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prebehli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presne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podľa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plánu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, bez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omeškania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just"/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it-IT" dirty="0">
                <a:solidFill>
                  <a:srgbClr val="7030A0"/>
                </a:solidFill>
                <a:latin typeface="Bahnschrift" panose="020B0502040204020203" pitchFamily="34" charset="0"/>
              </a:rPr>
              <a:t>2</a:t>
            </a:r>
            <a:r>
              <a:rPr lang="it-IT" b="1" dirty="0">
                <a:solidFill>
                  <a:srgbClr val="7030A0"/>
                </a:solidFill>
                <a:latin typeface="Bahnschrift" panose="020B0502040204020203" pitchFamily="34" charset="0"/>
              </a:rPr>
              <a:t>. Bola Ganttova prognóza presná</a:t>
            </a:r>
            <a:r>
              <a:rPr lang="it-IT" dirty="0">
                <a:solidFill>
                  <a:srgbClr val="7030A0"/>
                </a:solidFill>
                <a:latin typeface="Bahnschrift" panose="020B0502040204020203" pitchFamily="34" charset="0"/>
              </a:rPr>
              <a:t>?</a:t>
            </a:r>
            <a:r>
              <a:rPr lang="ru-RU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b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Áno,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časový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plán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bol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presný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zodpovedal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skutočnému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priebehu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just"/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just"/>
            <a:r>
              <a:rPr lang="uk-UA" b="1" dirty="0">
                <a:solidFill>
                  <a:srgbClr val="7030A0"/>
                </a:solidFill>
                <a:latin typeface="Bahnschrift" panose="020B0502040204020203" pitchFamily="34" charset="0"/>
              </a:rPr>
              <a:t>3.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Čo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zmenilo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prečo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?</a:t>
            </a:r>
          </a:p>
          <a:p>
            <a:pPr algn="just"/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Nič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nemenilo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všetko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prebehlo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podľa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pôvodného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plánu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just"/>
            <a:endParaRPr lang="en-GB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just"/>
            <a:r>
              <a:rPr lang="uk-UA" b="1" dirty="0">
                <a:solidFill>
                  <a:srgbClr val="7030A0"/>
                </a:solidFill>
                <a:latin typeface="Bahnschrift" panose="020B0502040204020203" pitchFamily="34" charset="0"/>
              </a:rPr>
              <a:t>4.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Urobili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by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sme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niečo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inak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?</a:t>
            </a:r>
          </a:p>
          <a:p>
            <a:pPr algn="just"/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Možno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by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sme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do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budúcna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pridali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viac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testovania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s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používateľmi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en-GB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just"/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80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2B67-14E4-597F-D528-B4AF163B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D33878D-0E07-965B-5F7A-9D4CC39908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9920B-5A96-FC11-344E-9B8C7874371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39872AE2-6E18-6D6E-32A8-E9446FBFADBA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3924AD4-9CAA-A3D5-8F5C-A23DB3979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EC56455D-EB67-C0DC-CAFE-584A08D94293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33151CD-B2D1-3830-E6B1-D2D02C26EE06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ADA19B-38E8-DC3E-6F93-8FC9E1429ECF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DD4B7-4A22-1794-BCC8-1742A4082201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</a:t>
            </a:r>
            <a:r>
              <a:rPr lang="ru-RU" sz="32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79698-4517-46B4-BFDD-218433AF6611}"/>
              </a:ext>
            </a:extLst>
          </p:cNvPr>
          <p:cNvSpPr txBox="1"/>
          <p:nvPr/>
        </p:nvSpPr>
        <p:spPr>
          <a:xfrm>
            <a:off x="512686" y="3385780"/>
            <a:ext cx="74273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Bol 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výber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témy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projektu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úspešný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?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637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D2E5-F033-D3F0-2B8B-C7E5AA7B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C37CDE-73B8-117A-9ACE-C7B0396E0D94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5F749-AECE-617A-38CB-D27EFFF3850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56470-C888-7027-4F85-7769F7386D6B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C42B11-18B1-B32E-7944-BA13B0B8D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62ABCADB-FAE3-4F48-E3AB-A3749BB72A93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D1769-9AD3-B559-7ED7-6E6326686F6C}"/>
              </a:ext>
            </a:extLst>
          </p:cNvPr>
          <p:cNvSpPr txBox="1"/>
          <p:nvPr/>
        </p:nvSpPr>
        <p:spPr>
          <a:xfrm>
            <a:off x="434049" y="346843"/>
            <a:ext cx="48461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Bol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výber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témy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úspešný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?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Прямокутник: округлені кути 12">
            <a:extLst>
              <a:ext uri="{FF2B5EF4-FFF2-40B4-BE49-F238E27FC236}">
                <a16:creationId xmlns:a16="http://schemas.microsoft.com/office/drawing/2014/main" id="{F10C7D50-5EF2-4365-B32E-BC31E01FD96F}"/>
              </a:ext>
            </a:extLst>
          </p:cNvPr>
          <p:cNvSpPr/>
          <p:nvPr/>
        </p:nvSpPr>
        <p:spPr>
          <a:xfrm rot="5400000">
            <a:off x="4929889" y="9098"/>
            <a:ext cx="2837469" cy="7268724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0472A-7D93-008F-183B-A9D908E71FB8}"/>
              </a:ext>
            </a:extLst>
          </p:cNvPr>
          <p:cNvSpPr txBox="1"/>
          <p:nvPr/>
        </p:nvSpPr>
        <p:spPr>
          <a:xfrm>
            <a:off x="2956873" y="2459502"/>
            <a:ext cx="68092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Áno,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výber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témy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bol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úspešný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Platforma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i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DmDEV</a:t>
            </a:r>
            <a:r>
              <a:rPr lang="en-GB" sz="2400" i="1" dirty="0">
                <a:solidFill>
                  <a:srgbClr val="7030A0"/>
                </a:solidFill>
                <a:latin typeface="Bahnschrift" panose="020B0502040204020203" pitchFamily="34" charset="0"/>
              </a:rPr>
              <a:t> Slovak Quiz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má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jasnú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cieľovú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skupinu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–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ukrajinsky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hovoriacich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študentov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 Na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rozdiel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od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konkurencie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(Duolingo, Slovake.eu)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ponúka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plnú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podporu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v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ukrajinčine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pomáha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príprave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štúdium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aj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každodennú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komunikáciu</a:t>
            </a:r>
            <a:r>
              <a:rPr lang="en-GB" sz="24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en-US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94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2B67-14E4-597F-D528-B4AF163B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D33878D-0E07-965B-5F7A-9D4CC39908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9920B-5A96-FC11-344E-9B8C7874371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39872AE2-6E18-6D6E-32A8-E9446FBFADBA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3924AD4-9CAA-A3D5-8F5C-A23DB3979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EC56455D-EB67-C0DC-CAFE-584A08D94293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33151CD-B2D1-3830-E6B1-D2D02C26EE06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ADA19B-38E8-DC3E-6F93-8FC9E1429ECF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DD4B7-4A22-1794-BCC8-1742A4082201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</a:t>
            </a:r>
            <a:r>
              <a:rPr lang="ru-RU" sz="3200" dirty="0">
                <a:solidFill>
                  <a:schemeClr val="bg1"/>
                </a:solidFill>
                <a:latin typeface="Bahnschrift" panose="020B0502040204020203" pitchFamily="34" charset="0"/>
              </a:rPr>
              <a:t>3</a:t>
            </a:r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79698-4517-46B4-BFDD-218433AF6611}"/>
              </a:ext>
            </a:extLst>
          </p:cNvPr>
          <p:cNvSpPr txBox="1"/>
          <p:nvPr/>
        </p:nvSpPr>
        <p:spPr>
          <a:xfrm>
            <a:off x="512686" y="3385780"/>
            <a:ext cx="63985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Úspechy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silné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stránky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a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najväčšie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výzvy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775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D2E5-F033-D3F0-2B8B-C7E5AA7B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C37CDE-73B8-117A-9ACE-C7B0396E0D94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5F749-AECE-617A-38CB-D27EFFF3850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56470-C888-7027-4F85-7769F7386D6B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C42B11-18B1-B32E-7944-BA13B0B8D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62ABCADB-FAE3-4F48-E3AB-A3749BB72A93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D1769-9AD3-B559-7ED7-6E6326686F6C}"/>
              </a:ext>
            </a:extLst>
          </p:cNvPr>
          <p:cNvSpPr txBox="1"/>
          <p:nvPr/>
        </p:nvSpPr>
        <p:spPr>
          <a:xfrm>
            <a:off x="434049" y="346843"/>
            <a:ext cx="49972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Úspechy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silné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stránky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najväčšie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výzvy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72819-3680-1297-FA7F-1F5AF5CCD09E}"/>
              </a:ext>
            </a:extLst>
          </p:cNvPr>
          <p:cNvSpPr txBox="1"/>
          <p:nvPr/>
        </p:nvSpPr>
        <p:spPr>
          <a:xfrm>
            <a:off x="1757702" y="1992120"/>
            <a:ext cx="91944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b="1" dirty="0">
                <a:solidFill>
                  <a:srgbClr val="7030A0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Úspechy</a:t>
            </a:r>
            <a:endParaRPr lang="en-GB" b="1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Vytvorili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sme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modernú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vzdelávaciu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platformu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s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testami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A1–B2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vlastným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slovníkom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b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Zabezpečili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sme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efektívnu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tímovú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spoluprácu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jasné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rozdelenie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zodpovedností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  <a:p>
            <a:pPr>
              <a:buNone/>
            </a:pPr>
            <a:r>
              <a:rPr lang="uk-UA" b="1" dirty="0">
                <a:solidFill>
                  <a:srgbClr val="7030A0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Silné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stránky</a:t>
            </a:r>
            <a:endParaRPr lang="en-GB" b="1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Projekt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reaguje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reálnu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potrebu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ukrajinsky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hovoriacich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študentov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učiť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slovenčinu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b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Použité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technológie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programovania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umožňujú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jednoduché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rozširovanie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vylepšovanie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platformy.</a:t>
            </a:r>
          </a:p>
          <a:p>
            <a:pPr>
              <a:buNone/>
            </a:pPr>
            <a:r>
              <a:rPr lang="uk-UA" b="1" dirty="0">
                <a:solidFill>
                  <a:srgbClr val="7030A0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Výzvy</a:t>
            </a:r>
            <a:endParaRPr lang="en-GB" b="1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Trh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jazykových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platforiem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je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veľmi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konkurenčný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b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Technická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časť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vyžaduje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priebežné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zlepšovanie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b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Je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dôležité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udržať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záujem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používateľov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, aby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pravidelne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vracali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učili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11" name="Прямокутник: округлені кути 12">
            <a:extLst>
              <a:ext uri="{FF2B5EF4-FFF2-40B4-BE49-F238E27FC236}">
                <a16:creationId xmlns:a16="http://schemas.microsoft.com/office/drawing/2014/main" id="{98E78303-D6C2-7BC8-F696-B01CA3127A35}"/>
              </a:ext>
            </a:extLst>
          </p:cNvPr>
          <p:cNvSpPr/>
          <p:nvPr/>
        </p:nvSpPr>
        <p:spPr>
          <a:xfrm rot="5400000">
            <a:off x="4514730" y="-1092389"/>
            <a:ext cx="3564753" cy="9310021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368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A0A7C-D238-A3C5-42F8-2393E45C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DA807857-5B1E-D2D5-3E32-E35955B376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604060-6165-C5CB-04CE-3BBB13C4ADF6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A5794212-54C3-795D-381B-DE6051A32D2A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27936210-05DC-C2C8-1C12-B99E5C096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2B31DC45-ADAB-6254-4208-C4421DC740ED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0EEF7C-D661-013A-3B64-C5FC8825D029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B6A4274-211E-52F9-5835-BB85CB2C98F8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79DCF-9F34-83D9-95D7-D9B97CCE463E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</a:t>
            </a:r>
            <a:r>
              <a:rPr lang="ru-RU" sz="3200" dirty="0">
                <a:solidFill>
                  <a:schemeClr val="bg1"/>
                </a:solidFill>
                <a:latin typeface="Bahnschrift" panose="020B0502040204020203" pitchFamily="34" charset="0"/>
              </a:rPr>
              <a:t>4</a:t>
            </a:r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CD1B3-971C-A16A-08C2-2785B0008779}"/>
              </a:ext>
            </a:extLst>
          </p:cNvPr>
          <p:cNvSpPr txBox="1"/>
          <p:nvPr/>
        </p:nvSpPr>
        <p:spPr>
          <a:xfrm>
            <a:off x="512686" y="3385780"/>
            <a:ext cx="63985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Analýza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slabých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stránok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72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F7C66-B785-94DA-F649-13947E5E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C81A3722-A4F4-A7F3-2421-329C7CD5991D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E41047-0EC1-F0FF-6010-0BF7E94979B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34A8A-7526-CCA0-3C7F-1511806635B1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70E348-2349-838C-9EB1-778886EEC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C7EE5D45-E4C3-6D14-C585-0DF1571CBBB0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9FA986-21F0-D694-21D7-9DFF2BD112FA}"/>
              </a:ext>
            </a:extLst>
          </p:cNvPr>
          <p:cNvSpPr txBox="1"/>
          <p:nvPr/>
        </p:nvSpPr>
        <p:spPr>
          <a:xfrm>
            <a:off x="434049" y="346843"/>
            <a:ext cx="49972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Analýza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slabých</a:t>
            </a:r>
            <a:r>
              <a:rPr lang="en-GB" sz="32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stránok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85623B-BC8C-C8FC-1B2B-481475F1F995}"/>
              </a:ext>
            </a:extLst>
          </p:cNvPr>
          <p:cNvSpPr txBox="1"/>
          <p:nvPr/>
        </p:nvSpPr>
        <p:spPr>
          <a:xfrm>
            <a:off x="1757702" y="1992120"/>
            <a:ext cx="91944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1)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Technické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problémy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ru-RU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-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lepšie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nastaviť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testovanie</a:t>
            </a:r>
            <a:endParaRPr lang="en-GB" sz="20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Slabosť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: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Počas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práce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občas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objavili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technické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chyby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b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Čo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by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sme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urobili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inak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: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Začali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by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sme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testovať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skôr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testovanie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by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prebiehalo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pravidelne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, aby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problémy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zachytili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hneď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začiatku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ru-RU" sz="20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endParaRPr lang="en-GB" sz="20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2)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Preklady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ru-RU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-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potrebná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priebežná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kontrola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rodeným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hovoriacim</a:t>
            </a:r>
            <a:endParaRPr lang="en-GB" sz="20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Slabosť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: V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niektorých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textoch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objavili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drobné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nepresnosti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b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</a:b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Čo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by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sme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urobili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inak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: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Zapojili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by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sme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rodeného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hovoriaceho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počas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celej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tvorby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obsahu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, aby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bol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jazyk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presnejší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20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prirodzenejší</a:t>
            </a:r>
            <a:r>
              <a:rPr lang="en-GB" sz="20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11" name="Прямокутник: округлені кути 12">
            <a:extLst>
              <a:ext uri="{FF2B5EF4-FFF2-40B4-BE49-F238E27FC236}">
                <a16:creationId xmlns:a16="http://schemas.microsoft.com/office/drawing/2014/main" id="{4C35B533-47EE-8D00-D263-3D7E033D7BFC}"/>
              </a:ext>
            </a:extLst>
          </p:cNvPr>
          <p:cNvSpPr/>
          <p:nvPr/>
        </p:nvSpPr>
        <p:spPr>
          <a:xfrm rot="5400000">
            <a:off x="4689123" y="-1229078"/>
            <a:ext cx="3215961" cy="9310021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49854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456</Words>
  <Application>Microsoft Office PowerPoint</Application>
  <PresentationFormat>Широкий екран</PresentationFormat>
  <Paragraphs>71</Paragraphs>
  <Slides>11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Bahnschrift</vt:lpstr>
      <vt:lpstr>Calibri</vt:lpstr>
      <vt:lpstr>Calibri Light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Maksis S</dc:creator>
  <cp:lastModifiedBy>Maksis S</cp:lastModifiedBy>
  <cp:revision>66</cp:revision>
  <dcterms:created xsi:type="dcterms:W3CDTF">2025-11-23T19:03:23Z</dcterms:created>
  <dcterms:modified xsi:type="dcterms:W3CDTF">2025-12-07T20:08:25Z</dcterms:modified>
</cp:coreProperties>
</file>