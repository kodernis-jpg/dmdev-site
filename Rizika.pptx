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270" r:id="rId3"/>
    <p:sldId id="268" r:id="rId4"/>
    <p:sldId id="269" r:id="rId5"/>
    <p:sldId id="266" r:id="rId6"/>
    <p:sldId id="271" r:id="rId7"/>
    <p:sldId id="272" r:id="rId8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030A0"/>
    <a:srgbClr val="A278C1"/>
    <a:srgbClr val="E6E6E6"/>
    <a:srgbClr val="ED7D31"/>
    <a:srgbClr val="5C0000"/>
    <a:srgbClr val="7335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2A74E-42B3-4A34-A761-427306871794}" type="datetimeFigureOut">
              <a:rPr lang="uk-UA" smtClean="0"/>
              <a:t>02.11.2025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80F7A-EC56-4A7E-84BD-7240FA0A899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44388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80F7A-EC56-4A7E-84BD-7240FA0A899B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5187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DB6AC-5202-B8C2-FC9F-46AB1B142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6028BB0-678B-3AF0-C2F8-FECBFF8AA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4931565-3FB7-94B3-6C7E-7B42896A6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A0839-854C-4AE8-B89D-568BE872055D}" type="datetimeFigureOut">
              <a:rPr lang="uk-UA" smtClean="0"/>
              <a:t>02.11.2025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6BFCEA5-3BC8-F393-2E42-47ED07A9F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78A42FF-09EF-33E9-9CAF-D22372138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640F-3537-4948-8476-13132B2E90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53444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002B6C-33F1-E2F5-B3F6-B3957C66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6A2346D-F1C1-B547-E87A-BDEF00EB3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FC70B51-7315-33A7-D24F-B87B69D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A0839-854C-4AE8-B89D-568BE872055D}" type="datetimeFigureOut">
              <a:rPr lang="uk-UA" smtClean="0"/>
              <a:t>02.11.2025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2319D72-ED52-5273-80CE-73B8772B0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1A86DAD-569F-970C-CF68-A9ED48188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640F-3537-4948-8476-13132B2E90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71815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012494-DCA4-0D4D-445C-77FEC493A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131C6BA-BFC8-FBD2-3AC0-2BF24D5A7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171505F-99E2-BF8B-ED0B-74D07334F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A0839-854C-4AE8-B89D-568BE872055D}" type="datetimeFigureOut">
              <a:rPr lang="uk-UA" smtClean="0"/>
              <a:t>02.11.2025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9910FA5-6CAC-8337-3F94-F5BC53175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46C85BD-89C1-A379-0004-0AF4D6FB2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640F-3537-4948-8476-13132B2E90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48875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1CAB04-1324-5CE9-CFB4-2D4839372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B3861D8-9807-4ECE-3DC2-AEB58ECD8F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3EF2A7C-2713-0C24-C207-D94D96E94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528108E-E846-7845-8D72-B93212686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A0839-854C-4AE8-B89D-568BE872055D}" type="datetimeFigureOut">
              <a:rPr lang="uk-UA" smtClean="0"/>
              <a:t>02.11.2025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F1C5414-C6A5-66D7-0851-3E11258FB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659EF23-4D18-FFC3-81D3-0654C654D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640F-3537-4948-8476-13132B2E90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7014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831B14-C033-E246-9ABC-B3F2D290E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13CDDA6-42C9-AAC2-1493-AB18FDE07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B9FB811-01E0-E670-4300-6C1A5BE29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E9CC963A-8C45-6D59-4C19-42CE9A49A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47EBB488-1C4F-322C-4C86-D23352D669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16E1A100-CDBF-9682-474F-8CE44577E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A0839-854C-4AE8-B89D-568BE872055D}" type="datetimeFigureOut">
              <a:rPr lang="uk-UA" smtClean="0"/>
              <a:t>02.11.2025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AA392CA4-39A5-6557-13F2-80464F0B8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C24858FA-F872-98DE-5FCF-12477C16A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640F-3537-4948-8476-13132B2E90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12905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7585F1-71D7-16A5-F198-189B57161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55BF68F9-D1A1-1FA0-4DC3-9FCA198BE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A0839-854C-4AE8-B89D-568BE872055D}" type="datetimeFigureOut">
              <a:rPr lang="uk-UA" smtClean="0"/>
              <a:t>02.11.2025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AE5A626D-60ED-BD5F-1902-52659030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31EAAF83-84ED-B8DA-9740-E8722D499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640F-3537-4948-8476-13132B2E90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24856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4CF1ED02-8166-FFDE-AA4A-0876B97F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A0839-854C-4AE8-B89D-568BE872055D}" type="datetimeFigureOut">
              <a:rPr lang="uk-UA" smtClean="0"/>
              <a:t>02.11.2025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9EF380B3-FE8A-2A40-630C-018C9A7D9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75EBF351-6758-1686-8583-AD35B4AB5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640F-3537-4948-8476-13132B2E90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18541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2A5699-06E6-0980-D2E3-5C7F20DBA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3E8E416-6E7D-E632-7BD9-B8464F0FF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70CFA22-4CD7-3362-B1B8-F3CFC3999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612758F-3624-1A99-09CE-5334B7018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A0839-854C-4AE8-B89D-568BE872055D}" type="datetimeFigureOut">
              <a:rPr lang="uk-UA" smtClean="0"/>
              <a:t>02.11.2025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07F697F-11FC-3266-FACF-A53A01AC5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4B7414C-FE9F-9A13-0308-825CBC2D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640F-3537-4948-8476-13132B2E90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9300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91E398-9B7F-41DD-6C7F-8D7CB270B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291124FD-2A37-4033-20A1-5019F6C9C1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AB8C415-BD2C-17C8-E76A-7F7B19DD1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B0C7A00-36EF-8199-C64F-CE45B52A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A0839-854C-4AE8-B89D-568BE872055D}" type="datetimeFigureOut">
              <a:rPr lang="uk-UA" smtClean="0"/>
              <a:t>02.11.2025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6B5BEF3-39AD-981F-A870-D6C5B794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0C11727-81D4-CACC-7076-A57FDDA78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640F-3537-4948-8476-13132B2E90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37094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C511B-6557-BD1F-89BB-874A5775D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5FD9400-A9A5-7B3C-1E38-69B068398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B44A229-0105-AEEE-B3D0-408F242C1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A0839-854C-4AE8-B89D-568BE872055D}" type="datetimeFigureOut">
              <a:rPr lang="uk-UA" smtClean="0"/>
              <a:t>02.11.2025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B7375C3-EEB3-0D90-531D-0CAE4F2F4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BFA25A9-FB16-F15A-F104-82E82A066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640F-3537-4948-8476-13132B2E90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25405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F98E7B06-D9DC-32D1-B5A2-B63E8FEC76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37342A92-DC44-8EE0-E9DE-BEC7EE039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D95EEC6-339D-84E6-FD41-EF645BF1A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A0839-854C-4AE8-B89D-568BE872055D}" type="datetimeFigureOut">
              <a:rPr lang="uk-UA" smtClean="0"/>
              <a:t>02.11.2025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F9964A6-9943-C79E-6F34-E664D2190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316C1A7-86DC-9824-5031-CE950E1CB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5640F-3537-4948-8476-13132B2E90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32897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5A9DFA3E-2828-0857-BECC-8F6E12253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732E757-19FE-2495-3230-98F429139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E6681DF-F67C-573F-4CCD-9F1732CC06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A0839-854C-4AE8-B89D-568BE872055D}" type="datetimeFigureOut">
              <a:rPr lang="uk-UA" smtClean="0"/>
              <a:t>02.11.2025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B97B345-F732-254C-BE8A-B5F37C055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C587202-DFCF-7946-99D3-9E9FDC4AF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5640F-3537-4948-8476-13132B2E90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35587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увати 3">
            <a:extLst>
              <a:ext uri="{FF2B5EF4-FFF2-40B4-BE49-F238E27FC236}">
                <a16:creationId xmlns:a16="http://schemas.microsoft.com/office/drawing/2014/main" id="{7140EB91-C3BA-D63B-9A3D-2A03AD8ECE44}"/>
              </a:ext>
            </a:extLst>
          </p:cNvPr>
          <p:cNvGrpSpPr/>
          <p:nvPr/>
        </p:nvGrpSpPr>
        <p:grpSpPr>
          <a:xfrm>
            <a:off x="10773556" y="363528"/>
            <a:ext cx="1120820" cy="920564"/>
            <a:chOff x="10490967" y="246382"/>
            <a:chExt cx="1120820" cy="920564"/>
          </a:xfrm>
        </p:grpSpPr>
        <p:sp>
          <p:nvSpPr>
            <p:cNvPr id="5" name="Шестикутник 4">
              <a:extLst>
                <a:ext uri="{FF2B5EF4-FFF2-40B4-BE49-F238E27FC236}">
                  <a16:creationId xmlns:a16="http://schemas.microsoft.com/office/drawing/2014/main" id="{2E7E596F-730C-6989-3103-7D19654E6A05}"/>
                </a:ext>
              </a:extLst>
            </p:cNvPr>
            <p:cNvSpPr/>
            <p:nvPr/>
          </p:nvSpPr>
          <p:spPr>
            <a:xfrm rot="5400000">
              <a:off x="10757159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solidFill>
                  <a:srgbClr val="D4C0E2"/>
                </a:solidFill>
              </a:endParaRPr>
            </a:p>
          </p:txBody>
        </p:sp>
        <p:sp>
          <p:nvSpPr>
            <p:cNvPr id="6" name="Прямокутник 5">
              <a:extLst>
                <a:ext uri="{FF2B5EF4-FFF2-40B4-BE49-F238E27FC236}">
                  <a16:creationId xmlns:a16="http://schemas.microsoft.com/office/drawing/2014/main" id="{E4FCB182-AB44-BDBC-F74F-751CF34D0969}"/>
                </a:ext>
              </a:extLst>
            </p:cNvPr>
            <p:cNvSpPr/>
            <p:nvPr/>
          </p:nvSpPr>
          <p:spPr>
            <a:xfrm rot="18900000">
              <a:off x="10946952" y="447555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7" name="Рівнобедрений трикутник 6">
              <a:extLst>
                <a:ext uri="{FF2B5EF4-FFF2-40B4-BE49-F238E27FC236}">
                  <a16:creationId xmlns:a16="http://schemas.microsoft.com/office/drawing/2014/main" id="{F2C7309F-9454-D608-865A-E73E04204397}"/>
                </a:ext>
              </a:extLst>
            </p:cNvPr>
            <p:cNvSpPr/>
            <p:nvPr/>
          </p:nvSpPr>
          <p:spPr>
            <a:xfrm rot="10800000">
              <a:off x="10966778" y="542015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04EC3A-CE57-FF94-9E30-E789A8E6C17F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3935BBD0-BC32-5C14-356A-ED841900BE6B}"/>
              </a:ext>
            </a:extLst>
          </p:cNvPr>
          <p:cNvSpPr txBox="1">
            <a:spLocks/>
          </p:cNvSpPr>
          <p:nvPr/>
        </p:nvSpPr>
        <p:spPr>
          <a:xfrm>
            <a:off x="435048" y="99114"/>
            <a:ext cx="4572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6000" b="1" dirty="0">
              <a:solidFill>
                <a:srgbClr val="7030A0"/>
              </a:solidFill>
              <a:latin typeface="Bahnschrift" panose="020B0502040204020203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Projekt </a:t>
            </a:r>
            <a:r>
              <a:rPr lang="en-GB" sz="6000" b="1" dirty="0" err="1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tímu</a:t>
            </a:r>
            <a: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b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DMDEV</a:t>
            </a:r>
            <a:endParaRPr lang="uk-UA" sz="6000" b="1" dirty="0">
              <a:solidFill>
                <a:srgbClr val="7030A0"/>
              </a:solidFill>
              <a:latin typeface="Bahnschrift" panose="020B0502040204020203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0" name="Пряма сполучна лінія 9">
            <a:extLst>
              <a:ext uri="{FF2B5EF4-FFF2-40B4-BE49-F238E27FC236}">
                <a16:creationId xmlns:a16="http://schemas.microsoft.com/office/drawing/2014/main" id="{DA990BA0-377D-6DEC-434C-6A5053558ADE}"/>
              </a:ext>
            </a:extLst>
          </p:cNvPr>
          <p:cNvCxnSpPr>
            <a:cxnSpLocks/>
          </p:cNvCxnSpPr>
          <p:nvPr/>
        </p:nvCxnSpPr>
        <p:spPr>
          <a:xfrm>
            <a:off x="555012" y="2486714"/>
            <a:ext cx="4190036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256B0AE-E065-403C-DB2E-14E0E58DA669}"/>
              </a:ext>
            </a:extLst>
          </p:cNvPr>
          <p:cNvSpPr txBox="1"/>
          <p:nvPr/>
        </p:nvSpPr>
        <p:spPr>
          <a:xfrm>
            <a:off x="435048" y="259747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Slovak</a:t>
            </a:r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Quiz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372940A-1835-3A87-D92C-902EDC3F5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923" y="419517"/>
            <a:ext cx="41900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Analýza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lang="en-GB" alt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rizík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4DC69887-CA01-4DF9-B7F5-6881A86593C1}"/>
              </a:ext>
            </a:extLst>
          </p:cNvPr>
          <p:cNvSpPr/>
          <p:nvPr/>
        </p:nvSpPr>
        <p:spPr>
          <a:xfrm rot="5400000">
            <a:off x="-3313538" y="3313537"/>
            <a:ext cx="6857999" cy="23092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D7F12741-86E4-B45F-1CDA-AF59CB4DEF4A}"/>
              </a:ext>
            </a:extLst>
          </p:cNvPr>
          <p:cNvSpPr/>
          <p:nvPr/>
        </p:nvSpPr>
        <p:spPr>
          <a:xfrm rot="5400000">
            <a:off x="8647539" y="3313536"/>
            <a:ext cx="6857999" cy="23092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DA08DE5F-540A-D714-5816-30DBC77AC168}"/>
              </a:ext>
            </a:extLst>
          </p:cNvPr>
          <p:cNvSpPr/>
          <p:nvPr/>
        </p:nvSpPr>
        <p:spPr>
          <a:xfrm>
            <a:off x="0" y="-49477"/>
            <a:ext cx="12192000" cy="26227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8E191285-CFCA-8977-069E-13713770EDD1}"/>
              </a:ext>
            </a:extLst>
          </p:cNvPr>
          <p:cNvSpPr/>
          <p:nvPr/>
        </p:nvSpPr>
        <p:spPr>
          <a:xfrm>
            <a:off x="0" y="6595723"/>
            <a:ext cx="12192000" cy="26227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1252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29BD4-1906-57BF-FA7E-D8BAF8F93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увати 3">
            <a:extLst>
              <a:ext uri="{FF2B5EF4-FFF2-40B4-BE49-F238E27FC236}">
                <a16:creationId xmlns:a16="http://schemas.microsoft.com/office/drawing/2014/main" id="{12A46C68-A7F6-B972-C023-4E4CA82EAC4D}"/>
              </a:ext>
            </a:extLst>
          </p:cNvPr>
          <p:cNvGrpSpPr/>
          <p:nvPr/>
        </p:nvGrpSpPr>
        <p:grpSpPr>
          <a:xfrm>
            <a:off x="10773556" y="363528"/>
            <a:ext cx="1120820" cy="920564"/>
            <a:chOff x="10490967" y="246382"/>
            <a:chExt cx="1120820" cy="920564"/>
          </a:xfrm>
        </p:grpSpPr>
        <p:sp>
          <p:nvSpPr>
            <p:cNvPr id="5" name="Шестикутник 4">
              <a:extLst>
                <a:ext uri="{FF2B5EF4-FFF2-40B4-BE49-F238E27FC236}">
                  <a16:creationId xmlns:a16="http://schemas.microsoft.com/office/drawing/2014/main" id="{37D9E938-B321-9882-ADCE-34B2CF6B767B}"/>
                </a:ext>
              </a:extLst>
            </p:cNvPr>
            <p:cNvSpPr/>
            <p:nvPr/>
          </p:nvSpPr>
          <p:spPr>
            <a:xfrm rot="5400000">
              <a:off x="10757159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solidFill>
                  <a:srgbClr val="D4C0E2"/>
                </a:solidFill>
              </a:endParaRPr>
            </a:p>
          </p:txBody>
        </p:sp>
        <p:sp>
          <p:nvSpPr>
            <p:cNvPr id="6" name="Прямокутник 5">
              <a:extLst>
                <a:ext uri="{FF2B5EF4-FFF2-40B4-BE49-F238E27FC236}">
                  <a16:creationId xmlns:a16="http://schemas.microsoft.com/office/drawing/2014/main" id="{7EC5A9D2-32D4-C3CB-D795-B0DE08BF6C8A}"/>
                </a:ext>
              </a:extLst>
            </p:cNvPr>
            <p:cNvSpPr/>
            <p:nvPr/>
          </p:nvSpPr>
          <p:spPr>
            <a:xfrm rot="18900000">
              <a:off x="10946952" y="447555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7" name="Рівнобедрений трикутник 6">
              <a:extLst>
                <a:ext uri="{FF2B5EF4-FFF2-40B4-BE49-F238E27FC236}">
                  <a16:creationId xmlns:a16="http://schemas.microsoft.com/office/drawing/2014/main" id="{AC8BFBE8-C9F3-6889-4B94-5DB28CFC9C44}"/>
                </a:ext>
              </a:extLst>
            </p:cNvPr>
            <p:cNvSpPr/>
            <p:nvPr/>
          </p:nvSpPr>
          <p:spPr>
            <a:xfrm rot="10800000">
              <a:off x="10966778" y="542015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AE3CAD-1B48-00B1-A0C8-91A360F34697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E5DDA45B-A879-8E1C-ACC3-18E68274FC54}"/>
              </a:ext>
            </a:extLst>
          </p:cNvPr>
          <p:cNvSpPr/>
          <p:nvPr/>
        </p:nvSpPr>
        <p:spPr>
          <a:xfrm rot="5400000">
            <a:off x="-3313538" y="3313537"/>
            <a:ext cx="6857999" cy="23092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D16BA684-23C9-5261-45FF-B6A83A792518}"/>
              </a:ext>
            </a:extLst>
          </p:cNvPr>
          <p:cNvSpPr/>
          <p:nvPr/>
        </p:nvSpPr>
        <p:spPr>
          <a:xfrm rot="5400000">
            <a:off x="8647539" y="3313536"/>
            <a:ext cx="6857999" cy="23092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873379AC-9DBF-2D6E-9A59-2D8A73F507A6}"/>
              </a:ext>
            </a:extLst>
          </p:cNvPr>
          <p:cNvSpPr/>
          <p:nvPr/>
        </p:nvSpPr>
        <p:spPr>
          <a:xfrm>
            <a:off x="0" y="-49477"/>
            <a:ext cx="12192000" cy="26227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3B25B1BE-F732-727C-2CA3-F13611409E6E}"/>
              </a:ext>
            </a:extLst>
          </p:cNvPr>
          <p:cNvSpPr/>
          <p:nvPr/>
        </p:nvSpPr>
        <p:spPr>
          <a:xfrm>
            <a:off x="0" y="6595723"/>
            <a:ext cx="12192000" cy="26227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E2F10A-8B88-CB18-F452-E8F0C45187AD}"/>
              </a:ext>
            </a:extLst>
          </p:cNvPr>
          <p:cNvSpPr txBox="1"/>
          <p:nvPr/>
        </p:nvSpPr>
        <p:spPr>
          <a:xfrm>
            <a:off x="523204" y="485554"/>
            <a:ext cx="97688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dirty="0">
                <a:solidFill>
                  <a:srgbClr val="7030A0"/>
                </a:solidFill>
                <a:latin typeface="Bahnschrift" panose="020B0502040204020203" pitchFamily="34" charset="0"/>
              </a:rPr>
              <a:t>Zlá lokalizácia alebo preklad</a:t>
            </a:r>
            <a:endParaRPr lang="uk-UA" sz="40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AFDC68-8A67-2F8B-228D-A229D381E38F}"/>
              </a:ext>
            </a:extLst>
          </p:cNvPr>
          <p:cNvSpPr txBox="1"/>
          <p:nvPr/>
        </p:nvSpPr>
        <p:spPr>
          <a:xfrm>
            <a:off x="1343025" y="1595667"/>
            <a:ext cx="894903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Nesprávny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preklad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termínov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do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slovenčiny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alebo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iných</a:t>
            </a:r>
            <a:r>
              <a:rPr lang="ru-RU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jazykov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môže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skresliť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proces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učenia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algn="just"/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lvl="2" algn="just"/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Pravdepodobnosť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—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Nízka</a:t>
            </a:r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lvl="2" algn="just"/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Vplyv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— </a:t>
            </a:r>
            <a:r>
              <a:rPr lang="en-GB" sz="2400" dirty="0" err="1">
                <a:solidFill>
                  <a:srgbClr val="FFC000"/>
                </a:solidFill>
                <a:latin typeface="Bahnschrift" panose="020B0502040204020203" pitchFamily="34" charset="0"/>
              </a:rPr>
              <a:t>Stredný</a:t>
            </a:r>
            <a:endParaRPr lang="ru-RU" sz="2400" dirty="0">
              <a:solidFill>
                <a:srgbClr val="FFC000"/>
              </a:solidFill>
              <a:latin typeface="Bahnschrift" panose="020B0502040204020203" pitchFamily="34" charset="0"/>
            </a:endParaRPr>
          </a:p>
          <a:p>
            <a:pPr algn="just"/>
            <a:r>
              <a:rPr lang="uk-UA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          </a:t>
            </a:r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Strategia</a:t>
            </a:r>
            <a:r>
              <a:rPr lang="en-GB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riešenia</a:t>
            </a:r>
            <a:r>
              <a:rPr lang="en-GB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—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Zapojiť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rodených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hovoriacich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kontrolu</a:t>
            </a:r>
            <a:r>
              <a:rPr lang="ru-RU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termínov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pravidelne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aktualizovať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preklady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3" name="Групувати 12">
            <a:extLst>
              <a:ext uri="{FF2B5EF4-FFF2-40B4-BE49-F238E27FC236}">
                <a16:creationId xmlns:a16="http://schemas.microsoft.com/office/drawing/2014/main" id="{5F8B4EBF-0FC3-B0C8-5177-3C84A59A679B}"/>
              </a:ext>
            </a:extLst>
          </p:cNvPr>
          <p:cNvGrpSpPr/>
          <p:nvPr/>
        </p:nvGrpSpPr>
        <p:grpSpPr>
          <a:xfrm>
            <a:off x="2569497" y="5262333"/>
            <a:ext cx="7053007" cy="434464"/>
            <a:chOff x="2684958" y="5262333"/>
            <a:chExt cx="7053007" cy="434464"/>
          </a:xfrm>
        </p:grpSpPr>
        <p:sp>
          <p:nvSpPr>
            <p:cNvPr id="9" name="Rovnoramenný trojuholník 8">
              <a:extLst>
                <a:ext uri="{FF2B5EF4-FFF2-40B4-BE49-F238E27FC236}">
                  <a16:creationId xmlns:a16="http://schemas.microsoft.com/office/drawing/2014/main" id="{34B4124C-4056-A1E5-7067-699A0B580B86}"/>
                </a:ext>
              </a:extLst>
            </p:cNvPr>
            <p:cNvSpPr/>
            <p:nvPr/>
          </p:nvSpPr>
          <p:spPr>
            <a:xfrm flipV="1">
              <a:off x="6005821" y="5262333"/>
              <a:ext cx="300213" cy="108642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Прямокутник 16">
              <a:extLst>
                <a:ext uri="{FF2B5EF4-FFF2-40B4-BE49-F238E27FC236}">
                  <a16:creationId xmlns:a16="http://schemas.microsoft.com/office/drawing/2014/main" id="{809CF950-DA4C-0FB6-5912-C5593356254E}"/>
                </a:ext>
              </a:extLst>
            </p:cNvPr>
            <p:cNvSpPr/>
            <p:nvPr/>
          </p:nvSpPr>
          <p:spPr>
            <a:xfrm>
              <a:off x="2684958" y="5434523"/>
              <a:ext cx="2313980" cy="26227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highlight>
                  <a:srgbClr val="A278C1"/>
                </a:highlight>
              </a:endParaRPr>
            </a:p>
          </p:txBody>
        </p:sp>
        <p:sp>
          <p:nvSpPr>
            <p:cNvPr id="11" name="Прямокутник 16">
              <a:extLst>
                <a:ext uri="{FF2B5EF4-FFF2-40B4-BE49-F238E27FC236}">
                  <a16:creationId xmlns:a16="http://schemas.microsoft.com/office/drawing/2014/main" id="{A8597817-C4B4-D4EF-37C9-5906AF99DAB1}"/>
                </a:ext>
              </a:extLst>
            </p:cNvPr>
            <p:cNvSpPr/>
            <p:nvPr/>
          </p:nvSpPr>
          <p:spPr>
            <a:xfrm>
              <a:off x="4998938" y="5434523"/>
              <a:ext cx="2313980" cy="26227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highlight>
                  <a:srgbClr val="A278C1"/>
                </a:highlight>
              </a:endParaRPr>
            </a:p>
          </p:txBody>
        </p:sp>
        <p:sp>
          <p:nvSpPr>
            <p:cNvPr id="12" name="Прямокутник 16">
              <a:extLst>
                <a:ext uri="{FF2B5EF4-FFF2-40B4-BE49-F238E27FC236}">
                  <a16:creationId xmlns:a16="http://schemas.microsoft.com/office/drawing/2014/main" id="{4A9E0BFA-02B2-339D-99F1-6E6B0CA2FDA6}"/>
                </a:ext>
              </a:extLst>
            </p:cNvPr>
            <p:cNvSpPr/>
            <p:nvPr/>
          </p:nvSpPr>
          <p:spPr>
            <a:xfrm>
              <a:off x="7312918" y="5434523"/>
              <a:ext cx="2425047" cy="262274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highlight>
                  <a:srgbClr val="A278C1"/>
                </a:highlight>
              </a:endParaRPr>
            </a:p>
          </p:txBody>
        </p:sp>
      </p:grpSp>
      <p:sp>
        <p:nvSpPr>
          <p:cNvPr id="14" name="Прямокутник 17">
            <a:extLst>
              <a:ext uri="{FF2B5EF4-FFF2-40B4-BE49-F238E27FC236}">
                <a16:creationId xmlns:a16="http://schemas.microsoft.com/office/drawing/2014/main" id="{46894A3A-8493-8D9F-CA13-11F290EFD897}"/>
              </a:ext>
            </a:extLst>
          </p:cNvPr>
          <p:cNvSpPr/>
          <p:nvPr/>
        </p:nvSpPr>
        <p:spPr>
          <a:xfrm rot="5400000">
            <a:off x="879611" y="2001961"/>
            <a:ext cx="889118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26997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BA1FE-036C-2FFD-1C0F-D25276FC8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увати 3">
            <a:extLst>
              <a:ext uri="{FF2B5EF4-FFF2-40B4-BE49-F238E27FC236}">
                <a16:creationId xmlns:a16="http://schemas.microsoft.com/office/drawing/2014/main" id="{3F5A8E1E-B0D6-422C-CD90-DB1614D65967}"/>
              </a:ext>
            </a:extLst>
          </p:cNvPr>
          <p:cNvGrpSpPr/>
          <p:nvPr/>
        </p:nvGrpSpPr>
        <p:grpSpPr>
          <a:xfrm>
            <a:off x="10773556" y="363528"/>
            <a:ext cx="1120820" cy="920564"/>
            <a:chOff x="10490967" y="246382"/>
            <a:chExt cx="1120820" cy="920564"/>
          </a:xfrm>
        </p:grpSpPr>
        <p:sp>
          <p:nvSpPr>
            <p:cNvPr id="5" name="Шестикутник 4">
              <a:extLst>
                <a:ext uri="{FF2B5EF4-FFF2-40B4-BE49-F238E27FC236}">
                  <a16:creationId xmlns:a16="http://schemas.microsoft.com/office/drawing/2014/main" id="{BE0CBEB7-9456-7B34-E4FD-98CD2647A8B8}"/>
                </a:ext>
              </a:extLst>
            </p:cNvPr>
            <p:cNvSpPr/>
            <p:nvPr/>
          </p:nvSpPr>
          <p:spPr>
            <a:xfrm rot="5400000">
              <a:off x="10757159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solidFill>
                  <a:srgbClr val="D4C0E2"/>
                </a:solidFill>
              </a:endParaRPr>
            </a:p>
          </p:txBody>
        </p:sp>
        <p:sp>
          <p:nvSpPr>
            <p:cNvPr id="6" name="Прямокутник 5">
              <a:extLst>
                <a:ext uri="{FF2B5EF4-FFF2-40B4-BE49-F238E27FC236}">
                  <a16:creationId xmlns:a16="http://schemas.microsoft.com/office/drawing/2014/main" id="{2F84F74F-F8D0-0392-DC42-8F2268B87EF5}"/>
                </a:ext>
              </a:extLst>
            </p:cNvPr>
            <p:cNvSpPr/>
            <p:nvPr/>
          </p:nvSpPr>
          <p:spPr>
            <a:xfrm rot="18900000">
              <a:off x="10946952" y="447555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7" name="Рівнобедрений трикутник 6">
              <a:extLst>
                <a:ext uri="{FF2B5EF4-FFF2-40B4-BE49-F238E27FC236}">
                  <a16:creationId xmlns:a16="http://schemas.microsoft.com/office/drawing/2014/main" id="{541BA44D-B2E8-2DAE-6AF5-F408A16E6EA4}"/>
                </a:ext>
              </a:extLst>
            </p:cNvPr>
            <p:cNvSpPr/>
            <p:nvPr/>
          </p:nvSpPr>
          <p:spPr>
            <a:xfrm rot="10800000">
              <a:off x="10966778" y="542015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84B597A-197F-64C0-0752-C7EB63B91AA8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0BDDEEFA-F640-76CF-C346-666C482D6F90}"/>
              </a:ext>
            </a:extLst>
          </p:cNvPr>
          <p:cNvSpPr/>
          <p:nvPr/>
        </p:nvSpPr>
        <p:spPr>
          <a:xfrm rot="5400000">
            <a:off x="-3313538" y="3313537"/>
            <a:ext cx="6857999" cy="23092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FB36F042-140B-27AA-1EB4-09F1F3C95E3B}"/>
              </a:ext>
            </a:extLst>
          </p:cNvPr>
          <p:cNvSpPr/>
          <p:nvPr/>
        </p:nvSpPr>
        <p:spPr>
          <a:xfrm rot="5400000">
            <a:off x="8647539" y="3313536"/>
            <a:ext cx="6857999" cy="23092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6BC1A006-B67E-5A4E-9F50-A32C07321B79}"/>
              </a:ext>
            </a:extLst>
          </p:cNvPr>
          <p:cNvSpPr/>
          <p:nvPr/>
        </p:nvSpPr>
        <p:spPr>
          <a:xfrm>
            <a:off x="0" y="-49477"/>
            <a:ext cx="12192000" cy="26227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7F1157B7-5F17-53D7-2757-212697E6687A}"/>
              </a:ext>
            </a:extLst>
          </p:cNvPr>
          <p:cNvSpPr/>
          <p:nvPr/>
        </p:nvSpPr>
        <p:spPr>
          <a:xfrm>
            <a:off x="0" y="6595723"/>
            <a:ext cx="12192000" cy="26227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86CE6A-E7D8-8BD6-9E3B-69B82653E01F}"/>
              </a:ext>
            </a:extLst>
          </p:cNvPr>
          <p:cNvSpPr txBox="1"/>
          <p:nvPr/>
        </p:nvSpPr>
        <p:spPr>
          <a:xfrm>
            <a:off x="523204" y="485554"/>
            <a:ext cx="97688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dirty="0">
                <a:solidFill>
                  <a:srgbClr val="7030A0"/>
                </a:solidFill>
                <a:latin typeface="Bahnschrift" panose="020B0502040204020203" pitchFamily="34" charset="0"/>
              </a:rPr>
              <a:t>Problémy s bezpečnosťou a dôvernosťou</a:t>
            </a:r>
            <a:endParaRPr lang="uk-UA" sz="40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2CC90C-F50E-F692-FF9E-FAC8FAF2A411}"/>
              </a:ext>
            </a:extLst>
          </p:cNvPr>
          <p:cNvSpPr txBox="1"/>
          <p:nvPr/>
        </p:nvSpPr>
        <p:spPr>
          <a:xfrm>
            <a:off x="893030" y="1575778"/>
            <a:ext cx="968183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Hrozba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úniku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používateľských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údajov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alebo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hackerských</a:t>
            </a:r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lvl="1"/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útokov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lvl="1"/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lvl="2"/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Pravdepodobnosť</a:t>
            </a:r>
            <a:r>
              <a:rPr lang="en-GB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—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Nízka</a:t>
            </a:r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lvl="2"/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Vplyv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— </a:t>
            </a:r>
            <a:r>
              <a:rPr lang="en-GB" sz="2400" dirty="0" err="1">
                <a:solidFill>
                  <a:srgbClr val="FFC000"/>
                </a:solidFill>
                <a:latin typeface="Bahnschrift" panose="020B0502040204020203" pitchFamily="34" charset="0"/>
              </a:rPr>
              <a:t>Stredný</a:t>
            </a:r>
            <a:endParaRPr lang="ru-RU" sz="2400" dirty="0">
              <a:solidFill>
                <a:srgbClr val="FFC000"/>
              </a:solidFill>
              <a:latin typeface="Bahnschrift" panose="020B0502040204020203" pitchFamily="34" charset="0"/>
            </a:endParaRPr>
          </a:p>
          <a:p>
            <a:pPr lvl="2"/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Strategia</a:t>
            </a:r>
            <a:r>
              <a:rPr lang="en-GB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riešenia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—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Zaviesť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SSL,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spoľahlivé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ukladanie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hesiel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,</a:t>
            </a:r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pravidelné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aktualizácie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bezpečnostného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systému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bezpečnostný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audit.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Прямокутник 17">
            <a:extLst>
              <a:ext uri="{FF2B5EF4-FFF2-40B4-BE49-F238E27FC236}">
                <a16:creationId xmlns:a16="http://schemas.microsoft.com/office/drawing/2014/main" id="{A640E440-0B2F-54F6-2F0B-9E145D8B58E6}"/>
              </a:ext>
            </a:extLst>
          </p:cNvPr>
          <p:cNvSpPr/>
          <p:nvPr/>
        </p:nvSpPr>
        <p:spPr>
          <a:xfrm rot="5400000">
            <a:off x="865967" y="1997477"/>
            <a:ext cx="889118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pSp>
        <p:nvGrpSpPr>
          <p:cNvPr id="19" name="Групувати 18">
            <a:extLst>
              <a:ext uri="{FF2B5EF4-FFF2-40B4-BE49-F238E27FC236}">
                <a16:creationId xmlns:a16="http://schemas.microsoft.com/office/drawing/2014/main" id="{AE8E570D-86AE-F6FE-479C-4005F31D58E4}"/>
              </a:ext>
            </a:extLst>
          </p:cNvPr>
          <p:cNvGrpSpPr/>
          <p:nvPr/>
        </p:nvGrpSpPr>
        <p:grpSpPr>
          <a:xfrm>
            <a:off x="2569497" y="5262333"/>
            <a:ext cx="7053007" cy="434464"/>
            <a:chOff x="2684958" y="5262333"/>
            <a:chExt cx="7053007" cy="434464"/>
          </a:xfrm>
        </p:grpSpPr>
        <p:sp>
          <p:nvSpPr>
            <p:cNvPr id="10" name="Прямокутник 16">
              <a:extLst>
                <a:ext uri="{FF2B5EF4-FFF2-40B4-BE49-F238E27FC236}">
                  <a16:creationId xmlns:a16="http://schemas.microsoft.com/office/drawing/2014/main" id="{FAA0A907-E83E-D872-0718-F9E0BCE27FDC}"/>
                </a:ext>
              </a:extLst>
            </p:cNvPr>
            <p:cNvSpPr/>
            <p:nvPr/>
          </p:nvSpPr>
          <p:spPr>
            <a:xfrm>
              <a:off x="2684958" y="5434523"/>
              <a:ext cx="2313980" cy="26227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highlight>
                  <a:srgbClr val="A278C1"/>
                </a:highlight>
              </a:endParaRPr>
            </a:p>
          </p:txBody>
        </p:sp>
        <p:sp>
          <p:nvSpPr>
            <p:cNvPr id="11" name="Прямокутник 16">
              <a:extLst>
                <a:ext uri="{FF2B5EF4-FFF2-40B4-BE49-F238E27FC236}">
                  <a16:creationId xmlns:a16="http://schemas.microsoft.com/office/drawing/2014/main" id="{DDAC07C8-7F89-428C-17F4-C3058B2DAF62}"/>
                </a:ext>
              </a:extLst>
            </p:cNvPr>
            <p:cNvSpPr/>
            <p:nvPr/>
          </p:nvSpPr>
          <p:spPr>
            <a:xfrm>
              <a:off x="4998938" y="5434523"/>
              <a:ext cx="2313980" cy="26227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highlight>
                  <a:srgbClr val="A278C1"/>
                </a:highlight>
              </a:endParaRPr>
            </a:p>
          </p:txBody>
        </p:sp>
        <p:sp>
          <p:nvSpPr>
            <p:cNvPr id="12" name="Прямокутник 16">
              <a:extLst>
                <a:ext uri="{FF2B5EF4-FFF2-40B4-BE49-F238E27FC236}">
                  <a16:creationId xmlns:a16="http://schemas.microsoft.com/office/drawing/2014/main" id="{44038A4A-E7EA-6B83-BCAD-E6A98509AF28}"/>
                </a:ext>
              </a:extLst>
            </p:cNvPr>
            <p:cNvSpPr/>
            <p:nvPr/>
          </p:nvSpPr>
          <p:spPr>
            <a:xfrm>
              <a:off x="7312918" y="5434523"/>
              <a:ext cx="2425047" cy="262274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highlight>
                  <a:srgbClr val="A278C1"/>
                </a:highlight>
              </a:endParaRPr>
            </a:p>
          </p:txBody>
        </p:sp>
        <p:sp>
          <p:nvSpPr>
            <p:cNvPr id="14" name="Rovnoramenný trojuholník 8">
              <a:extLst>
                <a:ext uri="{FF2B5EF4-FFF2-40B4-BE49-F238E27FC236}">
                  <a16:creationId xmlns:a16="http://schemas.microsoft.com/office/drawing/2014/main" id="{1F7EFD36-048F-9531-5262-F0EC5B270242}"/>
                </a:ext>
              </a:extLst>
            </p:cNvPr>
            <p:cNvSpPr/>
            <p:nvPr/>
          </p:nvSpPr>
          <p:spPr>
            <a:xfrm flipV="1">
              <a:off x="6005821" y="5262333"/>
              <a:ext cx="300213" cy="108642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92242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A5966-DAB2-7ECC-5FEE-F37E3D321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увати 3">
            <a:extLst>
              <a:ext uri="{FF2B5EF4-FFF2-40B4-BE49-F238E27FC236}">
                <a16:creationId xmlns:a16="http://schemas.microsoft.com/office/drawing/2014/main" id="{6C6B2C7C-3096-531D-EC42-02B94D828B9B}"/>
              </a:ext>
            </a:extLst>
          </p:cNvPr>
          <p:cNvGrpSpPr/>
          <p:nvPr/>
        </p:nvGrpSpPr>
        <p:grpSpPr>
          <a:xfrm>
            <a:off x="10773556" y="363528"/>
            <a:ext cx="1120820" cy="920564"/>
            <a:chOff x="10490967" y="246382"/>
            <a:chExt cx="1120820" cy="920564"/>
          </a:xfrm>
        </p:grpSpPr>
        <p:sp>
          <p:nvSpPr>
            <p:cNvPr id="5" name="Шестикутник 4">
              <a:extLst>
                <a:ext uri="{FF2B5EF4-FFF2-40B4-BE49-F238E27FC236}">
                  <a16:creationId xmlns:a16="http://schemas.microsoft.com/office/drawing/2014/main" id="{E3F43327-739D-56BB-85DE-A3CF09741FC4}"/>
                </a:ext>
              </a:extLst>
            </p:cNvPr>
            <p:cNvSpPr/>
            <p:nvPr/>
          </p:nvSpPr>
          <p:spPr>
            <a:xfrm rot="5400000">
              <a:off x="10757159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solidFill>
                  <a:srgbClr val="D4C0E2"/>
                </a:solidFill>
              </a:endParaRPr>
            </a:p>
          </p:txBody>
        </p:sp>
        <p:sp>
          <p:nvSpPr>
            <p:cNvPr id="6" name="Прямокутник 5">
              <a:extLst>
                <a:ext uri="{FF2B5EF4-FFF2-40B4-BE49-F238E27FC236}">
                  <a16:creationId xmlns:a16="http://schemas.microsoft.com/office/drawing/2014/main" id="{06191492-FAC1-E56B-E2A9-FB927E329C72}"/>
                </a:ext>
              </a:extLst>
            </p:cNvPr>
            <p:cNvSpPr/>
            <p:nvPr/>
          </p:nvSpPr>
          <p:spPr>
            <a:xfrm rot="18900000">
              <a:off x="10946952" y="447555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7" name="Рівнобедрений трикутник 6">
              <a:extLst>
                <a:ext uri="{FF2B5EF4-FFF2-40B4-BE49-F238E27FC236}">
                  <a16:creationId xmlns:a16="http://schemas.microsoft.com/office/drawing/2014/main" id="{B685C689-CD49-CDCA-A693-ECAF4BAF5524}"/>
                </a:ext>
              </a:extLst>
            </p:cNvPr>
            <p:cNvSpPr/>
            <p:nvPr/>
          </p:nvSpPr>
          <p:spPr>
            <a:xfrm rot="10800000">
              <a:off x="10966778" y="542015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19CE70-745B-AA33-53D5-BF5D99ED7D32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84E52D33-5789-B8EE-6946-626053DE4C43}"/>
              </a:ext>
            </a:extLst>
          </p:cNvPr>
          <p:cNvSpPr/>
          <p:nvPr/>
        </p:nvSpPr>
        <p:spPr>
          <a:xfrm rot="5400000">
            <a:off x="-3313538" y="3313537"/>
            <a:ext cx="6857999" cy="23092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912E7737-D7F2-CFBF-C744-C85696076C05}"/>
              </a:ext>
            </a:extLst>
          </p:cNvPr>
          <p:cNvSpPr/>
          <p:nvPr/>
        </p:nvSpPr>
        <p:spPr>
          <a:xfrm rot="5400000">
            <a:off x="8647539" y="3313536"/>
            <a:ext cx="6857999" cy="23092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AD126C5E-14C8-DCBC-8BC9-AEBA6A0FBA6A}"/>
              </a:ext>
            </a:extLst>
          </p:cNvPr>
          <p:cNvSpPr/>
          <p:nvPr/>
        </p:nvSpPr>
        <p:spPr>
          <a:xfrm>
            <a:off x="0" y="-49477"/>
            <a:ext cx="12192000" cy="26227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98704D8C-90DE-5175-DBD6-30D7E3E7CC1A}"/>
              </a:ext>
            </a:extLst>
          </p:cNvPr>
          <p:cNvSpPr/>
          <p:nvPr/>
        </p:nvSpPr>
        <p:spPr>
          <a:xfrm>
            <a:off x="0" y="6595723"/>
            <a:ext cx="12192000" cy="26227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61248D-CCC2-DA62-C4AA-DF8C92DB7ACE}"/>
              </a:ext>
            </a:extLst>
          </p:cNvPr>
          <p:cNvSpPr txBox="1"/>
          <p:nvPr/>
        </p:nvSpPr>
        <p:spPr>
          <a:xfrm>
            <a:off x="523204" y="485554"/>
            <a:ext cx="97688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dirty="0">
                <a:solidFill>
                  <a:srgbClr val="7030A0"/>
                </a:solidFill>
                <a:latin typeface="Bahnschrift" panose="020B0502040204020203" pitchFamily="34" charset="0"/>
              </a:rPr>
              <a:t>Technické problémy platformy</a:t>
            </a:r>
            <a:endParaRPr lang="uk-UA" sz="40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6A5EA0-7904-5B03-C8C0-22301F3980A3}"/>
              </a:ext>
            </a:extLst>
          </p:cNvPr>
          <p:cNvSpPr txBox="1"/>
          <p:nvPr/>
        </p:nvSpPr>
        <p:spPr>
          <a:xfrm>
            <a:off x="1370543" y="1600592"/>
            <a:ext cx="968183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Opis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—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Chyby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v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prevádzke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webovej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stránky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pomalé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načítavanie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výpadky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serverov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lvl="2"/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Pravdepodobnosť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—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Stredná</a:t>
            </a:r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lvl="2"/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Vplyv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— </a:t>
            </a:r>
            <a:r>
              <a:rPr lang="en-GB" sz="2400" dirty="0">
                <a:solidFill>
                  <a:srgbClr val="FF0000"/>
                </a:solidFill>
                <a:latin typeface="Bahnschrift" panose="020B0502040204020203" pitchFamily="34" charset="0"/>
              </a:rPr>
              <a:t>Vysoký</a:t>
            </a:r>
            <a:endParaRPr lang="ru-RU" sz="2400" dirty="0">
              <a:solidFill>
                <a:srgbClr val="FF0000"/>
              </a:solidFill>
              <a:latin typeface="Bahnschrift" panose="020B0502040204020203" pitchFamily="34" charset="0"/>
            </a:endParaRPr>
          </a:p>
          <a:p>
            <a:pPr lvl="2"/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Strategia</a:t>
            </a:r>
            <a:r>
              <a:rPr lang="en-GB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riešenia</a:t>
            </a:r>
            <a:r>
              <a:rPr lang="en-GB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—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Používať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spoľahlivý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hosting,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testovať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rôznych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zariadeniach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monitorovať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chod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systému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pravidelne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vytvárať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zálohy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4" name="Групувати 13">
            <a:extLst>
              <a:ext uri="{FF2B5EF4-FFF2-40B4-BE49-F238E27FC236}">
                <a16:creationId xmlns:a16="http://schemas.microsoft.com/office/drawing/2014/main" id="{EB195196-1056-917D-8254-FEC610C62B2B}"/>
              </a:ext>
            </a:extLst>
          </p:cNvPr>
          <p:cNvGrpSpPr/>
          <p:nvPr/>
        </p:nvGrpSpPr>
        <p:grpSpPr>
          <a:xfrm>
            <a:off x="2569497" y="5262333"/>
            <a:ext cx="7053007" cy="434464"/>
            <a:chOff x="2684958" y="5262333"/>
            <a:chExt cx="7053007" cy="434464"/>
          </a:xfrm>
        </p:grpSpPr>
        <p:sp>
          <p:nvSpPr>
            <p:cNvPr id="10" name="Прямокутник 16">
              <a:extLst>
                <a:ext uri="{FF2B5EF4-FFF2-40B4-BE49-F238E27FC236}">
                  <a16:creationId xmlns:a16="http://schemas.microsoft.com/office/drawing/2014/main" id="{1BE43786-60B0-A527-AF39-866FD086901F}"/>
                </a:ext>
              </a:extLst>
            </p:cNvPr>
            <p:cNvSpPr/>
            <p:nvPr/>
          </p:nvSpPr>
          <p:spPr>
            <a:xfrm>
              <a:off x="2684958" y="5434523"/>
              <a:ext cx="2313980" cy="26227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highlight>
                  <a:srgbClr val="A278C1"/>
                </a:highlight>
              </a:endParaRPr>
            </a:p>
          </p:txBody>
        </p:sp>
        <p:sp>
          <p:nvSpPr>
            <p:cNvPr id="11" name="Прямокутник 16">
              <a:extLst>
                <a:ext uri="{FF2B5EF4-FFF2-40B4-BE49-F238E27FC236}">
                  <a16:creationId xmlns:a16="http://schemas.microsoft.com/office/drawing/2014/main" id="{1F1008A7-2644-D839-97DC-36155EA8A5E7}"/>
                </a:ext>
              </a:extLst>
            </p:cNvPr>
            <p:cNvSpPr/>
            <p:nvPr/>
          </p:nvSpPr>
          <p:spPr>
            <a:xfrm>
              <a:off x="4998938" y="5434523"/>
              <a:ext cx="2313980" cy="26227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highlight>
                  <a:srgbClr val="A278C1"/>
                </a:highlight>
              </a:endParaRPr>
            </a:p>
          </p:txBody>
        </p:sp>
        <p:sp>
          <p:nvSpPr>
            <p:cNvPr id="12" name="Прямокутник 16">
              <a:extLst>
                <a:ext uri="{FF2B5EF4-FFF2-40B4-BE49-F238E27FC236}">
                  <a16:creationId xmlns:a16="http://schemas.microsoft.com/office/drawing/2014/main" id="{8594087A-BDDB-26C2-0339-A01AC90C26BB}"/>
                </a:ext>
              </a:extLst>
            </p:cNvPr>
            <p:cNvSpPr/>
            <p:nvPr/>
          </p:nvSpPr>
          <p:spPr>
            <a:xfrm>
              <a:off x="7312918" y="5434523"/>
              <a:ext cx="2425047" cy="262274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highlight>
                  <a:srgbClr val="A278C1"/>
                </a:highlight>
              </a:endParaRPr>
            </a:p>
          </p:txBody>
        </p:sp>
        <p:sp>
          <p:nvSpPr>
            <p:cNvPr id="13" name="Rovnoramenný trojuholník 8">
              <a:extLst>
                <a:ext uri="{FF2B5EF4-FFF2-40B4-BE49-F238E27FC236}">
                  <a16:creationId xmlns:a16="http://schemas.microsoft.com/office/drawing/2014/main" id="{36A8D5E5-6CFB-0054-D21E-0BD30D105BA7}"/>
                </a:ext>
              </a:extLst>
            </p:cNvPr>
            <p:cNvSpPr/>
            <p:nvPr/>
          </p:nvSpPr>
          <p:spPr>
            <a:xfrm flipV="1">
              <a:off x="8375334" y="5262333"/>
              <a:ext cx="300213" cy="108642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Прямокутник 17">
            <a:extLst>
              <a:ext uri="{FF2B5EF4-FFF2-40B4-BE49-F238E27FC236}">
                <a16:creationId xmlns:a16="http://schemas.microsoft.com/office/drawing/2014/main" id="{7155569A-A3F9-98AB-E37E-289F2F8FEB41}"/>
              </a:ext>
            </a:extLst>
          </p:cNvPr>
          <p:cNvSpPr/>
          <p:nvPr/>
        </p:nvSpPr>
        <p:spPr>
          <a:xfrm rot="5400000">
            <a:off x="879611" y="2001961"/>
            <a:ext cx="889118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90244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59720-68B7-093D-D015-B543EBDEA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увати 3">
            <a:extLst>
              <a:ext uri="{FF2B5EF4-FFF2-40B4-BE49-F238E27FC236}">
                <a16:creationId xmlns:a16="http://schemas.microsoft.com/office/drawing/2014/main" id="{E153211E-6D76-E6EE-67D7-1716FE419670}"/>
              </a:ext>
            </a:extLst>
          </p:cNvPr>
          <p:cNvGrpSpPr/>
          <p:nvPr/>
        </p:nvGrpSpPr>
        <p:grpSpPr>
          <a:xfrm>
            <a:off x="10773556" y="363528"/>
            <a:ext cx="1120820" cy="920564"/>
            <a:chOff x="10490967" y="246382"/>
            <a:chExt cx="1120820" cy="920564"/>
          </a:xfrm>
        </p:grpSpPr>
        <p:sp>
          <p:nvSpPr>
            <p:cNvPr id="5" name="Шестикутник 4">
              <a:extLst>
                <a:ext uri="{FF2B5EF4-FFF2-40B4-BE49-F238E27FC236}">
                  <a16:creationId xmlns:a16="http://schemas.microsoft.com/office/drawing/2014/main" id="{C018030F-DDC2-9C34-F84B-5C0A4F79D7AA}"/>
                </a:ext>
              </a:extLst>
            </p:cNvPr>
            <p:cNvSpPr/>
            <p:nvPr/>
          </p:nvSpPr>
          <p:spPr>
            <a:xfrm rot="5400000">
              <a:off x="10757159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solidFill>
                  <a:srgbClr val="D4C0E2"/>
                </a:solidFill>
              </a:endParaRPr>
            </a:p>
          </p:txBody>
        </p:sp>
        <p:sp>
          <p:nvSpPr>
            <p:cNvPr id="6" name="Прямокутник 5">
              <a:extLst>
                <a:ext uri="{FF2B5EF4-FFF2-40B4-BE49-F238E27FC236}">
                  <a16:creationId xmlns:a16="http://schemas.microsoft.com/office/drawing/2014/main" id="{1F907F8E-C1F5-1003-A606-CE3213F7CBB9}"/>
                </a:ext>
              </a:extLst>
            </p:cNvPr>
            <p:cNvSpPr/>
            <p:nvPr/>
          </p:nvSpPr>
          <p:spPr>
            <a:xfrm rot="18900000">
              <a:off x="10946952" y="447555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7" name="Рівнобедрений трикутник 6">
              <a:extLst>
                <a:ext uri="{FF2B5EF4-FFF2-40B4-BE49-F238E27FC236}">
                  <a16:creationId xmlns:a16="http://schemas.microsoft.com/office/drawing/2014/main" id="{5EDB7545-4125-CB1A-2E16-54607D72B509}"/>
                </a:ext>
              </a:extLst>
            </p:cNvPr>
            <p:cNvSpPr/>
            <p:nvPr/>
          </p:nvSpPr>
          <p:spPr>
            <a:xfrm rot="10800000">
              <a:off x="10966778" y="542015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E166E1-5956-C940-5900-F824F7F44D57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60883621-5EAB-E621-1868-8CD61354AD87}"/>
              </a:ext>
            </a:extLst>
          </p:cNvPr>
          <p:cNvSpPr/>
          <p:nvPr/>
        </p:nvSpPr>
        <p:spPr>
          <a:xfrm rot="5400000">
            <a:off x="-3313538" y="3313537"/>
            <a:ext cx="6857999" cy="23092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6C22DEB6-A926-400F-52E1-E2DA5D46B2AD}"/>
              </a:ext>
            </a:extLst>
          </p:cNvPr>
          <p:cNvSpPr/>
          <p:nvPr/>
        </p:nvSpPr>
        <p:spPr>
          <a:xfrm rot="5400000">
            <a:off x="8647539" y="3313536"/>
            <a:ext cx="6857999" cy="23092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9E6ED80C-20A3-9266-1315-9ED0D7A515B4}"/>
              </a:ext>
            </a:extLst>
          </p:cNvPr>
          <p:cNvSpPr/>
          <p:nvPr/>
        </p:nvSpPr>
        <p:spPr>
          <a:xfrm>
            <a:off x="0" y="-49477"/>
            <a:ext cx="12192000" cy="26227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51013085-1231-8196-A38C-EA92878751B8}"/>
              </a:ext>
            </a:extLst>
          </p:cNvPr>
          <p:cNvSpPr/>
          <p:nvPr/>
        </p:nvSpPr>
        <p:spPr>
          <a:xfrm>
            <a:off x="0" y="6595723"/>
            <a:ext cx="12192000" cy="26227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35814B-FBCF-34B3-C1BD-34934CB19AEE}"/>
              </a:ext>
            </a:extLst>
          </p:cNvPr>
          <p:cNvSpPr txBox="1"/>
          <p:nvPr/>
        </p:nvSpPr>
        <p:spPr>
          <a:xfrm>
            <a:off x="523204" y="485554"/>
            <a:ext cx="63940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4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Nízky</a:t>
            </a:r>
            <a:r>
              <a:rPr lang="uk-UA" sz="4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4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záujem</a:t>
            </a:r>
            <a:r>
              <a:rPr lang="uk-UA" sz="4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4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používateľov</a:t>
            </a:r>
            <a:endParaRPr lang="uk-UA" sz="40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D6C7A0-5FA2-0F28-1BC3-BEE28CD612FE}"/>
              </a:ext>
            </a:extLst>
          </p:cNvPr>
          <p:cNvSpPr txBox="1"/>
          <p:nvPr/>
        </p:nvSpPr>
        <p:spPr>
          <a:xfrm>
            <a:off x="1373801" y="1595667"/>
            <a:ext cx="968183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Opis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—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Používatelia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nemusia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aktívne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využívať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platformu</a:t>
            </a:r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kvôli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zložitosti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alebo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nízkej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interaktivite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obsahu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lvl="2"/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Pravdepodobnosť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—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Stredná</a:t>
            </a:r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lvl="2"/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Vplyv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— </a:t>
            </a:r>
            <a:r>
              <a:rPr lang="en-GB" sz="2400" dirty="0">
                <a:solidFill>
                  <a:srgbClr val="FF0000"/>
                </a:solidFill>
                <a:latin typeface="Bahnschrift" panose="020B0502040204020203" pitchFamily="34" charset="0"/>
              </a:rPr>
              <a:t>Vysoký</a:t>
            </a:r>
            <a:endParaRPr lang="ru-RU" sz="2400" dirty="0">
              <a:solidFill>
                <a:srgbClr val="FF0000"/>
              </a:solidFill>
              <a:latin typeface="Bahnschrift" panose="020B0502040204020203" pitchFamily="34" charset="0"/>
            </a:endParaRPr>
          </a:p>
          <a:p>
            <a:pPr lvl="2"/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Strategia</a:t>
            </a:r>
            <a:r>
              <a:rPr lang="en-GB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riešenia</a:t>
            </a:r>
            <a:r>
              <a:rPr lang="en-GB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—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Pridať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gamifikáciu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pravidelné</a:t>
            </a:r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aktualizácie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testov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a mini-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slovníkov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marketingové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kampane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prilákanie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používateľov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1" name="Групувати 10">
            <a:extLst>
              <a:ext uri="{FF2B5EF4-FFF2-40B4-BE49-F238E27FC236}">
                <a16:creationId xmlns:a16="http://schemas.microsoft.com/office/drawing/2014/main" id="{E26CF2C4-2976-4213-77A6-6A5B214BFC83}"/>
              </a:ext>
            </a:extLst>
          </p:cNvPr>
          <p:cNvGrpSpPr/>
          <p:nvPr/>
        </p:nvGrpSpPr>
        <p:grpSpPr>
          <a:xfrm>
            <a:off x="2569497" y="5271560"/>
            <a:ext cx="7053007" cy="425237"/>
            <a:chOff x="2684958" y="5271560"/>
            <a:chExt cx="7053007" cy="425237"/>
          </a:xfrm>
        </p:grpSpPr>
        <p:sp>
          <p:nvSpPr>
            <p:cNvPr id="14" name="Прямокутник 16">
              <a:extLst>
                <a:ext uri="{FF2B5EF4-FFF2-40B4-BE49-F238E27FC236}">
                  <a16:creationId xmlns:a16="http://schemas.microsoft.com/office/drawing/2014/main" id="{C51244CD-C52E-B242-7D93-CDFC5CD19C18}"/>
                </a:ext>
              </a:extLst>
            </p:cNvPr>
            <p:cNvSpPr/>
            <p:nvPr/>
          </p:nvSpPr>
          <p:spPr>
            <a:xfrm>
              <a:off x="2684958" y="5434523"/>
              <a:ext cx="2313980" cy="26227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highlight>
                  <a:srgbClr val="A278C1"/>
                </a:highlight>
              </a:endParaRPr>
            </a:p>
          </p:txBody>
        </p:sp>
        <p:sp>
          <p:nvSpPr>
            <p:cNvPr id="19" name="Прямокутник 16">
              <a:extLst>
                <a:ext uri="{FF2B5EF4-FFF2-40B4-BE49-F238E27FC236}">
                  <a16:creationId xmlns:a16="http://schemas.microsoft.com/office/drawing/2014/main" id="{2145D3D8-33B2-ABF4-0C88-7AD4CF5E9A53}"/>
                </a:ext>
              </a:extLst>
            </p:cNvPr>
            <p:cNvSpPr/>
            <p:nvPr/>
          </p:nvSpPr>
          <p:spPr>
            <a:xfrm>
              <a:off x="4998938" y="5434523"/>
              <a:ext cx="2313980" cy="26227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highlight>
                  <a:srgbClr val="A278C1"/>
                </a:highlight>
              </a:endParaRPr>
            </a:p>
          </p:txBody>
        </p:sp>
        <p:sp>
          <p:nvSpPr>
            <p:cNvPr id="20" name="Прямокутник 16">
              <a:extLst>
                <a:ext uri="{FF2B5EF4-FFF2-40B4-BE49-F238E27FC236}">
                  <a16:creationId xmlns:a16="http://schemas.microsoft.com/office/drawing/2014/main" id="{736F800B-F55F-1540-A635-523A222E8966}"/>
                </a:ext>
              </a:extLst>
            </p:cNvPr>
            <p:cNvSpPr/>
            <p:nvPr/>
          </p:nvSpPr>
          <p:spPr>
            <a:xfrm>
              <a:off x="7312918" y="5434523"/>
              <a:ext cx="2425047" cy="262274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highlight>
                  <a:srgbClr val="A278C1"/>
                </a:highlight>
              </a:endParaRPr>
            </a:p>
          </p:txBody>
        </p:sp>
        <p:sp>
          <p:nvSpPr>
            <p:cNvPr id="9" name="Rovnoramenný trojuholník 8">
              <a:extLst>
                <a:ext uri="{FF2B5EF4-FFF2-40B4-BE49-F238E27FC236}">
                  <a16:creationId xmlns:a16="http://schemas.microsoft.com/office/drawing/2014/main" id="{59ECC355-A726-BA97-704A-51C4E093B995}"/>
                </a:ext>
              </a:extLst>
            </p:cNvPr>
            <p:cNvSpPr/>
            <p:nvPr/>
          </p:nvSpPr>
          <p:spPr>
            <a:xfrm flipV="1">
              <a:off x="8375334" y="5271560"/>
              <a:ext cx="300213" cy="108642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Прямокутник 17">
            <a:extLst>
              <a:ext uri="{FF2B5EF4-FFF2-40B4-BE49-F238E27FC236}">
                <a16:creationId xmlns:a16="http://schemas.microsoft.com/office/drawing/2014/main" id="{1FB90BDB-E70D-8E5A-A70E-978084108545}"/>
              </a:ext>
            </a:extLst>
          </p:cNvPr>
          <p:cNvSpPr/>
          <p:nvPr/>
        </p:nvSpPr>
        <p:spPr>
          <a:xfrm rot="5400000">
            <a:off x="879611" y="2001961"/>
            <a:ext cx="889118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81752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45FDA-F17A-E14F-1F3D-C63EDB5B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увати 3">
            <a:extLst>
              <a:ext uri="{FF2B5EF4-FFF2-40B4-BE49-F238E27FC236}">
                <a16:creationId xmlns:a16="http://schemas.microsoft.com/office/drawing/2014/main" id="{256325EF-498A-A62D-247E-BDDAC6539163}"/>
              </a:ext>
            </a:extLst>
          </p:cNvPr>
          <p:cNvGrpSpPr/>
          <p:nvPr/>
        </p:nvGrpSpPr>
        <p:grpSpPr>
          <a:xfrm>
            <a:off x="10773556" y="363528"/>
            <a:ext cx="1120820" cy="920564"/>
            <a:chOff x="10490967" y="246382"/>
            <a:chExt cx="1120820" cy="920564"/>
          </a:xfrm>
        </p:grpSpPr>
        <p:sp>
          <p:nvSpPr>
            <p:cNvPr id="5" name="Шестикутник 4">
              <a:extLst>
                <a:ext uri="{FF2B5EF4-FFF2-40B4-BE49-F238E27FC236}">
                  <a16:creationId xmlns:a16="http://schemas.microsoft.com/office/drawing/2014/main" id="{4B26FCC7-84B0-56CC-5493-88B4F9312AED}"/>
                </a:ext>
              </a:extLst>
            </p:cNvPr>
            <p:cNvSpPr/>
            <p:nvPr/>
          </p:nvSpPr>
          <p:spPr>
            <a:xfrm rot="5400000">
              <a:off x="10757159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solidFill>
                  <a:srgbClr val="D4C0E2"/>
                </a:solidFill>
              </a:endParaRPr>
            </a:p>
          </p:txBody>
        </p:sp>
        <p:sp>
          <p:nvSpPr>
            <p:cNvPr id="6" name="Прямокутник 5">
              <a:extLst>
                <a:ext uri="{FF2B5EF4-FFF2-40B4-BE49-F238E27FC236}">
                  <a16:creationId xmlns:a16="http://schemas.microsoft.com/office/drawing/2014/main" id="{522E0066-19CC-F496-6B90-4F9C2558E361}"/>
                </a:ext>
              </a:extLst>
            </p:cNvPr>
            <p:cNvSpPr/>
            <p:nvPr/>
          </p:nvSpPr>
          <p:spPr>
            <a:xfrm rot="18900000">
              <a:off x="10946952" y="447555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7" name="Рівнобедрений трикутник 6">
              <a:extLst>
                <a:ext uri="{FF2B5EF4-FFF2-40B4-BE49-F238E27FC236}">
                  <a16:creationId xmlns:a16="http://schemas.microsoft.com/office/drawing/2014/main" id="{105C4C1D-82BB-7676-AF64-09B41D1D87AC}"/>
                </a:ext>
              </a:extLst>
            </p:cNvPr>
            <p:cNvSpPr/>
            <p:nvPr/>
          </p:nvSpPr>
          <p:spPr>
            <a:xfrm rot="10800000">
              <a:off x="10966778" y="542015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CFC6653-BB65-268F-643C-4BA73B9F56DD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0C9368DB-E046-624F-D6D2-BAD34C66046B}"/>
              </a:ext>
            </a:extLst>
          </p:cNvPr>
          <p:cNvSpPr/>
          <p:nvPr/>
        </p:nvSpPr>
        <p:spPr>
          <a:xfrm rot="5400000">
            <a:off x="-3313538" y="3313537"/>
            <a:ext cx="6857999" cy="23092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36582505-3842-A42A-2EDC-E2FFA5AF3A3E}"/>
              </a:ext>
            </a:extLst>
          </p:cNvPr>
          <p:cNvSpPr/>
          <p:nvPr/>
        </p:nvSpPr>
        <p:spPr>
          <a:xfrm rot="5400000">
            <a:off x="8647539" y="3313536"/>
            <a:ext cx="6857999" cy="23092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C35DC2D4-511A-FC61-585D-B4CA1FD2D242}"/>
              </a:ext>
            </a:extLst>
          </p:cNvPr>
          <p:cNvSpPr/>
          <p:nvPr/>
        </p:nvSpPr>
        <p:spPr>
          <a:xfrm>
            <a:off x="0" y="-49477"/>
            <a:ext cx="12192000" cy="26227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FF743058-AB50-6A82-32E4-0B5D4CDA3FED}"/>
              </a:ext>
            </a:extLst>
          </p:cNvPr>
          <p:cNvSpPr/>
          <p:nvPr/>
        </p:nvSpPr>
        <p:spPr>
          <a:xfrm>
            <a:off x="0" y="6595723"/>
            <a:ext cx="12192000" cy="26227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F77275-1667-D3E8-5602-B442C5C21941}"/>
              </a:ext>
            </a:extLst>
          </p:cNvPr>
          <p:cNvSpPr txBox="1"/>
          <p:nvPr/>
        </p:nvSpPr>
        <p:spPr>
          <a:xfrm>
            <a:off x="523204" y="485554"/>
            <a:ext cx="97688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dirty="0">
                <a:solidFill>
                  <a:srgbClr val="7030A0"/>
                </a:solidFill>
                <a:latin typeface="Bahnschrift" panose="020B0502040204020203" pitchFamily="34" charset="0"/>
              </a:rPr>
              <a:t>Problémy s autorskými právami</a:t>
            </a:r>
            <a:endParaRPr lang="uk-UA" sz="40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3DCF71-6BCC-37F9-8047-ECCDFB9C1D4C}"/>
              </a:ext>
            </a:extLst>
          </p:cNvPr>
          <p:cNvSpPr txBox="1"/>
          <p:nvPr/>
        </p:nvSpPr>
        <p:spPr>
          <a:xfrm>
            <a:off x="1383225" y="1595667"/>
            <a:ext cx="968183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Opis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—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Používanie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cudzích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materiálov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(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textov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obrázkov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testov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)</a:t>
            </a:r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môže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viesť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k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právnym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problémom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lvl="2"/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Pravdepodobnosť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—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Stredná</a:t>
            </a:r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lvl="2"/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Vplyv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— </a:t>
            </a:r>
            <a:r>
              <a:rPr lang="en-GB" sz="2400" dirty="0">
                <a:solidFill>
                  <a:srgbClr val="FF0000"/>
                </a:solidFill>
                <a:latin typeface="Bahnschrift" panose="020B0502040204020203" pitchFamily="34" charset="0"/>
              </a:rPr>
              <a:t>Vysoký</a:t>
            </a:r>
            <a:endParaRPr lang="ru-RU" sz="2400" dirty="0">
              <a:solidFill>
                <a:srgbClr val="FF0000"/>
              </a:solidFill>
              <a:latin typeface="Bahnschrift" panose="020B0502040204020203" pitchFamily="34" charset="0"/>
            </a:endParaRPr>
          </a:p>
          <a:p>
            <a:r>
              <a:rPr lang="uk-UA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          </a:t>
            </a:r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Strategia</a:t>
            </a:r>
            <a:r>
              <a:rPr lang="en-GB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riešenia</a:t>
            </a:r>
            <a:r>
              <a:rPr lang="en-GB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—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Používať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iba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vlastný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alebo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licencovaný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obsah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,</a:t>
            </a:r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overovať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práva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materiály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viesť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dokumentáciu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. 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3" name="Групувати 12">
            <a:extLst>
              <a:ext uri="{FF2B5EF4-FFF2-40B4-BE49-F238E27FC236}">
                <a16:creationId xmlns:a16="http://schemas.microsoft.com/office/drawing/2014/main" id="{00987B7A-E1F5-CF56-ADCC-DF00E633E0ED}"/>
              </a:ext>
            </a:extLst>
          </p:cNvPr>
          <p:cNvGrpSpPr/>
          <p:nvPr/>
        </p:nvGrpSpPr>
        <p:grpSpPr>
          <a:xfrm>
            <a:off x="2569497" y="5271560"/>
            <a:ext cx="7053007" cy="425237"/>
            <a:chOff x="2684958" y="5271560"/>
            <a:chExt cx="7053007" cy="425237"/>
          </a:xfrm>
        </p:grpSpPr>
        <p:sp>
          <p:nvSpPr>
            <p:cNvPr id="14" name="Прямокутник 16">
              <a:extLst>
                <a:ext uri="{FF2B5EF4-FFF2-40B4-BE49-F238E27FC236}">
                  <a16:creationId xmlns:a16="http://schemas.microsoft.com/office/drawing/2014/main" id="{903B70B2-BE93-AD68-6D68-3F96AA0E10D5}"/>
                </a:ext>
              </a:extLst>
            </p:cNvPr>
            <p:cNvSpPr/>
            <p:nvPr/>
          </p:nvSpPr>
          <p:spPr>
            <a:xfrm>
              <a:off x="2684958" y="5434523"/>
              <a:ext cx="2313980" cy="26227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highlight>
                  <a:srgbClr val="A278C1"/>
                </a:highlight>
              </a:endParaRPr>
            </a:p>
          </p:txBody>
        </p:sp>
        <p:sp>
          <p:nvSpPr>
            <p:cNvPr id="19" name="Прямокутник 16">
              <a:extLst>
                <a:ext uri="{FF2B5EF4-FFF2-40B4-BE49-F238E27FC236}">
                  <a16:creationId xmlns:a16="http://schemas.microsoft.com/office/drawing/2014/main" id="{621CBD74-2B06-1AB7-215E-05586DA1CCAD}"/>
                </a:ext>
              </a:extLst>
            </p:cNvPr>
            <p:cNvSpPr/>
            <p:nvPr/>
          </p:nvSpPr>
          <p:spPr>
            <a:xfrm>
              <a:off x="4998938" y="5434523"/>
              <a:ext cx="2313980" cy="26227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highlight>
                  <a:srgbClr val="A278C1"/>
                </a:highlight>
              </a:endParaRPr>
            </a:p>
          </p:txBody>
        </p:sp>
        <p:sp>
          <p:nvSpPr>
            <p:cNvPr id="20" name="Прямокутник 16">
              <a:extLst>
                <a:ext uri="{FF2B5EF4-FFF2-40B4-BE49-F238E27FC236}">
                  <a16:creationId xmlns:a16="http://schemas.microsoft.com/office/drawing/2014/main" id="{79005F9C-077B-B623-3858-B76716DF6950}"/>
                </a:ext>
              </a:extLst>
            </p:cNvPr>
            <p:cNvSpPr/>
            <p:nvPr/>
          </p:nvSpPr>
          <p:spPr>
            <a:xfrm>
              <a:off x="7312918" y="5434523"/>
              <a:ext cx="2425047" cy="262274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highlight>
                  <a:srgbClr val="A278C1"/>
                </a:highlight>
              </a:endParaRPr>
            </a:p>
          </p:txBody>
        </p:sp>
        <p:sp>
          <p:nvSpPr>
            <p:cNvPr id="21" name="Rovnoramenný trojuholník 8">
              <a:extLst>
                <a:ext uri="{FF2B5EF4-FFF2-40B4-BE49-F238E27FC236}">
                  <a16:creationId xmlns:a16="http://schemas.microsoft.com/office/drawing/2014/main" id="{A4CB68EE-90C9-2176-4A7C-DD58B27DAC8D}"/>
                </a:ext>
              </a:extLst>
            </p:cNvPr>
            <p:cNvSpPr/>
            <p:nvPr/>
          </p:nvSpPr>
          <p:spPr>
            <a:xfrm flipV="1">
              <a:off x="8375334" y="5271560"/>
              <a:ext cx="300213" cy="108642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Прямокутник 17">
            <a:extLst>
              <a:ext uri="{FF2B5EF4-FFF2-40B4-BE49-F238E27FC236}">
                <a16:creationId xmlns:a16="http://schemas.microsoft.com/office/drawing/2014/main" id="{7C7F4812-DF38-1659-DCA4-3247F94C4FC2}"/>
              </a:ext>
            </a:extLst>
          </p:cNvPr>
          <p:cNvSpPr/>
          <p:nvPr/>
        </p:nvSpPr>
        <p:spPr>
          <a:xfrm rot="5400000">
            <a:off x="879611" y="2001961"/>
            <a:ext cx="889118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2873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F1B27-B2BF-C52B-DC60-F60E0E75A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увати 3">
            <a:extLst>
              <a:ext uri="{FF2B5EF4-FFF2-40B4-BE49-F238E27FC236}">
                <a16:creationId xmlns:a16="http://schemas.microsoft.com/office/drawing/2014/main" id="{5168DC0D-4A84-615D-ADC2-5693633C3858}"/>
              </a:ext>
            </a:extLst>
          </p:cNvPr>
          <p:cNvGrpSpPr/>
          <p:nvPr/>
        </p:nvGrpSpPr>
        <p:grpSpPr>
          <a:xfrm>
            <a:off x="10773556" y="363528"/>
            <a:ext cx="1120820" cy="920564"/>
            <a:chOff x="10490967" y="246382"/>
            <a:chExt cx="1120820" cy="920564"/>
          </a:xfrm>
        </p:grpSpPr>
        <p:sp>
          <p:nvSpPr>
            <p:cNvPr id="5" name="Шестикутник 4">
              <a:extLst>
                <a:ext uri="{FF2B5EF4-FFF2-40B4-BE49-F238E27FC236}">
                  <a16:creationId xmlns:a16="http://schemas.microsoft.com/office/drawing/2014/main" id="{E4BB6E40-4ADD-2506-5F29-45A6784D305B}"/>
                </a:ext>
              </a:extLst>
            </p:cNvPr>
            <p:cNvSpPr/>
            <p:nvPr/>
          </p:nvSpPr>
          <p:spPr>
            <a:xfrm rot="5400000">
              <a:off x="10757159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solidFill>
                  <a:srgbClr val="D4C0E2"/>
                </a:solidFill>
              </a:endParaRPr>
            </a:p>
          </p:txBody>
        </p:sp>
        <p:sp>
          <p:nvSpPr>
            <p:cNvPr id="6" name="Прямокутник 5">
              <a:extLst>
                <a:ext uri="{FF2B5EF4-FFF2-40B4-BE49-F238E27FC236}">
                  <a16:creationId xmlns:a16="http://schemas.microsoft.com/office/drawing/2014/main" id="{3CDC42D2-F8A2-ED3E-4232-DC3F4DC68E7A}"/>
                </a:ext>
              </a:extLst>
            </p:cNvPr>
            <p:cNvSpPr/>
            <p:nvPr/>
          </p:nvSpPr>
          <p:spPr>
            <a:xfrm rot="18900000">
              <a:off x="10946952" y="447555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7" name="Рівнобедрений трикутник 6">
              <a:extLst>
                <a:ext uri="{FF2B5EF4-FFF2-40B4-BE49-F238E27FC236}">
                  <a16:creationId xmlns:a16="http://schemas.microsoft.com/office/drawing/2014/main" id="{953B6513-DF61-33FA-BD4A-58C9508E819F}"/>
                </a:ext>
              </a:extLst>
            </p:cNvPr>
            <p:cNvSpPr/>
            <p:nvPr/>
          </p:nvSpPr>
          <p:spPr>
            <a:xfrm rot="10800000">
              <a:off x="10966778" y="542015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BE5E23A-C2B7-2003-36C7-F26F55556A31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2FA4524A-9819-F850-71F0-0A51E18E3FC9}"/>
              </a:ext>
            </a:extLst>
          </p:cNvPr>
          <p:cNvSpPr/>
          <p:nvPr/>
        </p:nvSpPr>
        <p:spPr>
          <a:xfrm rot="5400000">
            <a:off x="-3313538" y="3313537"/>
            <a:ext cx="6857999" cy="23092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E583B709-C3F3-B45C-3BCA-66953BD33BA1}"/>
              </a:ext>
            </a:extLst>
          </p:cNvPr>
          <p:cNvSpPr/>
          <p:nvPr/>
        </p:nvSpPr>
        <p:spPr>
          <a:xfrm rot="5400000">
            <a:off x="8647539" y="3313536"/>
            <a:ext cx="6857999" cy="23092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8D889085-0277-62B5-6DAF-02B2029A57AE}"/>
              </a:ext>
            </a:extLst>
          </p:cNvPr>
          <p:cNvSpPr/>
          <p:nvPr/>
        </p:nvSpPr>
        <p:spPr>
          <a:xfrm>
            <a:off x="0" y="-49477"/>
            <a:ext cx="12192000" cy="26227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72C5C5EE-8148-FE7F-456A-6D8013B59A65}"/>
              </a:ext>
            </a:extLst>
          </p:cNvPr>
          <p:cNvSpPr/>
          <p:nvPr/>
        </p:nvSpPr>
        <p:spPr>
          <a:xfrm>
            <a:off x="0" y="6595723"/>
            <a:ext cx="12192000" cy="26227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FC2700-6798-FC48-674E-BFAB5990CA11}"/>
              </a:ext>
            </a:extLst>
          </p:cNvPr>
          <p:cNvSpPr txBox="1"/>
          <p:nvPr/>
        </p:nvSpPr>
        <p:spPr>
          <a:xfrm>
            <a:off x="523204" y="485554"/>
            <a:ext cx="104184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000" dirty="0">
                <a:solidFill>
                  <a:srgbClr val="7030A0"/>
                </a:solidFill>
                <a:latin typeface="Bahnschrift" panose="020B0502040204020203" pitchFamily="34" charset="0"/>
              </a:rPr>
              <a:t>Konkurencia na trhu vzdelávacích </a:t>
            </a:r>
            <a:endParaRPr lang="ru-RU" sz="40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pl-PL" sz="4000" dirty="0">
                <a:solidFill>
                  <a:srgbClr val="7030A0"/>
                </a:solidFill>
                <a:latin typeface="Bahnschrift" panose="020B0502040204020203" pitchFamily="34" charset="0"/>
              </a:rPr>
              <a:t>platforiem</a:t>
            </a:r>
            <a:endParaRPr lang="uk-UA" sz="40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FC69B2-80DC-7EA3-E315-C226056AA2CB}"/>
              </a:ext>
            </a:extLst>
          </p:cNvPr>
          <p:cNvSpPr txBox="1"/>
          <p:nvPr/>
        </p:nvSpPr>
        <p:spPr>
          <a:xfrm>
            <a:off x="1415770" y="1800919"/>
            <a:ext cx="968183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Opis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—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Iné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platformy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učenie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slovenčiny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alebo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technických</a:t>
            </a:r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termínov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môžu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ponúknuť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podobný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alebo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atraktívnejší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obsah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čo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môže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viesť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k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poklesu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publika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projektu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DmDEV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Slovak Quiz.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lvl="2"/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Pravdepodobnosť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—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Vysoká</a:t>
            </a:r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lvl="2"/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Vplyv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— </a:t>
            </a:r>
            <a:r>
              <a:rPr lang="en-GB" sz="2400" dirty="0">
                <a:solidFill>
                  <a:srgbClr val="FF0000"/>
                </a:solidFill>
                <a:latin typeface="Bahnschrift" panose="020B0502040204020203" pitchFamily="34" charset="0"/>
              </a:rPr>
              <a:t>Vysoký</a:t>
            </a:r>
            <a:endParaRPr lang="ru-RU" sz="2400" dirty="0">
              <a:solidFill>
                <a:srgbClr val="FF0000"/>
              </a:solidFill>
              <a:latin typeface="Bahnschrift" panose="020B0502040204020203" pitchFamily="34" charset="0"/>
            </a:endParaRPr>
          </a:p>
          <a:p>
            <a:pPr lvl="2"/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Strategia</a:t>
            </a:r>
            <a:r>
              <a:rPr lang="en-GB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riešenia</a:t>
            </a:r>
            <a:r>
              <a:rPr lang="en-GB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—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Sledovať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konkurenciu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zdôrazňovať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jedinečné</a:t>
            </a:r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vlastnosti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projektu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(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napr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.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integrácia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technických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termínov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s mini-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slovníkmi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testami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),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aktívne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propagovať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platformu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pridávať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nové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funkcie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udržanie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používateľov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3" name="Групувати 12">
            <a:extLst>
              <a:ext uri="{FF2B5EF4-FFF2-40B4-BE49-F238E27FC236}">
                <a16:creationId xmlns:a16="http://schemas.microsoft.com/office/drawing/2014/main" id="{4BB05565-D7CA-8471-9AE1-1778EACA5E0F}"/>
              </a:ext>
            </a:extLst>
          </p:cNvPr>
          <p:cNvGrpSpPr/>
          <p:nvPr/>
        </p:nvGrpSpPr>
        <p:grpSpPr>
          <a:xfrm>
            <a:off x="2569496" y="5947209"/>
            <a:ext cx="7053007" cy="425237"/>
            <a:chOff x="2684958" y="5271560"/>
            <a:chExt cx="7053007" cy="425237"/>
          </a:xfrm>
        </p:grpSpPr>
        <p:sp>
          <p:nvSpPr>
            <p:cNvPr id="14" name="Прямокутник 16">
              <a:extLst>
                <a:ext uri="{FF2B5EF4-FFF2-40B4-BE49-F238E27FC236}">
                  <a16:creationId xmlns:a16="http://schemas.microsoft.com/office/drawing/2014/main" id="{23AEC521-4BB4-1EC8-E49C-EC3A43528602}"/>
                </a:ext>
              </a:extLst>
            </p:cNvPr>
            <p:cNvSpPr/>
            <p:nvPr/>
          </p:nvSpPr>
          <p:spPr>
            <a:xfrm>
              <a:off x="2684958" y="5434523"/>
              <a:ext cx="2313980" cy="26227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highlight>
                  <a:srgbClr val="A278C1"/>
                </a:highlight>
              </a:endParaRPr>
            </a:p>
          </p:txBody>
        </p:sp>
        <p:sp>
          <p:nvSpPr>
            <p:cNvPr id="19" name="Прямокутник 16">
              <a:extLst>
                <a:ext uri="{FF2B5EF4-FFF2-40B4-BE49-F238E27FC236}">
                  <a16:creationId xmlns:a16="http://schemas.microsoft.com/office/drawing/2014/main" id="{82C022D5-72D4-5E79-9B4D-3923807170FC}"/>
                </a:ext>
              </a:extLst>
            </p:cNvPr>
            <p:cNvSpPr/>
            <p:nvPr/>
          </p:nvSpPr>
          <p:spPr>
            <a:xfrm>
              <a:off x="4998938" y="5434523"/>
              <a:ext cx="2313980" cy="26227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highlight>
                  <a:srgbClr val="A278C1"/>
                </a:highlight>
              </a:endParaRPr>
            </a:p>
          </p:txBody>
        </p:sp>
        <p:sp>
          <p:nvSpPr>
            <p:cNvPr id="20" name="Прямокутник 16">
              <a:extLst>
                <a:ext uri="{FF2B5EF4-FFF2-40B4-BE49-F238E27FC236}">
                  <a16:creationId xmlns:a16="http://schemas.microsoft.com/office/drawing/2014/main" id="{066B5AAF-3DAB-9FBE-ECFD-36B03BD82C33}"/>
                </a:ext>
              </a:extLst>
            </p:cNvPr>
            <p:cNvSpPr/>
            <p:nvPr/>
          </p:nvSpPr>
          <p:spPr>
            <a:xfrm>
              <a:off x="7312918" y="5434523"/>
              <a:ext cx="2425047" cy="262274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>
                <a:highlight>
                  <a:srgbClr val="A278C1"/>
                </a:highlight>
              </a:endParaRPr>
            </a:p>
          </p:txBody>
        </p:sp>
        <p:sp>
          <p:nvSpPr>
            <p:cNvPr id="21" name="Rovnoramenný trojuholník 8">
              <a:extLst>
                <a:ext uri="{FF2B5EF4-FFF2-40B4-BE49-F238E27FC236}">
                  <a16:creationId xmlns:a16="http://schemas.microsoft.com/office/drawing/2014/main" id="{64A09AF5-F360-52CD-6EB2-F65EBF824342}"/>
                </a:ext>
              </a:extLst>
            </p:cNvPr>
            <p:cNvSpPr/>
            <p:nvPr/>
          </p:nvSpPr>
          <p:spPr>
            <a:xfrm flipV="1">
              <a:off x="8375334" y="5271560"/>
              <a:ext cx="300213" cy="108642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Прямокутник 17">
            <a:extLst>
              <a:ext uri="{FF2B5EF4-FFF2-40B4-BE49-F238E27FC236}">
                <a16:creationId xmlns:a16="http://schemas.microsoft.com/office/drawing/2014/main" id="{FAA2D052-EA89-B876-E11F-46AA76C1B9CB}"/>
              </a:ext>
            </a:extLst>
          </p:cNvPr>
          <p:cNvSpPr/>
          <p:nvPr/>
        </p:nvSpPr>
        <p:spPr>
          <a:xfrm rot="5400000">
            <a:off x="765027" y="2385404"/>
            <a:ext cx="1178925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559011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295</Words>
  <Application>Microsoft Office PowerPoint</Application>
  <PresentationFormat>Širokouhlá</PresentationFormat>
  <Paragraphs>57</Paragraphs>
  <Slides>7</Slides>
  <Notes>1</Notes>
  <HiddenSlides>0</HiddenSlides>
  <MMClips>0</MMClips>
  <ScaleCrop>false</ScaleCrop>
  <HeadingPairs>
    <vt:vector size="6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Bahnschrift</vt:lpstr>
      <vt:lpstr>Calibri</vt:lpstr>
      <vt:lpstr>Calibri Light</vt:lpstr>
      <vt:lpstr>Тема Office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Maksis S</dc:creator>
  <cp:lastModifiedBy>Dmytro Sydorenko</cp:lastModifiedBy>
  <cp:revision>33</cp:revision>
  <dcterms:created xsi:type="dcterms:W3CDTF">2025-11-02T18:47:39Z</dcterms:created>
  <dcterms:modified xsi:type="dcterms:W3CDTF">2025-11-02T20:24:12Z</dcterms:modified>
</cp:coreProperties>
</file>