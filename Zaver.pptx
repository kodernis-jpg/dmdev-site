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71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ksis S" initials="MS" lastIdx="1" clrIdx="0">
    <p:extLst>
      <p:ext uri="{19B8F6BF-5375-455C-9EA6-DF929625EA0E}">
        <p15:presenceInfo xmlns:p15="http://schemas.microsoft.com/office/powerpoint/2012/main" userId="995f5ffe4049e4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1E9"/>
    <a:srgbClr val="7030A0"/>
    <a:srgbClr val="E8D3F9"/>
    <a:srgbClr val="B97BF1"/>
    <a:srgbClr val="D6B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3C587-E8FE-2E17-536A-73E49582B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97BE98-7E65-FB57-87FE-621C8998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C1EEBC-9CC7-07A8-DA88-73197237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431F5E-235E-9F1D-2257-8291CD8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F5A61EC-C86F-F17A-F777-9E75FD6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412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0F378-DFAC-4D0D-3CA3-1A40DAC5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551A67-402A-8A1B-F68F-44162DE4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A8AEB7-5C0D-2BE2-849F-0610CA0B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370879-F59D-3EF0-820B-79B4A0CE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D0CC2B-91FC-5E22-5D7C-42251E71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29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EDC07-CDB2-6DD9-476B-4E8D62DC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084F20-D75E-449A-5D07-D93CAA78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49E816-B419-0F96-9780-62C858BA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FCCD6B-47C8-D08E-61BF-43CD0C51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136BCB-E243-22B7-A29B-FE346CE3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4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B94C3-AD2F-6DF6-5596-CEE3B974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1231C0-DF51-8762-6776-24FFFC4F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0A1F26-2298-7C36-753B-832F62C1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56706F-2088-11A3-73AC-EF9BD00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511097-8603-9CEB-1D39-8BAA391B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53DB2A-C6AD-96EE-705A-76BD641C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710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C5E81-304F-41D2-E9B2-9B62664C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0A7BB22-D4D8-0EEB-F52D-7B8A569D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E56536A-4ABA-2D2C-77C9-79FEE5C3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CE965CE-3479-B4AA-20F0-C1C89C01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B7D72F2-33B8-F4B0-83FF-D27BBC85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F220E9B-B53A-93EB-425F-2037D9E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8F951D5-D19A-16EC-942F-C1C72E59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AE124DF-32A2-FCD0-12E6-38481DB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563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3F3A-6BAA-0970-052B-7D28E1D1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CEAA0CB-F8C3-3C44-3B37-CA240B9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ABF43DE-E3FE-901C-C3DF-0878AE9B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3124C0-511D-1717-EFEC-742661F7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6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C6AEE43-6AA8-10D2-A92C-0AE4656D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B613482-D48C-C30D-463B-720DC101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7FEDA5C-265B-82EF-F64C-D8013F24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44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73C0C-3996-3D7D-AF59-2389B560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ABD23B-8E05-2DD2-E9A1-0D56254A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427D0D6-B3B3-C4B3-A76F-6683FA250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6CDC4E-5755-5E9D-3158-2AC95470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7C767E6-22CA-A866-B2CB-1BA30EF5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9D9E059-CD6E-B38E-E3F2-0072237E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466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BC26C-26C6-1460-C7E9-8A1A9E93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B44426-98B4-7697-F105-B53049010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065F712-6F8A-759C-A221-F14164E70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FEE9A1-0E27-3284-564C-BBE3305D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C39560-EC0D-B390-D231-F5124AF9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6072BC4-0475-C924-41E8-FFD57AA6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55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A47AC-7F9F-8F5E-FC97-67C9B489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8893FB1-10DE-27C2-4DE2-968BEA4A1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0F21E3-F1C1-C9B2-B3FD-4490E6C9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4C4AD2-72D8-0C45-280D-897D1B1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D78FFF-5A43-859F-AA4E-46A8E6F2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692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A9B1DB3-015D-6FC4-BAA1-0D2CCC32B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C1DDD1D-6620-7758-E0CF-A7C9A1582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7A3C5D-67AC-3207-6A25-D8FAF93B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A8FF03-AED1-CA34-25D5-FD008060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915B51-1055-8101-4143-265C8E2E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355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2BC59BB-5DB4-4727-862E-B8B57E32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E57289-0323-52D4-F8CA-B553BCA1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9671A7-D216-859F-F4B5-AFE4F077B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DF65-9213-4579-9FD8-DC9485BEA346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EE515-E675-5C8B-41B6-73E365E6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A315CC-ED66-1159-7946-541CEE6E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01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odernis-jpg.github.io/DmDev-Site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C79EF05C-AE15-E519-580A-57482284B85E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3979203B-824F-BBD1-09B1-B45650F1D93E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3FB0A-168F-6777-D131-05D7DA2D9AA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BDFBA-81F2-85EB-01B5-6AC151EA9E23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67B741E-847F-040D-2CCE-3C0BDC68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9865634-7ED6-BC6E-2EBC-0137634AA7FF}"/>
              </a:ext>
            </a:extLst>
          </p:cNvPr>
          <p:cNvSpPr txBox="1">
            <a:spLocks/>
          </p:cNvSpPr>
          <p:nvPr/>
        </p:nvSpPr>
        <p:spPr>
          <a:xfrm>
            <a:off x="595303" y="22271"/>
            <a:ext cx="457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sz="6000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6" name="Пряма сполучна лінія 25">
            <a:extLst>
              <a:ext uri="{FF2B5EF4-FFF2-40B4-BE49-F238E27FC236}">
                <a16:creationId xmlns:a16="http://schemas.microsoft.com/office/drawing/2014/main" id="{A6E99209-EAE4-B393-E5C7-3708B7CD5E1F}"/>
              </a:ext>
            </a:extLst>
          </p:cNvPr>
          <p:cNvCxnSpPr>
            <a:cxnSpLocks/>
          </p:cNvCxnSpPr>
          <p:nvPr/>
        </p:nvCxnSpPr>
        <p:spPr>
          <a:xfrm>
            <a:off x="715267" y="2409871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0916DC-50EA-856D-3F2D-6E09724078B7}"/>
              </a:ext>
            </a:extLst>
          </p:cNvPr>
          <p:cNvSpPr txBox="1"/>
          <p:nvPr/>
        </p:nvSpPr>
        <p:spPr>
          <a:xfrm>
            <a:off x="595303" y="2520630"/>
            <a:ext cx="4410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2465553-DF70-C942-FEAA-0B460FD7A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78" y="327285"/>
            <a:ext cx="4190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Záverečná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prezentácia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97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F03A-1B11-BECA-680F-A9A69D2F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918C8130-9422-FC69-7CB4-A4C80197732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BA171EE-C0C2-7228-FD32-381388500A53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4D5FB-1245-DDE1-C3DD-C10BB4BCB0AB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AC3CC-EC48-2767-6057-C7CB54A3C5CE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3EAF26E-4F8E-1AB6-98CD-CD6E35100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850A6-A724-14B9-9E6A-BED07E03E473}"/>
              </a:ext>
            </a:extLst>
          </p:cNvPr>
          <p:cNvSpPr txBox="1">
            <a:spLocks/>
          </p:cNvSpPr>
          <p:nvPr/>
        </p:nvSpPr>
        <p:spPr>
          <a:xfrm>
            <a:off x="4053942" y="41518"/>
            <a:ext cx="4262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uk-UA" sz="48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Realizačný</a:t>
            </a:r>
            <a:r>
              <a:rPr lang="en-GB" altLang="uk-UA" sz="48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altLang="uk-UA" sz="48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tím</a:t>
            </a:r>
            <a:endParaRPr lang="uk-UA" sz="48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F4D1007-3E92-97F4-4B39-75354E6515BB}"/>
              </a:ext>
            </a:extLst>
          </p:cNvPr>
          <p:cNvSpPr/>
          <p:nvPr/>
        </p:nvSpPr>
        <p:spPr>
          <a:xfrm>
            <a:off x="5332070" y="1547322"/>
            <a:ext cx="1601165" cy="1601165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788850D-B598-39BE-1DA1-6FE46D05AB6D}"/>
              </a:ext>
            </a:extLst>
          </p:cNvPr>
          <p:cNvSpPr/>
          <p:nvPr/>
        </p:nvSpPr>
        <p:spPr>
          <a:xfrm>
            <a:off x="3324633" y="2209919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AE73E-9C97-8039-6B84-ED9D73618EA8}"/>
              </a:ext>
            </a:extLst>
          </p:cNvPr>
          <p:cNvSpPr txBox="1"/>
          <p:nvPr/>
        </p:nvSpPr>
        <p:spPr>
          <a:xfrm>
            <a:off x="3075549" y="3599846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Maksym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Sahun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04999-E9A7-0324-B586-8F241E9CE52B}"/>
              </a:ext>
            </a:extLst>
          </p:cNvPr>
          <p:cNvSpPr txBox="1"/>
          <p:nvPr/>
        </p:nvSpPr>
        <p:spPr>
          <a:xfrm>
            <a:off x="3363217" y="3954185"/>
            <a:ext cx="1212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IT specialist 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51E0E10-4CCF-BFA3-6CB8-3A23C5BC8EB3}"/>
              </a:ext>
            </a:extLst>
          </p:cNvPr>
          <p:cNvSpPr/>
          <p:nvPr/>
        </p:nvSpPr>
        <p:spPr>
          <a:xfrm>
            <a:off x="1506564" y="3209760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5FD9F-B88B-0F04-F3AB-5056BB6FB0B4}"/>
              </a:ext>
            </a:extLst>
          </p:cNvPr>
          <p:cNvSpPr txBox="1"/>
          <p:nvPr/>
        </p:nvSpPr>
        <p:spPr>
          <a:xfrm>
            <a:off x="1257480" y="4599687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Vladyslav Momot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3380C-76AB-AF32-58E5-9DC744616EED}"/>
              </a:ext>
            </a:extLst>
          </p:cNvPr>
          <p:cNvSpPr txBox="1"/>
          <p:nvPr/>
        </p:nvSpPr>
        <p:spPr>
          <a:xfrm>
            <a:off x="1718769" y="4954026"/>
            <a:ext cx="1212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Marketér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50114E1-5397-C81E-2EC0-8AC124BC9EDC}"/>
              </a:ext>
            </a:extLst>
          </p:cNvPr>
          <p:cNvSpPr/>
          <p:nvPr/>
        </p:nvSpPr>
        <p:spPr>
          <a:xfrm>
            <a:off x="7881333" y="2208296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64536-D768-079B-4575-3DE9ECC0EC17}"/>
              </a:ext>
            </a:extLst>
          </p:cNvPr>
          <p:cNvSpPr txBox="1"/>
          <p:nvPr/>
        </p:nvSpPr>
        <p:spPr>
          <a:xfrm>
            <a:off x="7840596" y="3598223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Illia Tretiak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38FB7-CE1F-2EF4-1296-FE9F6BA7BD67}"/>
              </a:ext>
            </a:extLst>
          </p:cNvPr>
          <p:cNvSpPr txBox="1"/>
          <p:nvPr/>
        </p:nvSpPr>
        <p:spPr>
          <a:xfrm>
            <a:off x="7616338" y="3900475"/>
            <a:ext cx="1799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UX/UI</a:t>
            </a:r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0157E82-823F-2665-EA63-822CB857F061}"/>
              </a:ext>
            </a:extLst>
          </p:cNvPr>
          <p:cNvSpPr/>
          <p:nvPr/>
        </p:nvSpPr>
        <p:spPr>
          <a:xfrm>
            <a:off x="9471654" y="3274960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B595A-D0B2-02FE-73EA-215E827FF381}"/>
              </a:ext>
            </a:extLst>
          </p:cNvPr>
          <p:cNvSpPr txBox="1"/>
          <p:nvPr/>
        </p:nvSpPr>
        <p:spPr>
          <a:xfrm>
            <a:off x="9122013" y="4617049"/>
            <a:ext cx="20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Dmytro </a:t>
            </a:r>
            <a:r>
              <a:rPr lang="en-GB" b="0" i="0" dirty="0" err="1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Balanenko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EAE1C2-87A2-FB57-F144-6A9A1D0DD5BA}"/>
              </a:ext>
            </a:extLst>
          </p:cNvPr>
          <p:cNvSpPr txBox="1"/>
          <p:nvPr/>
        </p:nvSpPr>
        <p:spPr>
          <a:xfrm>
            <a:off x="4878198" y="3526031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SEO/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Projektový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manažér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2C72CA-C777-EEED-41CD-14783683E2D7}"/>
              </a:ext>
            </a:extLst>
          </p:cNvPr>
          <p:cNvSpPr txBox="1"/>
          <p:nvPr/>
        </p:nvSpPr>
        <p:spPr>
          <a:xfrm>
            <a:off x="5135094" y="3244926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Dmytro </a:t>
            </a:r>
            <a:r>
              <a:rPr lang="en-GB" b="0" i="0" dirty="0" err="1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Sydorenko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9D9BC9-5D75-DA68-C322-CF327A4C85AB}"/>
              </a:ext>
            </a:extLst>
          </p:cNvPr>
          <p:cNvSpPr txBox="1"/>
          <p:nvPr/>
        </p:nvSpPr>
        <p:spPr>
          <a:xfrm>
            <a:off x="9197441" y="4896368"/>
            <a:ext cx="1799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UX/UI</a:t>
            </a:r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7BBFC8A-E207-8A25-B82E-9923C2CB7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419" y="2268378"/>
            <a:ext cx="1105999" cy="116062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C3457CC-578A-AB85-4122-440ECBFC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558" y="1615267"/>
            <a:ext cx="1375802" cy="149064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C479F9F4-D3D4-8E1E-4672-8AA2F5EFF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666" y="2284793"/>
            <a:ext cx="1092999" cy="1070521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2DAD2D4E-EA26-270A-F3B2-168EA4D906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40" t="-1" r="7421" b="501"/>
          <a:stretch>
            <a:fillRect/>
          </a:stretch>
        </p:blipFill>
        <p:spPr>
          <a:xfrm>
            <a:off x="1664368" y="3355314"/>
            <a:ext cx="914343" cy="99088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2B9B94C1-8A91-993D-91CB-04034BD9D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6626" y="3358524"/>
            <a:ext cx="1018712" cy="107367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4355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1ED4-AE8D-1714-BE80-8E3794F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68641D6-E0E7-E41C-72D7-7E55F6FD127F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0BAF027-82B1-B62B-EEC4-7E28A8921116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A1B67-9C60-F831-8B23-453641C91D6A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</a:t>
            </a:r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334A7-6EBA-3FF3-C692-06D57C52F0A5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BA25DE-CCD2-82D3-0036-8CFE7725F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561F5-A27C-DC30-CDE2-2CABA8BECD54}"/>
              </a:ext>
            </a:extLst>
          </p:cNvPr>
          <p:cNvSpPr txBox="1"/>
          <p:nvPr/>
        </p:nvSpPr>
        <p:spPr>
          <a:xfrm>
            <a:off x="5660713" y="568601"/>
            <a:ext cx="1491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Bahnschrift" panose="020B0502040204020203" pitchFamily="34" charset="0"/>
              </a:rPr>
              <a:t>P</a:t>
            </a:r>
            <a:r>
              <a:rPr lang="uk-UA" sz="4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lán</a:t>
            </a:r>
            <a:endParaRPr lang="uk-UA" sz="4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B21157C9-B309-4245-8235-DCFEDF24B32A}"/>
              </a:ext>
            </a:extLst>
          </p:cNvPr>
          <p:cNvGrpSpPr/>
          <p:nvPr/>
        </p:nvGrpSpPr>
        <p:grpSpPr>
          <a:xfrm>
            <a:off x="650935" y="1864946"/>
            <a:ext cx="2156039" cy="3310370"/>
            <a:chOff x="919792" y="2022210"/>
            <a:chExt cx="2299205" cy="3569687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BADE1427-A763-48FE-ABBA-4B0DF29AEDEF}"/>
                </a:ext>
              </a:extLst>
            </p:cNvPr>
            <p:cNvGrpSpPr/>
            <p:nvPr/>
          </p:nvGrpSpPr>
          <p:grpSpPr>
            <a:xfrm>
              <a:off x="919792" y="2022210"/>
              <a:ext cx="2299205" cy="3569687"/>
              <a:chOff x="1659118" y="1637191"/>
              <a:chExt cx="2564090" cy="4069447"/>
            </a:xfrm>
          </p:grpSpPr>
          <p:sp>
            <p:nvSpPr>
              <p:cNvPr id="4" name="Прямокутник: округлені кути 3">
                <a:extLst>
                  <a:ext uri="{FF2B5EF4-FFF2-40B4-BE49-F238E27FC236}">
                    <a16:creationId xmlns:a16="http://schemas.microsoft.com/office/drawing/2014/main" id="{572EF2BC-4757-4CF9-DBF2-9413988814FD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9DACF0A9-D5F0-80E0-17ED-F38BFBF475F0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DF1C6-01E1-21BE-7404-9A136C6C4428}"/>
                  </a:ext>
                </a:extLst>
              </p:cNvPr>
              <p:cNvSpPr txBox="1"/>
              <p:nvPr/>
            </p:nvSpPr>
            <p:spPr>
              <a:xfrm>
                <a:off x="2335869" y="1799047"/>
                <a:ext cx="1064027" cy="1052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01.</a:t>
                </a:r>
                <a:endParaRPr lang="uk-UA" sz="5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993783-E106-4532-B218-F2A2AA7B61CB}"/>
                </a:ext>
              </a:extLst>
            </p:cNvPr>
            <p:cNvSpPr txBox="1"/>
            <p:nvPr/>
          </p:nvSpPr>
          <p:spPr>
            <a:xfrm>
              <a:off x="1174550" y="4036180"/>
              <a:ext cx="178968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Riešenie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Unikátnosť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E5F4B7FA-FC0D-4079-981A-8ABE4D303880}"/>
              </a:ext>
            </a:extLst>
          </p:cNvPr>
          <p:cNvGrpSpPr/>
          <p:nvPr/>
        </p:nvGrpSpPr>
        <p:grpSpPr>
          <a:xfrm>
            <a:off x="2958924" y="2232592"/>
            <a:ext cx="2156039" cy="3310370"/>
            <a:chOff x="6458431" y="2034868"/>
            <a:chExt cx="2299205" cy="3569687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B9A2DC3F-6274-40C2-8E4B-867B97AAD8A3}"/>
                </a:ext>
              </a:extLst>
            </p:cNvPr>
            <p:cNvGrpSpPr/>
            <p:nvPr/>
          </p:nvGrpSpPr>
          <p:grpSpPr>
            <a:xfrm>
              <a:off x="6458431" y="2034868"/>
              <a:ext cx="2299205" cy="3569687"/>
              <a:chOff x="1659118" y="1637191"/>
              <a:chExt cx="2564090" cy="4069447"/>
            </a:xfrm>
          </p:grpSpPr>
          <p:sp>
            <p:nvSpPr>
              <p:cNvPr id="33" name="Прямокутник: округлені кути 3">
                <a:extLst>
                  <a:ext uri="{FF2B5EF4-FFF2-40B4-BE49-F238E27FC236}">
                    <a16:creationId xmlns:a16="http://schemas.microsoft.com/office/drawing/2014/main" id="{7EC2EFA7-6F59-4C1F-BA65-F5DCF1503720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4" name="Прямокутник 4">
                <a:extLst>
                  <a:ext uri="{FF2B5EF4-FFF2-40B4-BE49-F238E27FC236}">
                    <a16:creationId xmlns:a16="http://schemas.microsoft.com/office/drawing/2014/main" id="{116DD6EC-19F8-4FDD-9179-1E81BC509098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A143DE-24EF-470D-BB3F-7EC93F97617C}"/>
                  </a:ext>
                </a:extLst>
              </p:cNvPr>
              <p:cNvSpPr txBox="1"/>
              <p:nvPr/>
            </p:nvSpPr>
            <p:spPr>
              <a:xfrm>
                <a:off x="2335869" y="1799047"/>
                <a:ext cx="1205255" cy="1052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2</a:t>
                </a:r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5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879A739-C953-4AD7-B2DE-22280622166B}"/>
                </a:ext>
              </a:extLst>
            </p:cNvPr>
            <p:cNvSpPr txBox="1"/>
            <p:nvPr/>
          </p:nvSpPr>
          <p:spPr>
            <a:xfrm>
              <a:off x="6518311" y="4036179"/>
              <a:ext cx="21794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Technická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Organizačná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Uskutočniteľnosť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0C0FEA-13E7-498F-B4AE-363A94285342}"/>
              </a:ext>
            </a:extLst>
          </p:cNvPr>
          <p:cNvGrpSpPr/>
          <p:nvPr/>
        </p:nvGrpSpPr>
        <p:grpSpPr>
          <a:xfrm>
            <a:off x="5266913" y="1864946"/>
            <a:ext cx="2156039" cy="3310370"/>
            <a:chOff x="9364475" y="2034869"/>
            <a:chExt cx="2299205" cy="3569687"/>
          </a:xfrm>
        </p:grpSpPr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7BE466F5-621C-4F06-92C5-6E97B0356021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37" name="Прямокутник: округлені кути 3">
                <a:extLst>
                  <a:ext uri="{FF2B5EF4-FFF2-40B4-BE49-F238E27FC236}">
                    <a16:creationId xmlns:a16="http://schemas.microsoft.com/office/drawing/2014/main" id="{535542D8-EE80-4715-BA8D-552EF677983F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8" name="Прямокутник 4">
                <a:extLst>
                  <a:ext uri="{FF2B5EF4-FFF2-40B4-BE49-F238E27FC236}">
                    <a16:creationId xmlns:a16="http://schemas.microsoft.com/office/drawing/2014/main" id="{49F65A1A-5E84-487B-A602-63A8991B3749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D5763F-B831-444B-AF8E-C47BDB1FCC1A}"/>
                  </a:ext>
                </a:extLst>
              </p:cNvPr>
              <p:cNvSpPr txBox="1"/>
              <p:nvPr/>
            </p:nvSpPr>
            <p:spPr>
              <a:xfrm>
                <a:off x="2335869" y="1799047"/>
                <a:ext cx="1214193" cy="1052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3</a:t>
                </a:r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5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5D75FA1-7091-40E3-A49A-DEF8C91355D7}"/>
                </a:ext>
              </a:extLst>
            </p:cNvPr>
            <p:cNvSpPr txBox="1"/>
            <p:nvPr/>
          </p:nvSpPr>
          <p:spPr>
            <a:xfrm>
              <a:off x="9424355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Finančný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Model a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Riziká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7" name="Группа 48">
            <a:extLst>
              <a:ext uri="{FF2B5EF4-FFF2-40B4-BE49-F238E27FC236}">
                <a16:creationId xmlns:a16="http://schemas.microsoft.com/office/drawing/2014/main" id="{905043E1-E055-173E-DB7B-6E9F71DDB6E8}"/>
              </a:ext>
            </a:extLst>
          </p:cNvPr>
          <p:cNvGrpSpPr/>
          <p:nvPr/>
        </p:nvGrpSpPr>
        <p:grpSpPr>
          <a:xfrm>
            <a:off x="7574902" y="2232592"/>
            <a:ext cx="2156039" cy="3310370"/>
            <a:chOff x="9364475" y="2034869"/>
            <a:chExt cx="2299205" cy="3569687"/>
          </a:xfrm>
        </p:grpSpPr>
        <p:grpSp>
          <p:nvGrpSpPr>
            <p:cNvPr id="8" name="Группа 35">
              <a:extLst>
                <a:ext uri="{FF2B5EF4-FFF2-40B4-BE49-F238E27FC236}">
                  <a16:creationId xmlns:a16="http://schemas.microsoft.com/office/drawing/2014/main" id="{DA8F59F6-F118-EC8F-098A-19E08EF9FED9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10" name="Прямокутник: округлені кути 3">
                <a:extLst>
                  <a:ext uri="{FF2B5EF4-FFF2-40B4-BE49-F238E27FC236}">
                    <a16:creationId xmlns:a16="http://schemas.microsoft.com/office/drawing/2014/main" id="{BCEBFA20-C68D-51EA-FFFD-9E5E41B2C157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14" name="Прямокутник 4">
                <a:extLst>
                  <a:ext uri="{FF2B5EF4-FFF2-40B4-BE49-F238E27FC236}">
                    <a16:creationId xmlns:a16="http://schemas.microsoft.com/office/drawing/2014/main" id="{93229A6E-E794-B60D-AEA8-C088D7CE81FD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7058C3-4BE5-3ECB-0767-1924BD337923}"/>
                  </a:ext>
                </a:extLst>
              </p:cNvPr>
              <p:cNvSpPr txBox="1"/>
              <p:nvPr/>
            </p:nvSpPr>
            <p:spPr>
              <a:xfrm>
                <a:off x="2335869" y="1799047"/>
                <a:ext cx="1246371" cy="1052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4</a:t>
                </a:r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5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FD4BD8-7469-5477-54F6-E88329AB6B45}"/>
                </a:ext>
              </a:extLst>
            </p:cNvPr>
            <p:cNvSpPr txBox="1"/>
            <p:nvPr/>
          </p:nvSpPr>
          <p:spPr>
            <a:xfrm>
              <a:off x="9424355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GB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Marketingová 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Stratégia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16" name="Группа 48">
            <a:extLst>
              <a:ext uri="{FF2B5EF4-FFF2-40B4-BE49-F238E27FC236}">
                <a16:creationId xmlns:a16="http://schemas.microsoft.com/office/drawing/2014/main" id="{B11738D4-7C1A-9A80-71C9-9A909E553FE9}"/>
              </a:ext>
            </a:extLst>
          </p:cNvPr>
          <p:cNvGrpSpPr/>
          <p:nvPr/>
        </p:nvGrpSpPr>
        <p:grpSpPr>
          <a:xfrm>
            <a:off x="9882889" y="1864946"/>
            <a:ext cx="2156039" cy="3310370"/>
            <a:chOff x="9364475" y="2034869"/>
            <a:chExt cx="2299205" cy="3569687"/>
          </a:xfrm>
        </p:grpSpPr>
        <p:grpSp>
          <p:nvGrpSpPr>
            <p:cNvPr id="17" name="Группа 35">
              <a:extLst>
                <a:ext uri="{FF2B5EF4-FFF2-40B4-BE49-F238E27FC236}">
                  <a16:creationId xmlns:a16="http://schemas.microsoft.com/office/drawing/2014/main" id="{F3124C54-8350-26A6-74E3-35EE263E6952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20" name="Прямокутник: округлені кути 3">
                <a:extLst>
                  <a:ext uri="{FF2B5EF4-FFF2-40B4-BE49-F238E27FC236}">
                    <a16:creationId xmlns:a16="http://schemas.microsoft.com/office/drawing/2014/main" id="{22ACE654-4E75-FA35-D1C9-F85E7B151F5A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1" name="Прямокутник 4">
                <a:extLst>
                  <a:ext uri="{FF2B5EF4-FFF2-40B4-BE49-F238E27FC236}">
                    <a16:creationId xmlns:a16="http://schemas.microsoft.com/office/drawing/2014/main" id="{5D6D5AF4-CDCA-A81D-829D-9E5DC6EB0D4D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E1C976-3794-2323-BB85-79946AE00151}"/>
                  </a:ext>
                </a:extLst>
              </p:cNvPr>
              <p:cNvSpPr txBox="1"/>
              <p:nvPr/>
            </p:nvSpPr>
            <p:spPr>
              <a:xfrm>
                <a:off x="2335869" y="1799047"/>
                <a:ext cx="1226707" cy="1052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5</a:t>
                </a:r>
                <a:r>
                  <a:rPr lang="en-GB" sz="5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5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31696A-C3D9-6FCF-84F7-36922D97A17A}"/>
                </a:ext>
              </a:extLst>
            </p:cNvPr>
            <p:cNvSpPr txBox="1"/>
            <p:nvPr/>
          </p:nvSpPr>
          <p:spPr>
            <a:xfrm>
              <a:off x="9424355" y="4036180"/>
              <a:ext cx="2179446" cy="6969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GB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Projektová 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Reflexia</a:t>
              </a:r>
              <a:r>
                <a:rPr lang="en-GB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Kvalita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50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8F17B17-F560-E3BA-026C-5BDE3CF7F3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17308-51E3-AF63-ECF3-B93A7A693EA3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50F43307-B02F-93B2-742E-274D595376B0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BFB9ED2-1ED9-1E48-7E05-C48F1D6D5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51FDC2D8-323D-0DA2-FECC-5353862559D6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67A014-CFD0-EA43-2FE8-3F13AD0CC53D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4640B39-BDB7-E815-4A25-2487B6C8B14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EB83D-EB61-A831-40AD-60255836DAA3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01.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6EAB4-FC8A-43CC-877E-83060E2D82B7}"/>
              </a:ext>
            </a:extLst>
          </p:cNvPr>
          <p:cNvSpPr txBox="1"/>
          <p:nvPr/>
        </p:nvSpPr>
        <p:spPr>
          <a:xfrm>
            <a:off x="512687" y="3385780"/>
            <a:ext cx="62735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Riešenie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a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Unikátnosť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9F79A0DB-6436-B8BE-0C0D-41C387E2375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FB886-46B2-B2BB-5981-CF3A3F6791CC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97CC2-68A2-EE5B-9DE3-7CD0A1B02AE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4640F-EF79-1C5D-E02E-89C5D4BF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D0F8A-699F-6E03-A62A-4645334C4635}"/>
              </a:ext>
            </a:extLst>
          </p:cNvPr>
          <p:cNvSpPr txBox="1"/>
          <p:nvPr/>
        </p:nvSpPr>
        <p:spPr>
          <a:xfrm>
            <a:off x="434049" y="346843"/>
            <a:ext cx="4422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Riešenie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Unikátnosť</a:t>
            </a:r>
            <a:endParaRPr lang="en-GB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974AE72B-B75D-15A1-B9A1-95D69C6DDC1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2F8A009-F9C9-9166-3D75-68C6932A0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60" y="1202690"/>
            <a:ext cx="8260080" cy="41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Technická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a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Organizačná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Uskutočniteľnosť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3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8461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Technická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Organizačná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Uskutočniteľnosť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Прямокутник: округлені кути 12">
            <a:extLst>
              <a:ext uri="{FF2B5EF4-FFF2-40B4-BE49-F238E27FC236}">
                <a16:creationId xmlns:a16="http://schemas.microsoft.com/office/drawing/2014/main" id="{F10C7D50-5EF2-4365-B32E-BC31E01FD96F}"/>
              </a:ext>
            </a:extLst>
          </p:cNvPr>
          <p:cNvSpPr/>
          <p:nvPr/>
        </p:nvSpPr>
        <p:spPr>
          <a:xfrm rot="5400000">
            <a:off x="3967964" y="-1589155"/>
            <a:ext cx="4286802" cy="10842073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0472A-7D93-008F-183B-A9D908E71FB8}"/>
              </a:ext>
            </a:extLst>
          </p:cNvPr>
          <p:cNvSpPr txBox="1"/>
          <p:nvPr/>
        </p:nvSpPr>
        <p:spPr>
          <a:xfrm>
            <a:off x="781765" y="1803976"/>
            <a:ext cx="110706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Použité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technológie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Projekt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využíva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technológie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HTML5, CSS3 a JavaScript,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ktoré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umožňujú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vytvoriť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rýchlu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responzívnu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jednoducho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udržiavateľnú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webovú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vhodnú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ďalší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rozvoj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Organizácia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tímu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Tím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pokrýva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všetky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kľúčové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oblasti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vývoja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Jasne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rozdelené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úlohy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zabezpečujú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efektívnu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spoluprácu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plynulý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priebeh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práce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Rozdelenie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rolí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Projekt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zahŕňa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tieto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kľúčové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role: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vývoj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webovej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aplikácie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UX/UI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dizajn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marketing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komunikácia</a:t>
            </a:r>
            <a:endParaRPr lang="ru-RU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riadenie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plánovanie</a:t>
            </a:r>
            <a:endParaRPr lang="en-US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4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3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6" y="3385780"/>
            <a:ext cx="6398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Finančný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Model a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Riziká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77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997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Finančný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Model a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Riziká</a:t>
            </a:r>
            <a:endParaRPr lang="en-GB" sz="3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87A617B5-6653-E98D-372F-BCED5DC7B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090" y="1012898"/>
            <a:ext cx="7893793" cy="526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8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0A7C-D238-A3C5-42F8-2393E45C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A807857-5B1E-D2D5-3E32-E35955B376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04060-6165-C5CB-04CE-3BBB13C4ADF6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A5794212-54C3-795D-381B-DE6051A32D2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27936210-05DC-C2C8-1C12-B99E5C09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2B31DC45-ADAB-6254-4208-C4421DC740ED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EEF7C-D661-013A-3B64-C5FC8825D029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B6A4274-211E-52F9-5835-BB85CB2C98F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79DCF-9F34-83D9-95D7-D9B97CCE463E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4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CD1B3-971C-A16A-08C2-2785B0008779}"/>
              </a:ext>
            </a:extLst>
          </p:cNvPr>
          <p:cNvSpPr txBox="1"/>
          <p:nvPr/>
        </p:nvSpPr>
        <p:spPr>
          <a:xfrm>
            <a:off x="512686" y="3385780"/>
            <a:ext cx="6398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Marketingová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Stratégia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2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7C66-B785-94DA-F649-13947E5E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C81A3722-A4F4-A7F3-2421-329C7CD5991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41047-0EC1-F0FF-6010-0BF7E94979B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34A8A-7526-CCA0-3C7F-1511806635B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70E348-2349-838C-9EB1-778886EEC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C7EE5D45-E4C3-6D14-C585-0DF1571CBBB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FA986-21F0-D694-21D7-9DFF2BD112FA}"/>
              </a:ext>
            </a:extLst>
          </p:cNvPr>
          <p:cNvSpPr txBox="1"/>
          <p:nvPr/>
        </p:nvSpPr>
        <p:spPr>
          <a:xfrm>
            <a:off x="434049" y="346843"/>
            <a:ext cx="4997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Marketingová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Stratégia</a:t>
            </a:r>
            <a:endParaRPr lang="en-GB" sz="3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1F10B5-A83A-2085-6D3F-89C5B1062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74" y="1284026"/>
            <a:ext cx="2493228" cy="374130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410587E-2F2C-C533-2DAE-DCAE0C79A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456" y="1284026"/>
            <a:ext cx="2493228" cy="3741303"/>
          </a:xfrm>
          <a:prstGeom prst="rect">
            <a:avLst/>
          </a:prstGeom>
        </p:spPr>
      </p:pic>
      <p:sp>
        <p:nvSpPr>
          <p:cNvPr id="18" name="AutoShape 10">
            <a:extLst>
              <a:ext uri="{FF2B5EF4-FFF2-40B4-BE49-F238E27FC236}">
                <a16:creationId xmlns:a16="http://schemas.microsoft.com/office/drawing/2014/main" id="{6CFA7861-122A-0DAD-E4CE-127A551897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D695E41-5D09-FB4E-9C53-B54D1C851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38" y="1284025"/>
            <a:ext cx="2493228" cy="374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8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1773-B1E2-5A46-6F9E-C2EA44E5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87B9A15C-EF65-98D1-9451-6F7DB60A6F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22E3A-CDBD-DF14-7202-94231E38D903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F616BFBE-82DF-B7D9-EDEB-D88B314B05B9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5E9828FC-14F4-3165-243D-2E2D23208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1D2E830D-C17E-B979-A048-63CEF45709E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9CC54E3-6D24-0A9C-B311-87C7EFD43C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44261C86-C90E-3473-EE19-819758AB3ED6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5AC2D9-1914-CA68-F436-269D86D5DB3A}"/>
              </a:ext>
            </a:extLst>
          </p:cNvPr>
          <p:cNvSpPr txBox="1"/>
          <p:nvPr/>
        </p:nvSpPr>
        <p:spPr>
          <a:xfrm>
            <a:off x="512686" y="3385780"/>
            <a:ext cx="25962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Záver</a:t>
            </a:r>
            <a:endParaRPr lang="uk-UA" sz="6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831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BF896-B9CA-CEF8-DCF1-53C5F43E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B2D99EFB-071C-7603-50E0-17D99E768867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48D4D-4D3D-523A-1D5B-6E80225ABF1B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BC0A6-A2DC-0E06-36C9-27F83EE137F4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8F3BDE-0388-951D-F38F-9D2AFBA19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13944C5F-97A6-6529-1815-D4D12A2595E9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34E3D-D94B-375A-51CA-78E60A8E9BED}"/>
              </a:ext>
            </a:extLst>
          </p:cNvPr>
          <p:cNvSpPr txBox="1"/>
          <p:nvPr/>
        </p:nvSpPr>
        <p:spPr>
          <a:xfrm>
            <a:off x="434049" y="346843"/>
            <a:ext cx="4997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Záver</a:t>
            </a:r>
            <a:endParaRPr lang="en-GB" sz="3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C218D-F724-1BE5-F0E3-0C6A86AA36FD}"/>
              </a:ext>
            </a:extLst>
          </p:cNvPr>
          <p:cNvSpPr txBox="1"/>
          <p:nvPr/>
        </p:nvSpPr>
        <p:spPr>
          <a:xfrm>
            <a:off x="807743" y="1647883"/>
            <a:ext cx="84014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Vízia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endParaRPr lang="ru-RU" sz="20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Slovak Quiz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nástroj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ktorý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pomáha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Ukrajincom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lepšie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integrovať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do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spoločnosti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Slovensku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ru-RU" sz="2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sz="2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Ďalší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krok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endParaRPr lang="ru-RU" sz="2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Oficiálne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spustenie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jeho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postupné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rozširovanie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Прямокутник: округлені кути 12">
            <a:extLst>
              <a:ext uri="{FF2B5EF4-FFF2-40B4-BE49-F238E27FC236}">
                <a16:creationId xmlns:a16="http://schemas.microsoft.com/office/drawing/2014/main" id="{31EF1BE2-242C-3F57-D999-217E159D6EDB}"/>
              </a:ext>
            </a:extLst>
          </p:cNvPr>
          <p:cNvSpPr/>
          <p:nvPr/>
        </p:nvSpPr>
        <p:spPr>
          <a:xfrm rot="5400000">
            <a:off x="3731715" y="-1565864"/>
            <a:ext cx="2437886" cy="8517050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E868AA7B-A4F7-C26E-4DD4-967B0EDBF9B6}"/>
              </a:ext>
            </a:extLst>
          </p:cNvPr>
          <p:cNvSpPr/>
          <p:nvPr/>
        </p:nvSpPr>
        <p:spPr>
          <a:xfrm>
            <a:off x="4314825" y="4554113"/>
            <a:ext cx="3914775" cy="914400"/>
          </a:xfrm>
          <a:prstGeom prst="roundRect">
            <a:avLst/>
          </a:prstGeom>
          <a:solidFill>
            <a:srgbClr val="7030A0"/>
          </a:solidFill>
          <a:ln>
            <a:solidFill>
              <a:srgbClr val="E0D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b="1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Stranka</a:t>
            </a:r>
            <a:endParaRPr lang="sk-SK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66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262</Words>
  <Application>Microsoft Office PowerPoint</Application>
  <PresentationFormat>Širokouhlá</PresentationFormat>
  <Paragraphs>84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Bahnschrift</vt:lpstr>
      <vt:lpstr>Calibri</vt:lpstr>
      <vt:lpstr>Calibri Light</vt:lpstr>
      <vt:lpstr>Тема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Maksis S</dc:creator>
  <cp:lastModifiedBy>Dmytro Sydorenko</cp:lastModifiedBy>
  <cp:revision>120</cp:revision>
  <dcterms:created xsi:type="dcterms:W3CDTF">2025-11-23T19:03:23Z</dcterms:created>
  <dcterms:modified xsi:type="dcterms:W3CDTF">2025-12-14T22:28:34Z</dcterms:modified>
</cp:coreProperties>
</file>